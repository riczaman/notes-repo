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E20"/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-2011680" y="3566160"/>
            <a:ext cx="8686800" cy="8686800"/>
          </a:xfrm>
          <a:prstGeom prst="roundRect">
            <a:avLst>
              <a:gd name="adj" fmla="val 4211"/>
            </a:avLst>
          </a:prstGeom>
          <a:solidFill>
            <a:srgbClr val="1A5336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720000">
            <a:off x="8412480" y="-5120640"/>
            <a:ext cx="8229600" cy="8229600"/>
          </a:xfrm>
          <a:prstGeom prst="roundRect">
            <a:avLst>
              <a:gd name="adj" fmla="val 4444"/>
            </a:avLst>
          </a:prstGeom>
          <a:solidFill>
            <a:srgbClr val="1A5336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720000">
            <a:off x="10607040" y="5394960"/>
            <a:ext cx="4023360" cy="4023360"/>
          </a:xfrm>
          <a:prstGeom prst="roundRect">
            <a:avLst>
              <a:gd name="adj" fmla="val 6818"/>
            </a:avLst>
          </a:prstGeom>
          <a:solidFill>
            <a:srgbClr val="008A00">
              <a:alpha val="2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 BANK GROUP  ·  TECHNOLOGY DELIVERY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C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USFF × EMS · Pipeline · SPID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Consolidation Delivery Options</a:t>
            </a:r>
            <a:endParaRPr lang="en-US" sz="4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Recommendation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452628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can realistically deliver by the September commitment — scope, risks and timelines for three delivery options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806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Leadership Review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   |   Confidential — TD Bank internal use only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ask: confirm what we ship by end of September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6766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USFF (Unified Storefront) is absorbing GTS's EMS, Pipeline and SPID tools so GTS users get one front door — non-GTS users keep today's experience unchanged.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original plan assumed all five EMS flows by end of September. We have already level-set with stakeholders: only the Vendor Expense flow is achievable in that window.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deep-dives with the PowerApps developers revealed the true scale: 50+ SharePoint lists behind EMS/Pipeline/SPID, undocumented role and permission logic, and a data schema that does not map 1:1 to USFF.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are no formal requirements. Flows and business logic are being reconstructed from demos, screenshots and the retiring PowerApps — every build decision carries discovery risk.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migration is the single largest swing factor: our consolidated master form means a new schema, so legacy data must be transformed, adding a month or more to any option that includes it.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deck presents three delivery options with pros, cons, risks and timelines, and our recommendation from a technology-delivery perspective.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26680" y="1481328"/>
            <a:ext cx="3913632" cy="1060704"/>
          </a:xfrm>
          <a:prstGeom prst="roundRect">
            <a:avLst>
              <a:gd name="adj" fmla="val 6034"/>
            </a:avLst>
          </a:prstGeom>
          <a:solidFill>
            <a:srgbClr val="F6FAF7"/>
          </a:solidFill>
          <a:ln w="12700">
            <a:solidFill>
              <a:srgbClr val="D6E3DA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73568" y="1572768"/>
            <a:ext cx="1417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418320" y="1572768"/>
            <a:ext cx="2103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SharePoint lists behind EMS / Pipeline / SPID — most need schema transformation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26680" y="2688336"/>
            <a:ext cx="3913632" cy="1060704"/>
          </a:xfrm>
          <a:prstGeom prst="roundRect">
            <a:avLst>
              <a:gd name="adj" fmla="val 6034"/>
            </a:avLst>
          </a:prstGeom>
          <a:solidFill>
            <a:srgbClr val="F6FAF7"/>
          </a:solidFill>
          <a:ln w="12700">
            <a:solidFill>
              <a:srgbClr val="D6E3DA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973568" y="2779776"/>
            <a:ext cx="1417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418320" y="2779776"/>
            <a:ext cx="2103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requirements documents — logic reverse-engineered from demos &amp; PowerApps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26680" y="3895344"/>
            <a:ext cx="3913632" cy="1060704"/>
          </a:xfrm>
          <a:prstGeom prst="roundRect">
            <a:avLst>
              <a:gd name="adj" fmla="val 6034"/>
            </a:avLst>
          </a:prstGeom>
          <a:solidFill>
            <a:srgbClr val="F6FAF7"/>
          </a:solidFill>
          <a:ln w="12700">
            <a:solidFill>
              <a:srgbClr val="D6E3DA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73568" y="3986784"/>
            <a:ext cx="1417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418320" y="3986784"/>
            <a:ext cx="2103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remaining after August — capacity constrains every option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726680" y="5102352"/>
            <a:ext cx="3913632" cy="1060704"/>
          </a:xfrm>
          <a:prstGeom prst="roundRect">
            <a:avLst>
              <a:gd name="adj" fmla="val 6034"/>
            </a:avLst>
          </a:prstGeom>
          <a:solidFill>
            <a:srgbClr val="EAF3ED"/>
          </a:solidFill>
          <a:ln w="12700">
            <a:solidFill>
              <a:srgbClr val="D6E3DA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973568" y="5193792"/>
            <a:ext cx="1417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26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418320" y="5193792"/>
            <a:ext cx="2103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 delivery window — last week of September 2026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USFF × EMS Consolidation — Delivery Options  |  Technology Delivery  |  July 2026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2928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applications, one canonical flow — and one gap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2044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9164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1A5336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91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· INTAKE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49808" y="2048256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EMS  (Intake front door)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59152"/>
            <a:ext cx="3127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GTS SharePoint portal + PowerApp intake. Five expense types. Users triage and submit requests here today.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041648" y="21488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34256" y="1481328"/>
            <a:ext cx="352044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35424" y="169164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1A5336"/>
          </a:solidFill>
          <a:ln/>
        </p:spPr>
      </p:sp>
      <p:sp>
        <p:nvSpPr>
          <p:cNvPr id="12" name="Text 10"/>
          <p:cNvSpPr/>
          <p:nvPr/>
        </p:nvSpPr>
        <p:spPr>
          <a:xfrm>
            <a:off x="4535424" y="1691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· GO-AHEAD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35424" y="2048256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35424" y="2359152"/>
            <a:ext cx="3127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go-ahead approval for 3rd-party spend &gt; $100K, submitted ≥ 90 days ahead. Multi-level, agenda-driven approvals run by BOM leads.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827264" y="21488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119872" y="1481328"/>
            <a:ext cx="352044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169164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1A5336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1691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· EXECUTION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321040" y="2048256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SPID  (Signing Party)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21040" y="2359152"/>
            <a:ext cx="3127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Contract-execution approval PowerApp. Depends on an approved Pipeline and an approved Ariba Sourcing Request before it should start.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3584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EMS expense types — only Vendor Expense is in scope for September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950208"/>
            <a:ext cx="2103120" cy="1298448"/>
          </a:xfrm>
          <a:prstGeom prst="roundRect">
            <a:avLst>
              <a:gd name="adj" fmla="val 4930"/>
            </a:avLst>
          </a:prstGeom>
          <a:solidFill>
            <a:srgbClr val="EAF3ED"/>
          </a:solidFill>
          <a:ln w="12700">
            <a:solidFill>
              <a:srgbClr val="008A00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4944" y="407822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Expense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94944" y="4498848"/>
            <a:ext cx="1810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SOWs, GD contracts, licences, renewals — the only type touching procurement / Ariba / USFF today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96235" y="3950208"/>
            <a:ext cx="2103120" cy="1298448"/>
          </a:xfrm>
          <a:prstGeom prst="roundRect">
            <a:avLst>
              <a:gd name="adj" fmla="val 4930"/>
            </a:avLst>
          </a:prstGeom>
          <a:solidFill>
            <a:srgbClr val="F6FAF7"/>
          </a:solidFill>
          <a:ln w="12700">
            <a:solidFill>
              <a:srgbClr val="D6E3DA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942539" y="407822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to Hire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942539" y="4498848"/>
            <a:ext cx="1810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Employee, contractor, contingent, GD staff-aug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43830" y="3950208"/>
            <a:ext cx="2103120" cy="1298448"/>
          </a:xfrm>
          <a:prstGeom prst="roundRect">
            <a:avLst>
              <a:gd name="adj" fmla="val 4930"/>
            </a:avLst>
          </a:prstGeom>
          <a:solidFill>
            <a:srgbClr val="F6FAF7"/>
          </a:solidFill>
          <a:ln w="12700">
            <a:solidFill>
              <a:srgbClr val="D6E3DA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190134" y="407822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Request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190134" y="4498848"/>
            <a:ext cx="1810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ATS, ATP and extensions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291426" y="3950208"/>
            <a:ext cx="2103120" cy="1298448"/>
          </a:xfrm>
          <a:prstGeom prst="roundRect">
            <a:avLst>
              <a:gd name="adj" fmla="val 4930"/>
            </a:avLst>
          </a:prstGeom>
          <a:solidFill>
            <a:srgbClr val="F6FAF7"/>
          </a:solidFill>
          <a:ln w="12700">
            <a:solidFill>
              <a:srgbClr val="D6E3DA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437730" y="407822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Approvals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437730" y="4498848"/>
            <a:ext cx="1810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Travel, education, control exceptions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539021" y="3950208"/>
            <a:ext cx="2103120" cy="1298448"/>
          </a:xfrm>
          <a:prstGeom prst="roundRect">
            <a:avLst>
              <a:gd name="adj" fmla="val 4930"/>
            </a:avLst>
          </a:prstGeom>
          <a:solidFill>
            <a:srgbClr val="F6FAF7"/>
          </a:solidFill>
          <a:ln w="12700">
            <a:solidFill>
              <a:srgbClr val="D6E3DA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685325" y="407822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Submission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685325" y="4498848"/>
            <a:ext cx="1810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Ariba or manual (non-Ariba) invoices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8640" y="5486400"/>
            <a:ext cx="11091672" cy="841248"/>
          </a:xfrm>
          <a:prstGeom prst="roundRect">
            <a:avLst>
              <a:gd name="adj" fmla="val 7609"/>
            </a:avLst>
          </a:prstGeom>
          <a:solidFill>
            <a:srgbClr val="FBF3E4"/>
          </a:solidFill>
          <a:ln w="12700">
            <a:solidFill>
              <a:srgbClr val="E8CFA3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77240" y="5650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1371600" y="5559552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gap: no written requirements exist for any of these flows.  </a:t>
            </a:r>
            <a:pPr indent="0" marL="0">
              <a:buNone/>
            </a:pPr>
            <a:r>
              <a:rPr lang="en-US" sz="105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being reconstructed from demos, PowerApps logic and 50+ SharePoint lists — the July sessions with the developer team materially expanded known scope.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USFF × EMS Consolidation — Delivery Options  |  Technology Delivery  |  July 2026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12928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OPTIONS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options — scope, timeline and confidence at a glance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3255264"/>
                <a:gridCol w="3255264"/>
                <a:gridCol w="3255264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 1 — RECOMMENDED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Triage + Pipeline for Vendor Expense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A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 1 + SPID for Vendor Expense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3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 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consolidation — all 5 flows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336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53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EMS triage in USFF for Vendor Expense; other 4 types route to existing portals. Pipeline (VE) absorbed into one master USFF form. SPID stays in PowerApp.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Everything in Option 1, plus SPID captured in USFF for Vendor Expense as a standalone intake (net-new questions only, discrepancy checks).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5 expense types, both Pipeline types and all SPID flows in USFF. Legacy EMS / Pipeline / SPID retired. Downstream / batch processes excluded.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53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migration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at launch — in-flight requests finish in legacy apps (parallel run). Optional migration afterwards: +1 month.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Much larger — SPID field volume requires heavy schema transformation. Including it pushes delivery to end of CY2026.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Mandatory — full migration of 50+ SharePoint lists with schema transformation. Longest single work item.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53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date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8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Last week of September 2026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8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(with migration: end of October)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 Q1 FY27 (Oct–Nov 2026)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(with migration: end of CY2026)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 March 2027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(migration included — not optional)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53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 impact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Low–moderate. Non-GTS users see no change; GTS learns one new front door while legacy SPID continues as-is.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High. Split experience — GTS uses USFF for vendor-expense SPID but the legacy portal for all other SPIDs. Significant training effort.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high. Every GTS process changes at once; all user groups retrained; downstream teams must adapt to new hand-offs.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53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dependency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BOM Agenda Builder role logic (being reverse-engineered from PowerApps).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Ariba API for Sourcing Request approval status — setup lead time + vendor rate limits; no UiPath resource for the fallback.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Requirements that do not exist yet, plus downstream / batch process specs (+1 month of discovery minimum).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53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Delivery confidence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8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— prototypes built and validated; scope fits capacity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— hinges on Ariba integration and SPID schema work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— unknown requirements, mandatory migration, 2 devs after August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USFF × EMS Consolidation — Delivery Options  |  Technology Delivery  |  July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2928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008A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1 — RECOMMENDED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EMS triage + Pipeline for Vendor Expense — no SPID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89888"/>
            <a:ext cx="3575304" cy="786384"/>
          </a:xfrm>
          <a:prstGeom prst="roundRect">
            <a:avLst>
              <a:gd name="adj" fmla="val 8140"/>
            </a:avLst>
          </a:prstGeom>
          <a:solidFill>
            <a:srgbClr val="F6FAF7"/>
          </a:solidFill>
          <a:ln w="12700">
            <a:solidFill>
              <a:srgbClr val="D6E3DA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81328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DELIVERY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682496"/>
            <a:ext cx="3209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week of September 2026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06824" y="1389888"/>
            <a:ext cx="3575304" cy="786384"/>
          </a:xfrm>
          <a:prstGeom prst="roundRect">
            <a:avLst>
              <a:gd name="adj" fmla="val 8140"/>
            </a:avLst>
          </a:prstGeom>
          <a:solidFill>
            <a:srgbClr val="F6FAF7"/>
          </a:solidFill>
          <a:ln w="12700">
            <a:solidFill>
              <a:srgbClr val="D6E3DA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9704" y="1481328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DATA MIGRATION (OPTIONAL ADD-ON)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489704" y="1682496"/>
            <a:ext cx="3209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October 2026  (+1 month)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65008" y="1389888"/>
            <a:ext cx="3575304" cy="786384"/>
          </a:xfrm>
          <a:prstGeom prst="roundRect">
            <a:avLst>
              <a:gd name="adj" fmla="val 8140"/>
            </a:avLst>
          </a:prstGeom>
          <a:solidFill>
            <a:srgbClr val="F6FAF7"/>
          </a:solidFill>
          <a:ln w="12700">
            <a:solidFill>
              <a:srgbClr val="D6E3DA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47888" y="1481328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CONFIDENCE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47888" y="1682496"/>
            <a:ext cx="3209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— prototypes already validated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2395728"/>
            <a:ext cx="3575304" cy="3950208"/>
          </a:xfrm>
          <a:prstGeom prst="roundRect">
            <a:avLst>
              <a:gd name="adj" fmla="val 179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2578608"/>
            <a:ext cx="310896" cy="310896"/>
          </a:xfrm>
          <a:prstGeom prst="ellipse">
            <a:avLst/>
          </a:prstGeom>
          <a:solidFill>
            <a:srgbClr val="1A5336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2569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≡</a:t>
            </a:r>
            <a:endParaRPr lang="en-US" sz="884" dirty="0"/>
          </a:p>
        </p:txBody>
      </p:sp>
      <p:sp>
        <p:nvSpPr>
          <p:cNvPr id="17" name="Text 15"/>
          <p:cNvSpPr/>
          <p:nvPr/>
        </p:nvSpPr>
        <p:spPr>
          <a:xfrm>
            <a:off x="1170432" y="2569464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— what ships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8096" y="3017520"/>
            <a:ext cx="313639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EMS triage runs inside USFF for Vendor Expense; the other four expense types route users to the existing portals from our front door.</a:t>
            </a:r>
            <a:endParaRPr lang="en-US" sz="930" dirty="0"/>
          </a:p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intake for Vendor Expense is absorbed into USFF.</a:t>
            </a:r>
            <a:endParaRPr lang="en-US" sz="930" dirty="0"/>
          </a:p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master intake form: Pipeline / GTS fields unlock only when the user's answers require them — non-GTS users see no change to today's flow.</a:t>
            </a:r>
            <a:endParaRPr lang="en-US" sz="930" dirty="0"/>
          </a:p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SPID remains in the existing PowerApp, linked from USFF.</a:t>
            </a:r>
            <a:endParaRPr lang="en-US" sz="930" dirty="0"/>
          </a:p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data migration at launch: in-flight requests complete in legacy EMS / Pipeline while new requests start in USFF.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4306824" y="2395728"/>
            <a:ext cx="3575304" cy="3950208"/>
          </a:xfrm>
          <a:prstGeom prst="roundRect">
            <a:avLst>
              <a:gd name="adj" fmla="val 179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07992" y="2578608"/>
            <a:ext cx="310896" cy="310896"/>
          </a:xfrm>
          <a:prstGeom prst="ellipse">
            <a:avLst/>
          </a:prstGeom>
          <a:solidFill>
            <a:srgbClr val="008A00"/>
          </a:solidFill>
          <a:ln/>
        </p:spPr>
      </p:sp>
      <p:sp>
        <p:nvSpPr>
          <p:cNvPr id="21" name="Text 19"/>
          <p:cNvSpPr/>
          <p:nvPr/>
        </p:nvSpPr>
        <p:spPr>
          <a:xfrm>
            <a:off x="4507992" y="2569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84" dirty="0"/>
          </a:p>
        </p:txBody>
      </p:sp>
      <p:sp>
        <p:nvSpPr>
          <p:cNvPr id="22" name="Text 20"/>
          <p:cNvSpPr/>
          <p:nvPr/>
        </p:nvSpPr>
        <p:spPr>
          <a:xfrm>
            <a:off x="4928616" y="2569464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26280" y="3017520"/>
            <a:ext cx="313639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option that realistically meets the committed September date.</a:t>
            </a:r>
            <a:endParaRPr lang="en-US" sz="930" dirty="0"/>
          </a:p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 prototypes are already built and demo-validated — the highest-risk UX decisions are de-risked.</a:t>
            </a:r>
            <a:endParaRPr lang="en-US" sz="930" dirty="0"/>
          </a:p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disruption to the existing USFF user base; logic-gated fields keep the form familiar.</a:t>
            </a:r>
            <a:endParaRPr lang="en-US" sz="930" dirty="0"/>
          </a:p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duplicate intake + Pipeline entry for the highest-volume flow (Vendor Expense).</a:t>
            </a:r>
            <a:endParaRPr lang="en-US" sz="930" dirty="0"/>
          </a:p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Establishes the foundation — master form, roles, statuses, agenda model — that Options 2 and 3 build on.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065008" y="2395728"/>
            <a:ext cx="3575304" cy="3950208"/>
          </a:xfrm>
          <a:prstGeom prst="roundRect">
            <a:avLst>
              <a:gd name="adj" fmla="val 179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66176" y="2578608"/>
            <a:ext cx="310896" cy="31089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8266176" y="2569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884" dirty="0"/>
          </a:p>
        </p:txBody>
      </p:sp>
      <p:sp>
        <p:nvSpPr>
          <p:cNvPr id="27" name="Text 25"/>
          <p:cNvSpPr/>
          <p:nvPr/>
        </p:nvSpPr>
        <p:spPr>
          <a:xfrm>
            <a:off x="8686800" y="2569464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watch-outs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84464" y="3017520"/>
            <a:ext cx="313639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BOM Agenda Builder role logic is still undefined: we are reverse-engineering PowerApps permissioning, and segment / business-unit scoping for BOM leads must be designed as logic-based mapping, not AD-group sprawl.</a:t>
            </a:r>
            <a:endParaRPr lang="en-US" sz="930" dirty="0"/>
          </a:p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management: the mapping we received is an expense-policy view — translating it into a concise set of AD groups is unresolved.</a:t>
            </a:r>
            <a:endParaRPr lang="en-US" sz="930" dirty="0"/>
          </a:p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run: legacy EMS / Pipeline stay live for in-flight items, so two sources of truth exist until migration.</a:t>
            </a:r>
            <a:endParaRPr lang="en-US" sz="930" dirty="0"/>
          </a:p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management: GTS users learn a new front door while legacy processes continue alongside.</a:t>
            </a:r>
            <a:endParaRPr lang="en-US" sz="930" dirty="0"/>
          </a:p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migration as a standalone feature costs ~1 month (end of October).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USFF × EMS Consolidation — Delivery Options  |  Technology Delivery  |  July 2026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2928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A53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1 + SPID for Vendor Expense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89888"/>
            <a:ext cx="3575304" cy="786384"/>
          </a:xfrm>
          <a:prstGeom prst="roundRect">
            <a:avLst>
              <a:gd name="adj" fmla="val 8140"/>
            </a:avLst>
          </a:prstGeom>
          <a:solidFill>
            <a:srgbClr val="F6FAF7"/>
          </a:solidFill>
          <a:ln w="12700">
            <a:solidFill>
              <a:srgbClr val="D6E3DA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81328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DELIVERY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682496"/>
            <a:ext cx="3209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Q1 FY27 (Oct – Nov 2026)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06824" y="1389888"/>
            <a:ext cx="3575304" cy="786384"/>
          </a:xfrm>
          <a:prstGeom prst="roundRect">
            <a:avLst>
              <a:gd name="adj" fmla="val 8140"/>
            </a:avLst>
          </a:prstGeom>
          <a:solidFill>
            <a:srgbClr val="F6FAF7"/>
          </a:solidFill>
          <a:ln w="12700">
            <a:solidFill>
              <a:srgbClr val="D6E3DA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9704" y="1481328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DATA MIGRATION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489704" y="1682496"/>
            <a:ext cx="3209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CY2026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65008" y="1389888"/>
            <a:ext cx="3575304" cy="786384"/>
          </a:xfrm>
          <a:prstGeom prst="roundRect">
            <a:avLst>
              <a:gd name="adj" fmla="val 8140"/>
            </a:avLst>
          </a:prstGeom>
          <a:solidFill>
            <a:srgbClr val="F6FAF7"/>
          </a:solidFill>
          <a:ln w="12700">
            <a:solidFill>
              <a:srgbClr val="D6E3DA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47888" y="1481328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CONFIDENCE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47888" y="1682496"/>
            <a:ext cx="3209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— hinges on Ariba + schema work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2395728"/>
            <a:ext cx="3575304" cy="3950208"/>
          </a:xfrm>
          <a:prstGeom prst="roundRect">
            <a:avLst>
              <a:gd name="adj" fmla="val 179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2578608"/>
            <a:ext cx="310896" cy="310896"/>
          </a:xfrm>
          <a:prstGeom prst="ellipse">
            <a:avLst/>
          </a:prstGeom>
          <a:solidFill>
            <a:srgbClr val="1A5336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2569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≡</a:t>
            </a:r>
            <a:endParaRPr lang="en-US" sz="884" dirty="0"/>
          </a:p>
        </p:txBody>
      </p:sp>
      <p:sp>
        <p:nvSpPr>
          <p:cNvPr id="17" name="Text 15"/>
          <p:cNvSpPr/>
          <p:nvPr/>
        </p:nvSpPr>
        <p:spPr>
          <a:xfrm>
            <a:off x="1170432" y="2569464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— what ships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8096" y="3017520"/>
            <a:ext cx="313639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Option 1, plus the SPID (Signing Party) process captured in USFF for Vendor Expense.</a:t>
            </a:r>
            <a:endParaRPr lang="en-US" sz="930" dirty="0"/>
          </a:p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SPID becomes a standalone intake in USFF that asks only net-new questions — no re-entry of data already captured in the master form.</a:t>
            </a:r>
            <a:endParaRPr lang="en-US" sz="930" dirty="0"/>
          </a:p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discrepancy checks flag conflicts between the SPID answers and the original intake / Pipeline record.</a:t>
            </a:r>
            <a:endParaRPr lang="en-US" sz="930" dirty="0"/>
          </a:p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pulling approved Sourcing Request status from Ariba via API to gate SPID submission.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4306824" y="2395728"/>
            <a:ext cx="3575304" cy="3950208"/>
          </a:xfrm>
          <a:prstGeom prst="roundRect">
            <a:avLst>
              <a:gd name="adj" fmla="val 179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07992" y="2578608"/>
            <a:ext cx="310896" cy="310896"/>
          </a:xfrm>
          <a:prstGeom prst="ellipse">
            <a:avLst/>
          </a:prstGeom>
          <a:solidFill>
            <a:srgbClr val="008A00"/>
          </a:solidFill>
          <a:ln/>
        </p:spPr>
      </p:sp>
      <p:sp>
        <p:nvSpPr>
          <p:cNvPr id="21" name="Text 19"/>
          <p:cNvSpPr/>
          <p:nvPr/>
        </p:nvSpPr>
        <p:spPr>
          <a:xfrm>
            <a:off x="4507992" y="2569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84" dirty="0"/>
          </a:p>
        </p:txBody>
      </p:sp>
      <p:sp>
        <p:nvSpPr>
          <p:cNvPr id="22" name="Text 20"/>
          <p:cNvSpPr/>
          <p:nvPr/>
        </p:nvSpPr>
        <p:spPr>
          <a:xfrm>
            <a:off x="4928616" y="2569464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26280" y="3017520"/>
            <a:ext cx="313639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vendor-expense lifecycle — intake → Pipeline → SPID — lives in one application.</a:t>
            </a:r>
            <a:endParaRPr lang="en-US" sz="930" dirty="0"/>
          </a:p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redundant data entry; discrepancy highlighting improves data quality at the point of capture.</a:t>
            </a:r>
            <a:endParaRPr lang="en-US" sz="930" dirty="0"/>
          </a:p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per-flow value: Vendor Expense is the only expense type touching procurement / Ariba / the USFF storefront.</a:t>
            </a:r>
            <a:endParaRPr lang="en-US" sz="930" dirty="0"/>
          </a:p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 the platform for full consolidation with the schema and integrations already proven.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065008" y="2395728"/>
            <a:ext cx="3575304" cy="3950208"/>
          </a:xfrm>
          <a:prstGeom prst="roundRect">
            <a:avLst>
              <a:gd name="adj" fmla="val 179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66176" y="2578608"/>
            <a:ext cx="310896" cy="31089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8266176" y="2569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884" dirty="0"/>
          </a:p>
        </p:txBody>
      </p:sp>
      <p:sp>
        <p:nvSpPr>
          <p:cNvPr id="27" name="Text 25"/>
          <p:cNvSpPr/>
          <p:nvPr/>
        </p:nvSpPr>
        <p:spPr>
          <a:xfrm>
            <a:off x="8686800" y="2569464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watch-outs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84464" y="3017520"/>
            <a:ext cx="313639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user experience: GTS uses USFF for vendor-expense SPIDs but the legacy portal for ATH and every other SPID — real confusion risk and a significant training load.</a:t>
            </a:r>
            <a:endParaRPr lang="en-US" sz="930" dirty="0"/>
          </a:p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Ariba API: setup lead time is material, and Ariba's API rate limits conflict with our Azure pipeline usage.</a:t>
            </a:r>
            <a:endParaRPr lang="en-US" sz="930" dirty="0"/>
          </a:p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(UiPath capturing approval emails) needs a new automation feature — and we have no UiPath resource to build it.</a:t>
            </a:r>
            <a:endParaRPr lang="en-US" sz="930" dirty="0"/>
          </a:p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SR validation, users could enter any SR number, letting SPIDs through before the sourcing request is actually approved.</a:t>
            </a:r>
            <a:endParaRPr lang="en-US" sz="930" dirty="0"/>
          </a:p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SPID data migration is far larger (field volume + schema transformation) — including it pushes delivery to end of year.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USFF × EMS Consolidation — Delivery Options  |  Technology Delivery  |  July 2026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2928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0B2E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consolidation — all five flows, EMS + Pipeline + SPID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89888"/>
            <a:ext cx="3575304" cy="786384"/>
          </a:xfrm>
          <a:prstGeom prst="roundRect">
            <a:avLst>
              <a:gd name="adj" fmla="val 8140"/>
            </a:avLst>
          </a:prstGeom>
          <a:solidFill>
            <a:srgbClr val="F6FAF7"/>
          </a:solidFill>
          <a:ln w="12700">
            <a:solidFill>
              <a:srgbClr val="D6E3DA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81328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DELIVERY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682496"/>
            <a:ext cx="3209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March 2027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06824" y="1389888"/>
            <a:ext cx="3575304" cy="786384"/>
          </a:xfrm>
          <a:prstGeom prst="roundRect">
            <a:avLst>
              <a:gd name="adj" fmla="val 8140"/>
            </a:avLst>
          </a:prstGeom>
          <a:solidFill>
            <a:srgbClr val="F6FAF7"/>
          </a:solidFill>
          <a:ln w="12700">
            <a:solidFill>
              <a:srgbClr val="D6E3DA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9704" y="1481328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MIGRATION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489704" y="1682496"/>
            <a:ext cx="3209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— 50+ lists, full transform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65008" y="1389888"/>
            <a:ext cx="3575304" cy="786384"/>
          </a:xfrm>
          <a:prstGeom prst="roundRect">
            <a:avLst>
              <a:gd name="adj" fmla="val 8140"/>
            </a:avLst>
          </a:prstGeom>
          <a:solidFill>
            <a:srgbClr val="F6FAF7"/>
          </a:solidFill>
          <a:ln w="12700">
            <a:solidFill>
              <a:srgbClr val="D6E3DA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47888" y="1481328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CONFIDENCE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47888" y="1682496"/>
            <a:ext cx="3209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— requirements &amp; capacity gaps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2395728"/>
            <a:ext cx="3575304" cy="3950208"/>
          </a:xfrm>
          <a:prstGeom prst="roundRect">
            <a:avLst>
              <a:gd name="adj" fmla="val 179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2578608"/>
            <a:ext cx="310896" cy="310896"/>
          </a:xfrm>
          <a:prstGeom prst="ellipse">
            <a:avLst/>
          </a:prstGeom>
          <a:solidFill>
            <a:srgbClr val="1A5336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2569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≡</a:t>
            </a:r>
            <a:endParaRPr lang="en-US" sz="884" dirty="0"/>
          </a:p>
        </p:txBody>
      </p:sp>
      <p:sp>
        <p:nvSpPr>
          <p:cNvPr id="17" name="Text 15"/>
          <p:cNvSpPr/>
          <p:nvPr/>
        </p:nvSpPr>
        <p:spPr>
          <a:xfrm>
            <a:off x="1170432" y="2569464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— what ships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8096" y="3017520"/>
            <a:ext cx="313639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five EMS expense types, both Pipeline types and every SPID flow consolidated into USFF.</a:t>
            </a:r>
            <a:endParaRPr lang="en-US" sz="930" dirty="0"/>
          </a:p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EMS, Pipeline and SPID applications retired; USFF becomes the single source of truth.</a:t>
            </a:r>
            <a:endParaRPr lang="en-US" sz="930" dirty="0"/>
          </a:p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Excludes downstream / batch processes (onboarding portal, invoicing portal, GD Hub, shared data lake) — their requirements and logic are unknown today.</a:t>
            </a:r>
            <a:endParaRPr lang="en-US" sz="930" dirty="0"/>
          </a:p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full data migration with schema transformation across 50+ SharePoint lists.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4306824" y="2395728"/>
            <a:ext cx="3575304" cy="3950208"/>
          </a:xfrm>
          <a:prstGeom prst="roundRect">
            <a:avLst>
              <a:gd name="adj" fmla="val 179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07992" y="2578608"/>
            <a:ext cx="310896" cy="310896"/>
          </a:xfrm>
          <a:prstGeom prst="ellipse">
            <a:avLst/>
          </a:prstGeom>
          <a:solidFill>
            <a:srgbClr val="008A00"/>
          </a:solidFill>
          <a:ln/>
        </p:spPr>
      </p:sp>
      <p:sp>
        <p:nvSpPr>
          <p:cNvPr id="21" name="Text 19"/>
          <p:cNvSpPr/>
          <p:nvPr/>
        </p:nvSpPr>
        <p:spPr>
          <a:xfrm>
            <a:off x="4507992" y="2569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84" dirty="0"/>
          </a:p>
        </p:txBody>
      </p:sp>
      <p:sp>
        <p:nvSpPr>
          <p:cNvPr id="22" name="Text 20"/>
          <p:cNvSpPr/>
          <p:nvPr/>
        </p:nvSpPr>
        <p:spPr>
          <a:xfrm>
            <a:off x="4928616" y="2569464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26280" y="3017520"/>
            <a:ext cx="313639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front door for everything — no parallel apps, no split processes, no routing users between tools.</a:t>
            </a:r>
            <a:endParaRPr lang="en-US" sz="930" dirty="0"/>
          </a:p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of truth: dramatically easier to locate, manage, report on and audit request data.</a:t>
            </a:r>
            <a:endParaRPr lang="en-US" sz="930" dirty="0"/>
          </a:p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Ends duplicate maintenance, SharePoint permissioning workarounds and swivel-chair overhead for good.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065008" y="2395728"/>
            <a:ext cx="3575304" cy="3950208"/>
          </a:xfrm>
          <a:prstGeom prst="roundRect">
            <a:avLst>
              <a:gd name="adj" fmla="val 179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66176" y="2578608"/>
            <a:ext cx="310896" cy="31089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8266176" y="2569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884" dirty="0"/>
          </a:p>
        </p:txBody>
      </p:sp>
      <p:sp>
        <p:nvSpPr>
          <p:cNvPr id="27" name="Text 25"/>
          <p:cNvSpPr/>
          <p:nvPr/>
        </p:nvSpPr>
        <p:spPr>
          <a:xfrm>
            <a:off x="8686800" y="2569464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watch-outs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84464" y="3017520"/>
            <a:ext cx="313639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requirements exist beyond Vendor Expense and Approval to Hire — everything else must be gathered through demos, questions and assumptions. This is the single hardest problem in the programme.</a:t>
            </a:r>
            <a:endParaRPr lang="en-US" sz="930" dirty="0"/>
          </a:p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Downstream / batch integration is unscoped: at least +1 month of requirements gathering before build can even be sized.</a:t>
            </a:r>
            <a:endParaRPr lang="en-US" sz="930" dirty="0"/>
          </a:p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migration of 50+ SharePoint lists into a new schema — the largest, riskiest work item across all options.</a:t>
            </a:r>
            <a:endParaRPr lang="en-US" sz="930" dirty="0"/>
          </a:p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 drops to 2 developers after August — capacity does not match this scope.</a:t>
            </a:r>
            <a:endParaRPr lang="en-US" sz="930" dirty="0"/>
          </a:p>
          <a:p>
            <a:pPr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cost: ARP automation, the Gen-AI model and new business-requested USFF features are deferred for roughly two quarters.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USFF × EMS Consolidation — Delivery Options  |  Technology Delivery  |  July 2026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2928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BUBBLE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risks leadership should see — whatever option we pick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75304" cy="2304288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627632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gap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99816" y="16459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/>
        </p:spPr>
      </p:sp>
      <p:sp>
        <p:nvSpPr>
          <p:cNvPr id="7" name="Text 5"/>
          <p:cNvSpPr/>
          <p:nvPr/>
        </p:nvSpPr>
        <p:spPr>
          <a:xfrm>
            <a:off x="3099816" y="164592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49808" y="1993392"/>
            <a:ext cx="31729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written requirements for any flow. Logic is reverse-engineered from demos and the retiring PowerApps; the July developer sessions grew known scope to 50+ SharePoint lists.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749808" y="3182112"/>
            <a:ext cx="3172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 </a:t>
            </a:r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Time-box discovery per flow; lock scope at each phase gate; formal ask to the business for policy docs &amp; reference tables.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306824" y="1481328"/>
            <a:ext cx="3575304" cy="2304288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07992" y="1627632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migration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0" y="16459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164592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07992" y="1993392"/>
            <a:ext cx="31729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master form = a new schema. Legacy data across EMS / Pipeline / SPID must be transformed, not copied. Today there are multiple sources of truth.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4507992" y="3182112"/>
            <a:ext cx="3172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 </a:t>
            </a:r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Decouple migration from launch (parallel run); migrate flow-by-flow after cutover; +1 month per major flow.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065008" y="1481328"/>
            <a:ext cx="3575304" cy="2304288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66176" y="1627632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&amp; role management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616184" y="16459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FBF3E4"/>
          </a:solidFill>
          <a:ln/>
        </p:spPr>
      </p:sp>
      <p:sp>
        <p:nvSpPr>
          <p:cNvPr id="19" name="Text 17"/>
          <p:cNvSpPr/>
          <p:nvPr/>
        </p:nvSpPr>
        <p:spPr>
          <a:xfrm>
            <a:off x="10616184" y="164592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266176" y="1993392"/>
            <a:ext cx="31729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mapping received is an expense-policy view, not an app model. BOM leads need segment / BU-scoped visibility; naive AD-group design creates unmanageable sprawl.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8266176" y="3182112"/>
            <a:ext cx="3172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 </a:t>
            </a:r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concise AD group per role + logic-based scoping in-app (matrix maintained by EMS team &amp; segment leads).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8640" y="3968496"/>
            <a:ext cx="3575304" cy="2304288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9808" y="4114800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management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99816" y="4133088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FBF3E4"/>
          </a:solidFill>
          <a:ln/>
        </p:spPr>
      </p:sp>
      <p:sp>
        <p:nvSpPr>
          <p:cNvPr id="25" name="Text 23"/>
          <p:cNvSpPr/>
          <p:nvPr/>
        </p:nvSpPr>
        <p:spPr>
          <a:xfrm>
            <a:off x="3099816" y="41330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49808" y="4480560"/>
            <a:ext cx="31729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USFF processes run beside legacy ones — e.g. USFF for vendor-expense SPID but the old portal for approval-to-hire SPIDs. Users must know which door to use.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749808" y="5669280"/>
            <a:ext cx="3172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 </a:t>
            </a:r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routing from USFF to legacy portals; targeted GTS training &amp; comms plan per phase; floor support at each cutover.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306824" y="3968496"/>
            <a:ext cx="3575304" cy="2304288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07992" y="4114800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Ariba SR validation (Option 2+)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58000" y="4133088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FBF3E4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0" y="41330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07992" y="4480560"/>
            <a:ext cx="31729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SPID depends on an approved Sourcing Request. Ariba API setup takes time and its rate limits conflict with our Azure pipeline; the UiPath email fallback has no resource to build it.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4507992" y="5669280"/>
            <a:ext cx="3172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 </a:t>
            </a:r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Ariba API engagement now (longest lead item); interim manual evidence upload with audit check.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065008" y="3968496"/>
            <a:ext cx="3575304" cy="2304288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266176" y="4114800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capacity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616184" y="4133088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FBF3E4"/>
          </a:solidFill>
          <a:ln/>
        </p:spPr>
      </p:sp>
      <p:sp>
        <p:nvSpPr>
          <p:cNvPr id="37" name="Text 35"/>
          <p:cNvSpPr/>
          <p:nvPr/>
        </p:nvSpPr>
        <p:spPr>
          <a:xfrm>
            <a:off x="10616184" y="41330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266176" y="4480560"/>
            <a:ext cx="31729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drops to 2 developers after August while USFF business asks (ARP automation, Gen-AI model, new features) continue to queue behind this programme.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8266176" y="5669280"/>
            <a:ext cx="3172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 </a:t>
            </a:r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decision on backfill; strict phase scope so the 2-dev team is never carrying migration + new build at once.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USFF × EMS Consolidation — Delivery Options  |  Technology Delivery  |  July 2026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12928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option means for the calendar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017520" y="1783080"/>
            <a:ext cx="7315" cy="3977640"/>
          </a:xfrm>
          <a:prstGeom prst="rect">
            <a:avLst/>
          </a:prstGeom>
          <a:solidFill>
            <a:srgbClr val="E4EDE7"/>
          </a:solidFill>
          <a:ln/>
        </p:spPr>
      </p:sp>
      <p:sp>
        <p:nvSpPr>
          <p:cNvPr id="5" name="Text 3"/>
          <p:cNvSpPr/>
          <p:nvPr/>
        </p:nvSpPr>
        <p:spPr>
          <a:xfrm>
            <a:off x="3017520" y="1490472"/>
            <a:ext cx="1074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091940" y="1783080"/>
            <a:ext cx="7315" cy="3977640"/>
          </a:xfrm>
          <a:prstGeom prst="rect">
            <a:avLst/>
          </a:prstGeom>
          <a:solidFill>
            <a:srgbClr val="E4EDE7"/>
          </a:solidFill>
          <a:ln/>
        </p:spPr>
      </p:sp>
      <p:sp>
        <p:nvSpPr>
          <p:cNvPr id="7" name="Text 5"/>
          <p:cNvSpPr/>
          <p:nvPr/>
        </p:nvSpPr>
        <p:spPr>
          <a:xfrm>
            <a:off x="4091940" y="1490472"/>
            <a:ext cx="1074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166360" y="1783080"/>
            <a:ext cx="7315" cy="3977640"/>
          </a:xfrm>
          <a:prstGeom prst="rect">
            <a:avLst/>
          </a:prstGeom>
          <a:solidFill>
            <a:srgbClr val="E4EDE7"/>
          </a:solidFill>
          <a:ln/>
        </p:spPr>
      </p:sp>
      <p:sp>
        <p:nvSpPr>
          <p:cNvPr id="9" name="Text 7"/>
          <p:cNvSpPr/>
          <p:nvPr/>
        </p:nvSpPr>
        <p:spPr>
          <a:xfrm>
            <a:off x="5166360" y="1490472"/>
            <a:ext cx="1074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40780" y="1783080"/>
            <a:ext cx="7315" cy="3977640"/>
          </a:xfrm>
          <a:prstGeom prst="rect">
            <a:avLst/>
          </a:prstGeom>
          <a:solidFill>
            <a:srgbClr val="E4EDE7"/>
          </a:solidFill>
          <a:ln/>
        </p:spPr>
      </p:sp>
      <p:sp>
        <p:nvSpPr>
          <p:cNvPr id="11" name="Text 9"/>
          <p:cNvSpPr/>
          <p:nvPr/>
        </p:nvSpPr>
        <p:spPr>
          <a:xfrm>
            <a:off x="6240780" y="1490472"/>
            <a:ext cx="1074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0" y="1783080"/>
            <a:ext cx="7315" cy="3977640"/>
          </a:xfrm>
          <a:prstGeom prst="rect">
            <a:avLst/>
          </a:prstGeom>
          <a:solidFill>
            <a:srgbClr val="E4EDE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1490472"/>
            <a:ext cx="1074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389620" y="1783080"/>
            <a:ext cx="7315" cy="3977640"/>
          </a:xfrm>
          <a:prstGeom prst="rect">
            <a:avLst/>
          </a:prstGeom>
          <a:solidFill>
            <a:srgbClr val="E4EDE7"/>
          </a:solidFill>
          <a:ln/>
        </p:spPr>
      </p:sp>
      <p:sp>
        <p:nvSpPr>
          <p:cNvPr id="15" name="Text 13"/>
          <p:cNvSpPr/>
          <p:nvPr/>
        </p:nvSpPr>
        <p:spPr>
          <a:xfrm>
            <a:off x="8389620" y="1490472"/>
            <a:ext cx="1074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'27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464040" y="1783080"/>
            <a:ext cx="7315" cy="3977640"/>
          </a:xfrm>
          <a:prstGeom prst="rect">
            <a:avLst/>
          </a:prstGeom>
          <a:solidFill>
            <a:srgbClr val="E4EDE7"/>
          </a:solidFill>
          <a:ln/>
        </p:spPr>
      </p:sp>
      <p:sp>
        <p:nvSpPr>
          <p:cNvPr id="17" name="Text 15"/>
          <p:cNvSpPr/>
          <p:nvPr/>
        </p:nvSpPr>
        <p:spPr>
          <a:xfrm>
            <a:off x="9464040" y="1490472"/>
            <a:ext cx="1074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538460" y="1783080"/>
            <a:ext cx="7315" cy="3977640"/>
          </a:xfrm>
          <a:prstGeom prst="rect">
            <a:avLst/>
          </a:prstGeom>
          <a:solidFill>
            <a:srgbClr val="E4EDE7"/>
          </a:solidFill>
          <a:ln/>
        </p:spPr>
      </p:sp>
      <p:sp>
        <p:nvSpPr>
          <p:cNvPr id="19" name="Text 17"/>
          <p:cNvSpPr/>
          <p:nvPr/>
        </p:nvSpPr>
        <p:spPr>
          <a:xfrm>
            <a:off x="10538460" y="1490472"/>
            <a:ext cx="1074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1612880" y="1783080"/>
            <a:ext cx="7315" cy="3977640"/>
          </a:xfrm>
          <a:prstGeom prst="rect">
            <a:avLst/>
          </a:prstGeom>
          <a:solidFill>
            <a:srgbClr val="E4EDE7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0299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1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 + Pipeline (VE)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017520" y="2103120"/>
            <a:ext cx="3223260" cy="384048"/>
          </a:xfrm>
          <a:prstGeom prst="roundRect">
            <a:avLst>
              <a:gd name="adj" fmla="val 14286"/>
            </a:avLst>
          </a:prstGeom>
          <a:solidFill>
            <a:srgbClr val="008A00">
              <a:alpha val="2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99837" y="2116836"/>
            <a:ext cx="2402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migration → end Oct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017520" y="2103120"/>
            <a:ext cx="2009165" cy="384048"/>
          </a:xfrm>
          <a:prstGeom prst="roundRect">
            <a:avLst>
              <a:gd name="adj" fmla="val 14286"/>
            </a:avLst>
          </a:prstGeom>
          <a:solidFill>
            <a:srgbClr val="008A0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23011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2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SPID for Vendor Expense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017520" y="3303270"/>
            <a:ext cx="5372100" cy="384048"/>
          </a:xfrm>
          <a:prstGeom prst="roundRect">
            <a:avLst>
              <a:gd name="adj" fmla="val 14286"/>
            </a:avLst>
          </a:prstGeom>
          <a:solidFill>
            <a:srgbClr val="1A5336">
              <a:alpha val="2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582537" y="3316986"/>
            <a:ext cx="30689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migration → end CY2026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017520" y="3303270"/>
            <a:ext cx="3491865" cy="384048"/>
          </a:xfrm>
          <a:prstGeom prst="roundRect">
            <a:avLst>
              <a:gd name="adj" fmla="val 14286"/>
            </a:avLst>
          </a:prstGeom>
          <a:solidFill>
            <a:srgbClr val="1A5336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4302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3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consolidation (migration incl.)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017520" y="450342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B2E20"/>
          </a:solidFill>
          <a:ln/>
        </p:spPr>
      </p:sp>
      <p:sp>
        <p:nvSpPr>
          <p:cNvPr id="31" name="Shape 29"/>
          <p:cNvSpPr/>
          <p:nvPr/>
        </p:nvSpPr>
        <p:spPr>
          <a:xfrm>
            <a:off x="5026685" y="1737360"/>
            <a:ext cx="16459" cy="402336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2" name="Text 30"/>
          <p:cNvSpPr/>
          <p:nvPr/>
        </p:nvSpPr>
        <p:spPr>
          <a:xfrm>
            <a:off x="4112285" y="5074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 DEADLINE — SEP 26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8640" y="5806440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EAF3ED"/>
          </a:solidFill>
          <a:ln w="12700">
            <a:solidFill>
              <a:srgbClr val="D6E3DA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22960" y="5806440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Option 1 lands inside the committed window.  </a:t>
            </a:r>
            <a:pPr indent="0" marL="0">
              <a:buNone/>
            </a:pPr>
            <a:r>
              <a:rPr lang="en-US" sz="110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scope addition (SPID, migration, remaining flows) moves delivery in month-sized steps — driven by schema transformation and discovery, not build effort.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USFF × EMS Consolidation — Delivery Options  |  Technology Delivery  |  July 2026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2928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DELIVERY RECOMMENDATION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Option 1 in September. Phase the rest.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5577840" cy="2395728"/>
          </a:xfrm>
          <a:prstGeom prst="roundRect">
            <a:avLst>
              <a:gd name="adj" fmla="val 2672"/>
            </a:avLst>
          </a:prstGeom>
          <a:solidFill>
            <a:srgbClr val="1A5336"/>
          </a:solidFill>
          <a:ln w="12700">
            <a:solidFill>
              <a:srgbClr val="1A5336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Option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4672" y="2048256"/>
            <a:ext cx="5074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F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the only option that meets the committed date with high confidence — scope is already proven by working prototypes.</a:t>
            </a:r>
            <a:endParaRPr lang="en-US" sz="105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F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contains the two biggest unknowns (data migration and SPID / Ariba) instead of betting the deadline on them.</a:t>
            </a:r>
            <a:endParaRPr lang="en-US" sz="105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F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Non-GTS users are untouched; GTS gets immediate consolidation value on the highest-volume flow.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55080" y="1517904"/>
            <a:ext cx="5285232" cy="2395728"/>
          </a:xfrm>
          <a:prstGeom prst="roundRect">
            <a:avLst>
              <a:gd name="adj" fmla="val 2672"/>
            </a:avLst>
          </a:prstGeom>
          <a:solidFill>
            <a:srgbClr val="1A5336"/>
          </a:solidFill>
          <a:ln w="12700">
            <a:solidFill>
              <a:srgbClr val="1A5336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11112" y="168249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phased path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11112" y="2093976"/>
            <a:ext cx="274320" cy="274320"/>
          </a:xfrm>
          <a:prstGeom prst="ellipse">
            <a:avLst/>
          </a:prstGeom>
          <a:solidFill>
            <a:srgbClr val="008A00"/>
          </a:solidFill>
          <a:ln/>
        </p:spPr>
      </p:sp>
      <p:sp>
        <p:nvSpPr>
          <p:cNvPr id="10" name="Text 8"/>
          <p:cNvSpPr/>
          <p:nvPr/>
        </p:nvSpPr>
        <p:spPr>
          <a:xfrm>
            <a:off x="6611112" y="2084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6995160" y="202082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9CC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SEP 2026  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F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1 live — EMS triage + Pipeline for Vendor Expense in USFF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611112" y="2697480"/>
            <a:ext cx="274320" cy="274320"/>
          </a:xfrm>
          <a:prstGeom prst="ellipse">
            <a:avLst/>
          </a:prstGeom>
          <a:solidFill>
            <a:srgbClr val="008A00"/>
          </a:solidFill>
          <a:ln/>
        </p:spPr>
      </p:sp>
      <p:sp>
        <p:nvSpPr>
          <p:cNvPr id="13" name="Text 11"/>
          <p:cNvSpPr/>
          <p:nvPr/>
        </p:nvSpPr>
        <p:spPr>
          <a:xfrm>
            <a:off x="6611112" y="2688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6995160" y="262432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9CC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Q1 FY27  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F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SPID for Vendor Expense + data migration + Ariba SR validation (Option 2 scope)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11112" y="3300984"/>
            <a:ext cx="274320" cy="274320"/>
          </a:xfrm>
          <a:prstGeom prst="ellipse">
            <a:avLst/>
          </a:prstGeom>
          <a:solidFill>
            <a:srgbClr val="008A00"/>
          </a:solidFill>
          <a:ln/>
        </p:spPr>
      </p:sp>
      <p:sp>
        <p:nvSpPr>
          <p:cNvPr id="16" name="Text 14"/>
          <p:cNvSpPr/>
          <p:nvPr/>
        </p:nvSpPr>
        <p:spPr>
          <a:xfrm>
            <a:off x="6611112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6995160" y="322783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9CC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· FY27  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DF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flows &amp; decommission — sized only after real requirements exist (Option 3 scope)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418795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from leadership today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590288"/>
            <a:ext cx="2697480" cy="1572768"/>
          </a:xfrm>
          <a:prstGeom prst="roundRect">
            <a:avLst>
              <a:gd name="adj" fmla="val 4070"/>
            </a:avLst>
          </a:prstGeom>
          <a:solidFill>
            <a:srgbClr val="10402C"/>
          </a:solidFill>
          <a:ln w="12700">
            <a:solidFill>
              <a:srgbClr val="2C6647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3232" y="4718304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D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Endorse the scope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" y="5029200"/>
            <a:ext cx="23682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D5E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Option 1 for the September window and Phase 2 (SPID + migration) for Q1 FY27 planning.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3346704" y="4590288"/>
            <a:ext cx="2697480" cy="1572768"/>
          </a:xfrm>
          <a:prstGeom prst="roundRect">
            <a:avLst>
              <a:gd name="adj" fmla="val 4070"/>
            </a:avLst>
          </a:prstGeom>
          <a:solidFill>
            <a:srgbClr val="10402C"/>
          </a:solidFill>
          <a:ln w="12700">
            <a:solidFill>
              <a:srgbClr val="2C6647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511296" y="4718304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D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 requirements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11296" y="5029200"/>
            <a:ext cx="23682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D5E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the EMS / business team to hand over the expense policy, skills master, rate tables and PowerApps logic — our largest source of risk.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144768" y="4590288"/>
            <a:ext cx="2697480" cy="1572768"/>
          </a:xfrm>
          <a:prstGeom prst="roundRect">
            <a:avLst>
              <a:gd name="adj" fmla="val 4070"/>
            </a:avLst>
          </a:prstGeom>
          <a:solidFill>
            <a:srgbClr val="10402C"/>
          </a:solidFill>
          <a:ln w="12700">
            <a:solidFill>
              <a:srgbClr val="2C6647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09360" y="4718304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D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 the Ariba engagement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5029200"/>
            <a:ext cx="23682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D5E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 off the Ariba API request now; it is the longest-lead item on the Phase 2 critical path.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8942832" y="4590288"/>
            <a:ext cx="2697480" cy="1572768"/>
          </a:xfrm>
          <a:prstGeom prst="roundRect">
            <a:avLst>
              <a:gd name="adj" fmla="val 4070"/>
            </a:avLst>
          </a:prstGeom>
          <a:solidFill>
            <a:srgbClr val="10402C"/>
          </a:solidFill>
          <a:ln w="12700">
            <a:solidFill>
              <a:srgbClr val="2C6647"/>
            </a:solidFill>
            <a:prstDash val="solid"/>
          </a:ln>
          <a:effectLst>
            <a:outerShdw sx="100000" sy="100000" kx="0" ky="0" algn="bl" rotWithShape="0" blurRad="76200" dist="25400" dir="5400000">
              <a:srgbClr val="1A5336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107424" y="4718304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D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on capacity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07424" y="5029200"/>
            <a:ext cx="23682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D5E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developer backfill after August — the team drops to 2 developers while this programme runs.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9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USFF × EMS Consolidation — Delivery Options  |  July 2026  |  Confidential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2928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9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2026-07-25T23:33:13Z</dcterms:created>
  <dcterms:modified xsi:type="dcterms:W3CDTF">2026-07-25T23:33:13Z</dcterms:modified>
</cp:coreProperties>
</file>