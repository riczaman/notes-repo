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TD builds the code</c:v>
                </c:pt>
              </c:strCache>
            </c:strRef>
          </c:tx>
          <c:spPr>
            <a:solidFill>
              <a:srgbClr val="008A00"/>
            </a:solidFill>
            <a:effectLst/>
          </c:spPr>
          <c:invertIfNegative val="0"/>
          <c:dLbls>
            <c:numFmt formatCode="0.0" sourceLinked="0"/>
            <c:txPr>
              <a:bodyPr/>
              <a:lstStyle/>
              <a:p>
                <a:pPr>
                  <a:defRPr b="0" i="0" strike="noStrike" sz="900" u="none">
                    <a:solidFill>
                      <a:srgbClr val="16211C"/>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Testing &amp; UAT</c:v>
                  </c:pt>
                  <c:pt idx="1">
                    <c:v>Deployment</c:v>
                  </c:pt>
                  <c:pt idx="2">
                    <c:v>Handover to TD</c:v>
                  </c:pt>
                  <c:pt idx="3">
                    <c:v>Code development</c:v>
                  </c:pt>
                  <c:pt idx="4">
                    <c:v>Azure environment setup</c:v>
                  </c:pt>
                  <c:pt idx="5">
                    <c:v>Design &amp; discovery</c:v>
                  </c:pt>
                </c:lvl>
              </c:multiLvlStrCache>
            </c:multiLvlStrRef>
          </c:cat>
          <c:val>
            <c:numRef>
              <c:f>Sheet1!$B$2:$B$7</c:f>
              <c:numCache>
                <c:formatCode>General</c:formatCode>
                <c:ptCount val="6"/>
                <c:pt idx="0">
                  <c:v>5.5</c:v>
                </c:pt>
                <c:pt idx="1">
                  <c:v>2.5</c:v>
                </c:pt>
                <c:pt idx="2">
                  <c:v>0</c:v>
                </c:pt>
                <c:pt idx="3">
                  <c:v>9</c:v>
                </c:pt>
                <c:pt idx="4">
                  <c:v>12.5</c:v>
                </c:pt>
                <c:pt idx="5">
                  <c:v>5</c:v>
                </c:pt>
              </c:numCache>
            </c:numRef>
          </c:val>
        </c:ser>
        <c:ser>
          <c:idx val="1"/>
          <c:order val="1"/>
          <c:tx>
            <c:strRef>
              <c:f>Sheet1!$C$1</c:f>
              <c:strCache>
                <c:ptCount val="1"/>
                <c:pt idx="0">
                  <c:v>Kroll builds the code</c:v>
                </c:pt>
              </c:strCache>
            </c:strRef>
          </c:tx>
          <c:spPr>
            <a:solidFill>
              <a:srgbClr val="1F4E5F"/>
            </a:solidFill>
            <a:effectLst/>
          </c:spPr>
          <c:invertIfNegative val="0"/>
          <c:dLbls>
            <c:numFmt formatCode="0.0" sourceLinked="0"/>
            <c:txPr>
              <a:bodyPr/>
              <a:lstStyle/>
              <a:p>
                <a:pPr>
                  <a:defRPr b="0" i="0" strike="noStrike" sz="900" u="none">
                    <a:solidFill>
                      <a:srgbClr val="16211C"/>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Testing &amp; UAT</c:v>
                  </c:pt>
                  <c:pt idx="1">
                    <c:v>Deployment</c:v>
                  </c:pt>
                  <c:pt idx="2">
                    <c:v>Handover to TD</c:v>
                  </c:pt>
                  <c:pt idx="3">
                    <c:v>Code development</c:v>
                  </c:pt>
                  <c:pt idx="4">
                    <c:v>Azure environment setup</c:v>
                  </c:pt>
                  <c:pt idx="5">
                    <c:v>Design &amp; discovery</c:v>
                  </c:pt>
                </c:lvl>
              </c:multiLvlStrCache>
            </c:multiLvlStrRef>
          </c:cat>
          <c:val>
            <c:numRef>
              <c:f>Sheet1!$C$2:$C$7</c:f>
              <c:numCache>
                <c:formatCode>General</c:formatCode>
                <c:ptCount val="6"/>
                <c:pt idx="0">
                  <c:v>5.5</c:v>
                </c:pt>
                <c:pt idx="1">
                  <c:v>2.5</c:v>
                </c:pt>
                <c:pt idx="2">
                  <c:v>2.5</c:v>
                </c:pt>
                <c:pt idx="3">
                  <c:v>4.5</c:v>
                </c:pt>
                <c:pt idx="4">
                  <c:v>12.5</c:v>
                </c:pt>
                <c:pt idx="5">
                  <c:v>5</c:v>
                </c:pt>
              </c:numCache>
            </c:numRef>
          </c:val>
        </c:ser>
        <c:dLbls>
          <c:numFmt formatCode="0.0" sourceLinked="0"/>
          <c:txPr>
            <a:bodyPr/>
            <a:lstStyle/>
            <a:p>
              <a:pPr>
                <a:defRPr b="0" i="0" strike="noStrike" sz="900" u="none">
                  <a:solidFill>
                    <a:srgbClr val="16211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16211C"/>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4EAE6"/>
              </a:solidFill>
              <a:prstDash val="solid"/>
              <a:round/>
            </a:ln>
          </c:spPr>
        </c:majorGridlines>
        <c:title>
          <c:tx>
            <c:rich>
              <a:bodyPr/>
              <a:lstStyle/>
              <a:p>
                <a:pPr>
                  <a:defRPr sz="1000" b="0" i="0" u="none" strike="noStrike">
                    <a:solidFill>
                      <a:srgbClr val="5F6F68"/>
                    </a:solidFill>
                    <a:latin typeface="Calibri"/>
                  </a:defRPr>
                </a:pPr>
                <a:r>
                  <a:rPr sz="1000" b="0" i="0" u="none" strike="noStrike">
                    <a:solidFill>
                      <a:srgbClr val="5F6F68"/>
                    </a:solidFill>
                    <a:latin typeface="Calibri"/>
                  </a:rPr>
                  <a:t>Elapsed weeks</a:t>
                </a:r>
              </a:p>
            </c:rich>
          </c:tx>
          <c:layout/>
          <c:overlay val="0"/>
        </c:title>
        <c:numFmt formatCode="General" sourceLinked="0"/>
        <c:majorTickMark val="out"/>
        <c:minorTickMark val="none"/>
        <c:tickLblPos val="low"/>
        <c:spPr>
          <a:ln w="12700" cap="flat">
            <a:noFill/>
            <a:prstDash val="solid"/>
            <a:round/>
          </a:ln>
        </c:spPr>
        <c:txPr>
          <a:bodyPr/>
          <a:lstStyle/>
          <a:p>
            <a:pPr>
              <a:defRPr sz="900" b="0" i="0" u="none" strike="noStrike">
                <a:solidFill>
                  <a:srgbClr val="5F6F6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6211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whoever writes the code, the environment setup dominates and the project still adds four to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Kroll cannot build inside TD systems - no access. They build in their own environment and deliver source code that TD reviews, reconfigures and deploys.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32A"/>
        </a:solidFill>
      </p:bgPr>
    </p:bg>
    <p:spTree>
      <p:nvGrpSpPr>
        <p:cNvPr id="1" name=""/>
        <p:cNvGrpSpPr/>
        <p:nvPr/>
      </p:nvGrpSpPr>
      <p:grpSpPr>
        <a:xfrm>
          <a:off x="0" y="0"/>
          <a:ext cx="0" cy="0"/>
          <a:chOff x="0" y="0"/>
          <a:chExt cx="0" cy="0"/>
        </a:xfrm>
      </p:grpSpPr>
      <p:sp>
        <p:nvSpPr>
          <p:cNvPr id="2" name="Shape 0"/>
          <p:cNvSpPr/>
          <p:nvPr/>
        </p:nvSpPr>
        <p:spPr>
          <a:xfrm>
            <a:off x="7498080" y="-1463040"/>
            <a:ext cx="6583680" cy="6583680"/>
          </a:xfrm>
          <a:prstGeom prst="roundRect">
            <a:avLst>
              <a:gd name="adj" fmla="val 6944"/>
            </a:avLst>
          </a:prstGeom>
          <a:solidFill>
            <a:srgbClr val="0A5738"/>
          </a:solidFill>
          <a:ln w="12700">
            <a:solidFill>
              <a:srgbClr val="0A5738"/>
            </a:solidFill>
            <a:prstDash val="solid"/>
          </a:ln>
        </p:spPr>
      </p:sp>
      <p:sp>
        <p:nvSpPr>
          <p:cNvPr id="3" name="Shape 1"/>
          <p:cNvSpPr/>
          <p:nvPr/>
        </p:nvSpPr>
        <p:spPr>
          <a:xfrm>
            <a:off x="9235440" y="3108960"/>
            <a:ext cx="4572000" cy="4572000"/>
          </a:xfrm>
          <a:prstGeom prst="roundRect">
            <a:avLst>
              <a:gd name="adj" fmla="val 10000"/>
            </a:avLst>
          </a:prstGeom>
          <a:solidFill>
            <a:srgbClr val="0D6B45"/>
          </a:solidFill>
          <a:ln w="12700">
            <a:solidFill>
              <a:srgbClr val="0D6B45"/>
            </a:solidFill>
            <a:prstDash val="solid"/>
          </a:ln>
        </p:spPr>
      </p:sp>
      <p:sp>
        <p:nvSpPr>
          <p:cNvPr id="4" name="Shape 2"/>
          <p:cNvSpPr/>
          <p:nvPr/>
        </p:nvSpPr>
        <p:spPr>
          <a:xfrm>
            <a:off x="0" y="0"/>
            <a:ext cx="822960" cy="6858000"/>
          </a:xfrm>
          <a:prstGeom prst="rect">
            <a:avLst/>
          </a:prstGeom>
          <a:solidFill>
            <a:srgbClr val="008A00"/>
          </a:solidFill>
          <a:ln/>
        </p:spPr>
      </p:sp>
      <p:sp>
        <p:nvSpPr>
          <p:cNvPr id="5" name="Text 3"/>
          <p:cNvSpPr/>
          <p:nvPr/>
        </p:nvSpPr>
        <p:spPr>
          <a:xfrm>
            <a:off x="0" y="411480"/>
            <a:ext cx="8229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TD</a:t>
            </a:r>
            <a:endParaRPr lang="en-US" sz="2000" dirty="0"/>
          </a:p>
        </p:txBody>
      </p:sp>
      <p:sp>
        <p:nvSpPr>
          <p:cNvPr id="6" name="Text 4"/>
          <p:cNvSpPr/>
          <p:nvPr/>
        </p:nvSpPr>
        <p:spPr>
          <a:xfrm>
            <a:off x="1371600" y="1965960"/>
            <a:ext cx="7315200" cy="274320"/>
          </a:xfrm>
          <a:prstGeom prst="rect">
            <a:avLst/>
          </a:prstGeom>
          <a:noFill/>
          <a:ln/>
        </p:spPr>
        <p:txBody>
          <a:bodyPr wrap="square" lIns="0" tIns="0" rIns="0" bIns="0" rtlCol="0" anchor="ctr"/>
          <a:lstStyle/>
          <a:p>
            <a:pPr indent="0" marL="0">
              <a:buNone/>
            </a:pPr>
            <a:r>
              <a:rPr lang="en-US" sz="1100" b="1" spc="250" kern="0" dirty="0">
                <a:solidFill>
                  <a:srgbClr val="8FD3A8"/>
                </a:solidFill>
                <a:latin typeface="Arial" pitchFamily="34" charset="0"/>
                <a:ea typeface="Arial" pitchFamily="34" charset="-122"/>
                <a:cs typeface="Arial" pitchFamily="34" charset="-120"/>
              </a:rPr>
              <a:t>TECHNOLOGY SOLUTIONS</a:t>
            </a:r>
            <a:endParaRPr lang="en-US" sz="1100" dirty="0"/>
          </a:p>
        </p:txBody>
      </p:sp>
      <p:sp>
        <p:nvSpPr>
          <p:cNvPr id="7" name="Text 5"/>
          <p:cNvSpPr/>
          <p:nvPr/>
        </p:nvSpPr>
        <p:spPr>
          <a:xfrm>
            <a:off x="1371600" y="2304288"/>
            <a:ext cx="8595360" cy="86868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iManage Integration Module</a:t>
            </a:r>
            <a:endParaRPr lang="en-US" sz="4200" dirty="0"/>
          </a:p>
        </p:txBody>
      </p:sp>
      <p:sp>
        <p:nvSpPr>
          <p:cNvPr id="8" name="Text 6"/>
          <p:cNvSpPr/>
          <p:nvPr/>
        </p:nvSpPr>
        <p:spPr>
          <a:xfrm>
            <a:off x="1371600" y="3218688"/>
            <a:ext cx="8595360" cy="411480"/>
          </a:xfrm>
          <a:prstGeom prst="rect">
            <a:avLst/>
          </a:prstGeom>
          <a:noFill/>
          <a:ln/>
        </p:spPr>
        <p:txBody>
          <a:bodyPr wrap="square" lIns="0" tIns="0" rIns="0" bIns="0" rtlCol="0" anchor="ctr"/>
          <a:lstStyle/>
          <a:p>
            <a:pPr indent="0" marL="0">
              <a:buNone/>
            </a:pPr>
            <a:r>
              <a:rPr lang="en-US" sz="1900" dirty="0">
                <a:solidFill>
                  <a:srgbClr val="C7E6D3"/>
                </a:solidFill>
                <a:latin typeface="Calibri" pitchFamily="34" charset="0"/>
                <a:ea typeface="Calibri" pitchFamily="34" charset="-122"/>
                <a:cs typeface="Calibri" pitchFamily="34" charset="-120"/>
              </a:rPr>
              <a:t>Additional technology work, effort and timelines</a:t>
            </a:r>
            <a:endParaRPr lang="en-US" sz="1900" dirty="0"/>
          </a:p>
        </p:txBody>
      </p:sp>
      <p:sp>
        <p:nvSpPr>
          <p:cNvPr id="9" name="Text 7"/>
          <p:cNvSpPr/>
          <p:nvPr/>
        </p:nvSpPr>
        <p:spPr>
          <a:xfrm>
            <a:off x="1371600" y="4206240"/>
            <a:ext cx="246888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4 – 6</a:t>
            </a:r>
            <a:endParaRPr lang="en-US" sz="3000" dirty="0"/>
          </a:p>
        </p:txBody>
      </p:sp>
      <p:sp>
        <p:nvSpPr>
          <p:cNvPr id="10" name="Text 8"/>
          <p:cNvSpPr/>
          <p:nvPr/>
        </p:nvSpPr>
        <p:spPr>
          <a:xfrm>
            <a:off x="1371600" y="4782312"/>
            <a:ext cx="2468880" cy="548640"/>
          </a:xfrm>
          <a:prstGeom prst="rect">
            <a:avLst/>
          </a:prstGeom>
          <a:noFill/>
          <a:ln/>
        </p:spPr>
        <p:txBody>
          <a:bodyPr wrap="square" lIns="0" tIns="0" rIns="0" bIns="0" rtlCol="0" anchor="ctr"/>
          <a:lstStyle/>
          <a:p>
            <a:pPr indent="0" marL="0">
              <a:lnSpc>
                <a:spcPts val="1400"/>
              </a:lnSpc>
              <a:buNone/>
            </a:pPr>
            <a:r>
              <a:rPr lang="en-US" sz="1100" dirty="0">
                <a:solidFill>
                  <a:srgbClr val="8FD3A8"/>
                </a:solidFill>
                <a:latin typeface="Calibri" pitchFamily="34" charset="0"/>
                <a:ea typeface="Calibri" pitchFamily="34" charset="-122"/>
                <a:cs typeface="Calibri" pitchFamily="34" charset="-120"/>
              </a:rPr>
              <a:t>months added if</a:t>
            </a:r>
            <a:endParaRPr lang="en-US" sz="1100" dirty="0"/>
          </a:p>
          <a:p>
            <a:pPr indent="0" marL="0">
              <a:lnSpc>
                <a:spcPts val="1400"/>
              </a:lnSpc>
              <a:buNone/>
            </a:pPr>
            <a:r>
              <a:rPr lang="en-US" sz="1100" dirty="0">
                <a:solidFill>
                  <a:srgbClr val="8FD3A8"/>
                </a:solidFill>
                <a:latin typeface="Calibri" pitchFamily="34" charset="0"/>
                <a:ea typeface="Calibri" pitchFamily="34" charset="-122"/>
                <a:cs typeface="Calibri" pitchFamily="34" charset="-120"/>
              </a:rPr>
              <a:t>TD builds the code</a:t>
            </a:r>
            <a:endParaRPr lang="en-US" sz="1100" dirty="0"/>
          </a:p>
        </p:txBody>
      </p:sp>
      <p:sp>
        <p:nvSpPr>
          <p:cNvPr id="11" name="Text 9"/>
          <p:cNvSpPr/>
          <p:nvPr/>
        </p:nvSpPr>
        <p:spPr>
          <a:xfrm>
            <a:off x="4069080" y="4206240"/>
            <a:ext cx="246888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4 – 5.5</a:t>
            </a:r>
            <a:endParaRPr lang="en-US" sz="3000" dirty="0"/>
          </a:p>
        </p:txBody>
      </p:sp>
      <p:sp>
        <p:nvSpPr>
          <p:cNvPr id="12" name="Text 10"/>
          <p:cNvSpPr/>
          <p:nvPr/>
        </p:nvSpPr>
        <p:spPr>
          <a:xfrm>
            <a:off x="4069080" y="4782312"/>
            <a:ext cx="2468880" cy="548640"/>
          </a:xfrm>
          <a:prstGeom prst="rect">
            <a:avLst/>
          </a:prstGeom>
          <a:noFill/>
          <a:ln/>
        </p:spPr>
        <p:txBody>
          <a:bodyPr wrap="square" lIns="0" tIns="0" rIns="0" bIns="0" rtlCol="0" anchor="ctr"/>
          <a:lstStyle/>
          <a:p>
            <a:pPr indent="0" marL="0">
              <a:lnSpc>
                <a:spcPts val="1400"/>
              </a:lnSpc>
              <a:buNone/>
            </a:pPr>
            <a:r>
              <a:rPr lang="en-US" sz="1100" dirty="0">
                <a:solidFill>
                  <a:srgbClr val="8FD3A8"/>
                </a:solidFill>
                <a:latin typeface="Calibri" pitchFamily="34" charset="0"/>
                <a:ea typeface="Calibri" pitchFamily="34" charset="-122"/>
                <a:cs typeface="Calibri" pitchFamily="34" charset="-120"/>
              </a:rPr>
              <a:t>months added if</a:t>
            </a:r>
            <a:endParaRPr lang="en-US" sz="1100" dirty="0"/>
          </a:p>
          <a:p>
            <a:pPr indent="0" marL="0">
              <a:lnSpc>
                <a:spcPts val="1400"/>
              </a:lnSpc>
              <a:buNone/>
            </a:pPr>
            <a:r>
              <a:rPr lang="en-US" sz="1100" dirty="0">
                <a:solidFill>
                  <a:srgbClr val="8FD3A8"/>
                </a:solidFill>
                <a:latin typeface="Calibri" pitchFamily="34" charset="0"/>
                <a:ea typeface="Calibri" pitchFamily="34" charset="-122"/>
                <a:cs typeface="Calibri" pitchFamily="34" charset="-120"/>
              </a:rPr>
              <a:t>Kroll builds the code</a:t>
            </a:r>
            <a:endParaRPr lang="en-US" sz="1100" dirty="0"/>
          </a:p>
        </p:txBody>
      </p:sp>
      <p:sp>
        <p:nvSpPr>
          <p:cNvPr id="13" name="Text 11"/>
          <p:cNvSpPr/>
          <p:nvPr/>
        </p:nvSpPr>
        <p:spPr>
          <a:xfrm>
            <a:off x="6766560" y="4206240"/>
            <a:ext cx="246888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2 – 4</a:t>
            </a:r>
            <a:endParaRPr lang="en-US" sz="3000" dirty="0"/>
          </a:p>
        </p:txBody>
      </p:sp>
      <p:sp>
        <p:nvSpPr>
          <p:cNvPr id="14" name="Text 12"/>
          <p:cNvSpPr/>
          <p:nvPr/>
        </p:nvSpPr>
        <p:spPr>
          <a:xfrm>
            <a:off x="6766560" y="4782312"/>
            <a:ext cx="2468880" cy="548640"/>
          </a:xfrm>
          <a:prstGeom prst="rect">
            <a:avLst/>
          </a:prstGeom>
          <a:noFill/>
          <a:ln/>
        </p:spPr>
        <p:txBody>
          <a:bodyPr wrap="square" lIns="0" tIns="0" rIns="0" bIns="0" rtlCol="0" anchor="ctr"/>
          <a:lstStyle/>
          <a:p>
            <a:pPr indent="0" marL="0">
              <a:lnSpc>
                <a:spcPts val="1400"/>
              </a:lnSpc>
              <a:buNone/>
            </a:pPr>
            <a:r>
              <a:rPr lang="en-US" sz="1100" dirty="0">
                <a:solidFill>
                  <a:srgbClr val="8FD3A8"/>
                </a:solidFill>
                <a:latin typeface="Calibri" pitchFamily="34" charset="0"/>
                <a:ea typeface="Calibri" pitchFamily="34" charset="-122"/>
                <a:cs typeface="Calibri" pitchFamily="34" charset="-120"/>
              </a:rPr>
              <a:t>months of environment</a:t>
            </a:r>
            <a:endParaRPr lang="en-US" sz="1100" dirty="0"/>
          </a:p>
          <a:p>
            <a:pPr indent="0" marL="0">
              <a:lnSpc>
                <a:spcPts val="1400"/>
              </a:lnSpc>
              <a:buNone/>
            </a:pPr>
            <a:r>
              <a:rPr lang="en-US" sz="1100" dirty="0">
                <a:solidFill>
                  <a:srgbClr val="8FD3A8"/>
                </a:solidFill>
                <a:latin typeface="Calibri" pitchFamily="34" charset="0"/>
                <a:ea typeface="Calibri" pitchFamily="34" charset="-122"/>
                <a:cs typeface="Calibri" pitchFamily="34" charset="-120"/>
              </a:rPr>
              <a:t>setup, either way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08A00"/>
                </a:solidFill>
                <a:latin typeface="Arial" pitchFamily="34" charset="0"/>
                <a:ea typeface="Arial" pitchFamily="34" charset="-122"/>
                <a:cs typeface="Arial" pitchFamily="34" charset="-120"/>
              </a:rPr>
              <a:t>BACKGROUND</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2700" b="1" dirty="0">
                <a:solidFill>
                  <a:srgbClr val="00432A"/>
                </a:solidFill>
                <a:latin typeface="Arial" pitchFamily="34" charset="0"/>
                <a:ea typeface="Arial" pitchFamily="34" charset="-122"/>
                <a:cs typeface="Arial" pitchFamily="34" charset="-120"/>
              </a:rPr>
              <a:t>Why we need an integration module</a:t>
            </a:r>
            <a:endParaRPr lang="en-US" sz="2700" dirty="0"/>
          </a:p>
        </p:txBody>
      </p:sp>
      <p:sp>
        <p:nvSpPr>
          <p:cNvPr id="4" name="Text 2"/>
          <p:cNvSpPr/>
          <p:nvPr/>
        </p:nvSpPr>
        <p:spPr>
          <a:xfrm>
            <a:off x="502920" y="1133856"/>
            <a:ext cx="11155680" cy="310896"/>
          </a:xfrm>
          <a:prstGeom prst="rect">
            <a:avLst/>
          </a:prstGeom>
          <a:noFill/>
          <a:ln/>
        </p:spPr>
        <p:txBody>
          <a:bodyPr wrap="square" lIns="0" tIns="0" rIns="0" bIns="0" rtlCol="0" anchor="ctr"/>
          <a:lstStyle/>
          <a:p>
            <a:pPr indent="0" marL="0">
              <a:buNone/>
            </a:pPr>
            <a:r>
              <a:rPr lang="en-US" sz="1300" dirty="0">
                <a:solidFill>
                  <a:srgbClr val="5F6F68"/>
                </a:solidFill>
                <a:latin typeface="Calibri" pitchFamily="34" charset="0"/>
                <a:ea typeface="Calibri" pitchFamily="34" charset="-122"/>
                <a:cs typeface="Calibri" pitchFamily="34" charset="-120"/>
              </a:rPr>
              <a:t>None of the three systems can move data on their own.</a:t>
            </a:r>
            <a:endParaRPr lang="en-US" sz="1300" dirty="0"/>
          </a:p>
        </p:txBody>
      </p:sp>
      <p:sp>
        <p:nvSpPr>
          <p:cNvPr id="5" name="Shape 3"/>
          <p:cNvSpPr/>
          <p:nvPr/>
        </p:nvSpPr>
        <p:spPr>
          <a:xfrm>
            <a:off x="731520" y="2057400"/>
            <a:ext cx="2286000" cy="1051560"/>
          </a:xfrm>
          <a:prstGeom prst="roundRect">
            <a:avLst>
              <a:gd name="adj" fmla="val 4348"/>
            </a:avLst>
          </a:prstGeom>
          <a:solidFill>
            <a:srgbClr val="00432A"/>
          </a:solidFill>
          <a:ln w="15875">
            <a:solidFill>
              <a:srgbClr val="00432A"/>
            </a:solidFill>
            <a:prstDash val="solid"/>
          </a:ln>
          <a:effectLst>
            <a:outerShdw sx="100000" sy="100000" kx="0" ky="0" algn="bl" rotWithShape="0" blurRad="101600" dist="25400" dir="5400000">
              <a:srgbClr val="9AA9A0">
                <a:alpha val="22000"/>
              </a:srgbClr>
            </a:outerShdw>
          </a:effectLst>
        </p:spPr>
      </p:sp>
      <p:sp>
        <p:nvSpPr>
          <p:cNvPr id="6" name="Text 4"/>
          <p:cNvSpPr/>
          <p:nvPr/>
        </p:nvSpPr>
        <p:spPr>
          <a:xfrm>
            <a:off x="731520" y="2057400"/>
            <a:ext cx="2286000" cy="1051560"/>
          </a:xfrm>
          <a:prstGeom prst="rect">
            <a:avLst/>
          </a:prstGeom>
          <a:noFill/>
          <a:ln/>
        </p:spPr>
        <p:txBody>
          <a:bodyPr wrap="square" lIns="508" tIns="508" rIns="508" bIns="508" rtlCol="0" anchor="ctr"/>
          <a:lstStyle/>
          <a:p>
            <a:pPr algn="ctr" indent="0" marL="0">
              <a:lnSpc>
                <a:spcPts val="1563"/>
              </a:lnSpc>
              <a:buNone/>
            </a:pPr>
            <a:r>
              <a:rPr lang="en-US" sz="1250" b="1" dirty="0">
                <a:solidFill>
                  <a:srgbClr val="FFFFFF"/>
                </a:solidFill>
                <a:latin typeface="Arial" pitchFamily="34" charset="0"/>
                <a:ea typeface="Arial" pitchFamily="34" charset="-122"/>
                <a:cs typeface="Arial" pitchFamily="34" charset="-120"/>
              </a:rPr>
              <a:t>iManage</a:t>
            </a:r>
            <a:endParaRPr lang="en-US" sz="1250" dirty="0"/>
          </a:p>
          <a:p>
            <a:pPr algn="ctr" indent="0" marL="0">
              <a:lnSpc>
                <a:spcPts val="1563"/>
              </a:lnSpc>
              <a:buNone/>
            </a:pPr>
            <a:r>
              <a:rPr lang="en-US" sz="1250" b="1" dirty="0">
                <a:solidFill>
                  <a:srgbClr val="FFFFFF"/>
                </a:solidFill>
                <a:latin typeface="Arial" pitchFamily="34" charset="0"/>
                <a:ea typeface="Arial" pitchFamily="34" charset="-122"/>
                <a:cs typeface="Arial" pitchFamily="34" charset="-120"/>
              </a:rPr>
              <a:t>Matter system</a:t>
            </a:r>
            <a:endParaRPr lang="en-US" sz="1250" dirty="0"/>
          </a:p>
        </p:txBody>
      </p:sp>
      <p:sp>
        <p:nvSpPr>
          <p:cNvPr id="7" name="Shape 5"/>
          <p:cNvSpPr/>
          <p:nvPr/>
        </p:nvSpPr>
        <p:spPr>
          <a:xfrm>
            <a:off x="4160520" y="1874520"/>
            <a:ext cx="3200400" cy="1417320"/>
          </a:xfrm>
          <a:prstGeom prst="roundRect">
            <a:avLst>
              <a:gd name="adj" fmla="val 3226"/>
            </a:avLst>
          </a:prstGeom>
          <a:solidFill>
            <a:srgbClr val="008A00"/>
          </a:solidFill>
          <a:ln w="15875">
            <a:solidFill>
              <a:srgbClr val="008A00"/>
            </a:solidFill>
            <a:prstDash val="solid"/>
          </a:ln>
          <a:effectLst>
            <a:outerShdw sx="100000" sy="100000" kx="0" ky="0" algn="bl" rotWithShape="0" blurRad="101600" dist="25400" dir="5400000">
              <a:srgbClr val="9AA9A0">
                <a:alpha val="22000"/>
              </a:srgbClr>
            </a:outerShdw>
          </a:effectLst>
        </p:spPr>
      </p:sp>
      <p:sp>
        <p:nvSpPr>
          <p:cNvPr id="8" name="Text 6"/>
          <p:cNvSpPr/>
          <p:nvPr/>
        </p:nvSpPr>
        <p:spPr>
          <a:xfrm>
            <a:off x="4160520" y="1874520"/>
            <a:ext cx="3200400" cy="1417320"/>
          </a:xfrm>
          <a:prstGeom prst="rect">
            <a:avLst/>
          </a:prstGeom>
          <a:noFill/>
          <a:ln/>
        </p:spPr>
        <p:txBody>
          <a:bodyPr wrap="square" lIns="508" tIns="508" rIns="508" bIns="508" rtlCol="0" anchor="ctr"/>
          <a:lstStyle/>
          <a:p>
            <a:pPr algn="ctr" indent="0" marL="0">
              <a:lnSpc>
                <a:spcPts val="1625"/>
              </a:lnSpc>
              <a:buNone/>
            </a:pPr>
            <a:r>
              <a:rPr lang="en-US" sz="1300" b="1" dirty="0">
                <a:solidFill>
                  <a:srgbClr val="FFFFFF"/>
                </a:solidFill>
                <a:latin typeface="Arial" pitchFamily="34" charset="0"/>
                <a:ea typeface="Arial" pitchFamily="34" charset="-122"/>
                <a:cs typeface="Arial" pitchFamily="34" charset="-120"/>
              </a:rPr>
              <a:t>TD-hosted</a:t>
            </a:r>
            <a:endParaRPr lang="en-US" sz="1300" dirty="0"/>
          </a:p>
          <a:p>
            <a:pPr algn="ctr" indent="0" marL="0">
              <a:lnSpc>
                <a:spcPts val="1625"/>
              </a:lnSpc>
              <a:buNone/>
            </a:pPr>
            <a:r>
              <a:rPr lang="en-US" sz="1300" b="1" dirty="0">
                <a:solidFill>
                  <a:srgbClr val="FFFFFF"/>
                </a:solidFill>
                <a:latin typeface="Arial" pitchFamily="34" charset="0"/>
                <a:ea typeface="Arial" pitchFamily="34" charset="-122"/>
                <a:cs typeface="Arial" pitchFamily="34" charset="-120"/>
              </a:rPr>
              <a:t>integration module</a:t>
            </a:r>
            <a:endParaRPr lang="en-US" sz="1300" dirty="0"/>
          </a:p>
          <a:p>
            <a:pPr algn="ctr" indent="0" marL="0">
              <a:lnSpc>
                <a:spcPts val="1625"/>
              </a:lnSpc>
              <a:buNone/>
            </a:pPr>
            <a:r>
              <a:rPr lang="en-US" sz="1300" b="1" dirty="0">
                <a:solidFill>
                  <a:srgbClr val="FFFFFF"/>
                </a:solidFill>
                <a:latin typeface="Arial" pitchFamily="34" charset="0"/>
                <a:ea typeface="Arial" pitchFamily="34" charset="-122"/>
                <a:cs typeface="Arial" pitchFamily="34" charset="-120"/>
              </a:rPr>
              <a:t>(Azure)</a:t>
            </a:r>
            <a:endParaRPr lang="en-US" sz="1300" dirty="0"/>
          </a:p>
        </p:txBody>
      </p:sp>
      <p:sp>
        <p:nvSpPr>
          <p:cNvPr id="9" name="Shape 7"/>
          <p:cNvSpPr/>
          <p:nvPr/>
        </p:nvSpPr>
        <p:spPr>
          <a:xfrm>
            <a:off x="8686800" y="1417320"/>
            <a:ext cx="2743200" cy="868680"/>
          </a:xfrm>
          <a:prstGeom prst="roundRect">
            <a:avLst>
              <a:gd name="adj" fmla="val 5263"/>
            </a:avLst>
          </a:prstGeom>
          <a:solidFill>
            <a:srgbClr val="1F4E5F"/>
          </a:solidFill>
          <a:ln w="15875">
            <a:solidFill>
              <a:srgbClr val="1F4E5F"/>
            </a:solidFill>
            <a:prstDash val="solid"/>
          </a:ln>
          <a:effectLst>
            <a:outerShdw sx="100000" sy="100000" kx="0" ky="0" algn="bl" rotWithShape="0" blurRad="101600" dist="25400" dir="5400000">
              <a:srgbClr val="9AA9A0">
                <a:alpha val="22000"/>
              </a:srgbClr>
            </a:outerShdw>
          </a:effectLst>
        </p:spPr>
      </p:sp>
      <p:sp>
        <p:nvSpPr>
          <p:cNvPr id="10" name="Text 8"/>
          <p:cNvSpPr/>
          <p:nvPr/>
        </p:nvSpPr>
        <p:spPr>
          <a:xfrm>
            <a:off x="8686800" y="1417320"/>
            <a:ext cx="2743200" cy="868680"/>
          </a:xfrm>
          <a:prstGeom prst="rect">
            <a:avLst/>
          </a:prstGeom>
          <a:noFill/>
          <a:ln/>
        </p:spPr>
        <p:txBody>
          <a:bodyPr wrap="square" lIns="508" tIns="508" rIns="508" bIns="508" rtlCol="0" anchor="ctr"/>
          <a:lstStyle/>
          <a:p>
            <a:pPr algn="ctr" indent="0" marL="0">
              <a:lnSpc>
                <a:spcPts val="1625"/>
              </a:lnSpc>
              <a:buNone/>
            </a:pPr>
            <a:r>
              <a:rPr lang="en-US" sz="1300" b="1" dirty="0">
                <a:solidFill>
                  <a:srgbClr val="FFFFFF"/>
                </a:solidFill>
                <a:latin typeface="Arial" pitchFamily="34" charset="0"/>
                <a:ea typeface="Arial" pitchFamily="34" charset="-122"/>
                <a:cs typeface="Arial" pitchFamily="34" charset="-120"/>
              </a:rPr>
              <a:t>Exterro</a:t>
            </a:r>
            <a:endParaRPr lang="en-US" sz="1300" dirty="0"/>
          </a:p>
        </p:txBody>
      </p:sp>
      <p:sp>
        <p:nvSpPr>
          <p:cNvPr id="11" name="Shape 9"/>
          <p:cNvSpPr/>
          <p:nvPr/>
        </p:nvSpPr>
        <p:spPr>
          <a:xfrm>
            <a:off x="8686800" y="2423160"/>
            <a:ext cx="2743200" cy="868680"/>
          </a:xfrm>
          <a:prstGeom prst="roundRect">
            <a:avLst>
              <a:gd name="adj" fmla="val 5263"/>
            </a:avLst>
          </a:prstGeom>
          <a:solidFill>
            <a:srgbClr val="1F4E5F"/>
          </a:solidFill>
          <a:ln w="15875">
            <a:solidFill>
              <a:srgbClr val="1F4E5F"/>
            </a:solidFill>
            <a:prstDash val="solid"/>
          </a:ln>
          <a:effectLst>
            <a:outerShdw sx="100000" sy="100000" kx="0" ky="0" algn="bl" rotWithShape="0" blurRad="101600" dist="25400" dir="5400000">
              <a:srgbClr val="9AA9A0">
                <a:alpha val="22000"/>
              </a:srgbClr>
            </a:outerShdw>
          </a:effectLst>
        </p:spPr>
      </p:sp>
      <p:sp>
        <p:nvSpPr>
          <p:cNvPr id="12" name="Text 10"/>
          <p:cNvSpPr/>
          <p:nvPr/>
        </p:nvSpPr>
        <p:spPr>
          <a:xfrm>
            <a:off x="8686800" y="2423160"/>
            <a:ext cx="2743200" cy="868680"/>
          </a:xfrm>
          <a:prstGeom prst="rect">
            <a:avLst/>
          </a:prstGeom>
          <a:noFill/>
          <a:ln/>
        </p:spPr>
        <p:txBody>
          <a:bodyPr wrap="square" lIns="508" tIns="508" rIns="508" bIns="508" rtlCol="0" anchor="ctr"/>
          <a:lstStyle/>
          <a:p>
            <a:pPr algn="ctr" indent="0" marL="0">
              <a:lnSpc>
                <a:spcPts val="1625"/>
              </a:lnSpc>
              <a:buNone/>
            </a:pPr>
            <a:r>
              <a:rPr lang="en-US" sz="1300" b="1" dirty="0">
                <a:solidFill>
                  <a:srgbClr val="FFFFFF"/>
                </a:solidFill>
                <a:latin typeface="Arial" pitchFamily="34" charset="0"/>
                <a:ea typeface="Arial" pitchFamily="34" charset="-122"/>
                <a:cs typeface="Arial" pitchFamily="34" charset="-120"/>
              </a:rPr>
              <a:t>TyMetrix</a:t>
            </a:r>
            <a:endParaRPr lang="en-US" sz="1300" dirty="0"/>
          </a:p>
        </p:txBody>
      </p:sp>
      <p:sp>
        <p:nvSpPr>
          <p:cNvPr id="13" name="Shape 11"/>
          <p:cNvSpPr/>
          <p:nvPr/>
        </p:nvSpPr>
        <p:spPr>
          <a:xfrm>
            <a:off x="8686800" y="3429000"/>
            <a:ext cx="2743200" cy="731520"/>
          </a:xfrm>
          <a:prstGeom prst="roundRect">
            <a:avLst>
              <a:gd name="adj" fmla="val 6250"/>
            </a:avLst>
          </a:prstGeom>
          <a:solidFill>
            <a:srgbClr val="FFFFFF"/>
          </a:solidFill>
          <a:ln w="15875">
            <a:solidFill>
              <a:srgbClr val="C9D8CD"/>
            </a:solidFill>
            <a:prstDash val="solid"/>
          </a:ln>
          <a:effectLst>
            <a:outerShdw sx="100000" sy="100000" kx="0" ky="0" algn="bl" rotWithShape="0" blurRad="101600" dist="25400" dir="5400000">
              <a:srgbClr val="9AA9A0">
                <a:alpha val="22000"/>
              </a:srgbClr>
            </a:outerShdw>
          </a:effectLst>
        </p:spPr>
      </p:sp>
      <p:sp>
        <p:nvSpPr>
          <p:cNvPr id="14" name="Text 12"/>
          <p:cNvSpPr/>
          <p:nvPr/>
        </p:nvSpPr>
        <p:spPr>
          <a:xfrm>
            <a:off x="8686800" y="3429000"/>
            <a:ext cx="2743200" cy="731520"/>
          </a:xfrm>
          <a:prstGeom prst="rect">
            <a:avLst/>
          </a:prstGeom>
          <a:noFill/>
          <a:ln/>
        </p:spPr>
        <p:txBody>
          <a:bodyPr wrap="square" lIns="508" tIns="508" rIns="508" bIns="508" rtlCol="0" anchor="ctr"/>
          <a:lstStyle/>
          <a:p>
            <a:pPr algn="ctr" indent="0" marL="0">
              <a:lnSpc>
                <a:spcPts val="1375"/>
              </a:lnSpc>
              <a:buNone/>
            </a:pPr>
            <a:r>
              <a:rPr lang="en-US" sz="1100" dirty="0">
                <a:solidFill>
                  <a:srgbClr val="5F6F68"/>
                </a:solidFill>
                <a:latin typeface="Arial" pitchFamily="34" charset="0"/>
                <a:ea typeface="Arial" pitchFamily="34" charset="-122"/>
                <a:cs typeface="Arial" pitchFamily="34" charset="-120"/>
              </a:rPr>
              <a:t>Future downstream apps</a:t>
            </a:r>
            <a:endParaRPr lang="en-US" sz="1100" dirty="0"/>
          </a:p>
        </p:txBody>
      </p:sp>
      <p:sp>
        <p:nvSpPr>
          <p:cNvPr id="15" name="Shape 13"/>
          <p:cNvSpPr/>
          <p:nvPr/>
        </p:nvSpPr>
        <p:spPr>
          <a:xfrm>
            <a:off x="3035808" y="2578608"/>
            <a:ext cx="1078992" cy="0"/>
          </a:xfrm>
          <a:prstGeom prst="line">
            <a:avLst/>
          </a:prstGeom>
          <a:noFill/>
          <a:ln w="25400">
            <a:solidFill>
              <a:srgbClr val="4C9E4C"/>
            </a:solidFill>
            <a:prstDash val="solid"/>
            <a:tailEnd type="triangle"/>
          </a:ln>
        </p:spPr>
      </p:sp>
      <p:sp>
        <p:nvSpPr>
          <p:cNvPr id="16" name="Text 14"/>
          <p:cNvSpPr/>
          <p:nvPr/>
        </p:nvSpPr>
        <p:spPr>
          <a:xfrm>
            <a:off x="2880360" y="2231136"/>
            <a:ext cx="1417320" cy="274320"/>
          </a:xfrm>
          <a:prstGeom prst="rect">
            <a:avLst/>
          </a:prstGeom>
          <a:noFill/>
          <a:ln/>
        </p:spPr>
        <p:txBody>
          <a:bodyPr wrap="square" lIns="0" tIns="0" rIns="0" bIns="0" rtlCol="0" anchor="ctr"/>
          <a:lstStyle/>
          <a:p>
            <a:pPr algn="ctr" indent="0" marL="0">
              <a:buNone/>
            </a:pPr>
            <a:r>
              <a:rPr lang="en-US" sz="950" dirty="0">
                <a:solidFill>
                  <a:srgbClr val="5F6F68"/>
                </a:solidFill>
                <a:latin typeface="Calibri" pitchFamily="34" charset="0"/>
                <a:ea typeface="Calibri" pitchFamily="34" charset="-122"/>
                <a:cs typeface="Calibri" pitchFamily="34" charset="-120"/>
              </a:rPr>
              <a:t>poll every 2–5 min</a:t>
            </a:r>
            <a:endParaRPr lang="en-US" sz="950" dirty="0"/>
          </a:p>
        </p:txBody>
      </p:sp>
      <p:sp>
        <p:nvSpPr>
          <p:cNvPr id="17" name="Shape 15"/>
          <p:cNvSpPr/>
          <p:nvPr/>
        </p:nvSpPr>
        <p:spPr>
          <a:xfrm>
            <a:off x="7406640" y="2377440"/>
            <a:ext cx="1234440" cy="-530352"/>
          </a:xfrm>
          <a:prstGeom prst="line">
            <a:avLst/>
          </a:prstGeom>
          <a:noFill/>
          <a:ln w="25400">
            <a:solidFill>
              <a:srgbClr val="4C9E4C"/>
            </a:solidFill>
            <a:prstDash val="solid"/>
            <a:tailEnd type="triangle"/>
          </a:ln>
        </p:spPr>
      </p:sp>
      <p:sp>
        <p:nvSpPr>
          <p:cNvPr id="18" name="Shape 16"/>
          <p:cNvSpPr/>
          <p:nvPr/>
        </p:nvSpPr>
        <p:spPr>
          <a:xfrm>
            <a:off x="7406640" y="2578608"/>
            <a:ext cx="1234440" cy="274320"/>
          </a:xfrm>
          <a:prstGeom prst="line">
            <a:avLst/>
          </a:prstGeom>
          <a:noFill/>
          <a:ln w="25400">
            <a:solidFill>
              <a:srgbClr val="4C9E4C"/>
            </a:solidFill>
            <a:prstDash val="solid"/>
            <a:tailEnd type="triangle"/>
          </a:ln>
        </p:spPr>
      </p:sp>
      <p:sp>
        <p:nvSpPr>
          <p:cNvPr id="19" name="Shape 17"/>
          <p:cNvSpPr/>
          <p:nvPr/>
        </p:nvSpPr>
        <p:spPr>
          <a:xfrm>
            <a:off x="7406640" y="2788920"/>
            <a:ext cx="1234440" cy="960120"/>
          </a:xfrm>
          <a:prstGeom prst="line">
            <a:avLst/>
          </a:prstGeom>
          <a:noFill/>
          <a:ln w="25400">
            <a:solidFill>
              <a:srgbClr val="C9D8CD"/>
            </a:solidFill>
            <a:prstDash val="solid"/>
            <a:tailEnd type="triangle"/>
          </a:ln>
        </p:spPr>
      </p:sp>
      <p:sp>
        <p:nvSpPr>
          <p:cNvPr id="20" name="Text 18"/>
          <p:cNvSpPr/>
          <p:nvPr/>
        </p:nvSpPr>
        <p:spPr>
          <a:xfrm>
            <a:off x="7360920" y="1389888"/>
            <a:ext cx="1188720" cy="256032"/>
          </a:xfrm>
          <a:prstGeom prst="rect">
            <a:avLst/>
          </a:prstGeom>
          <a:noFill/>
          <a:ln/>
        </p:spPr>
        <p:txBody>
          <a:bodyPr wrap="square" lIns="0" tIns="0" rIns="0" bIns="0" rtlCol="0" anchor="ctr"/>
          <a:lstStyle/>
          <a:p>
            <a:pPr algn="ctr" indent="0" marL="0">
              <a:buNone/>
            </a:pPr>
            <a:r>
              <a:rPr lang="en-US" sz="950" dirty="0">
                <a:solidFill>
                  <a:srgbClr val="5F6F68"/>
                </a:solidFill>
                <a:latin typeface="Calibri" pitchFamily="34" charset="0"/>
                <a:ea typeface="Calibri" pitchFamily="34" charset="-122"/>
                <a:cs typeface="Calibri" pitchFamily="34" charset="-120"/>
              </a:rPr>
              <a:t>push</a:t>
            </a:r>
            <a:endParaRPr lang="en-US" sz="950" dirty="0"/>
          </a:p>
        </p:txBody>
      </p:sp>
      <p:sp>
        <p:nvSpPr>
          <p:cNvPr id="21" name="Shape 19"/>
          <p:cNvSpPr/>
          <p:nvPr/>
        </p:nvSpPr>
        <p:spPr>
          <a:xfrm>
            <a:off x="502920" y="4434840"/>
            <a:ext cx="3529584" cy="1600200"/>
          </a:xfrm>
          <a:prstGeom prst="roundRect">
            <a:avLst>
              <a:gd name="adj" fmla="val 3429"/>
            </a:avLst>
          </a:prstGeom>
          <a:solidFill>
            <a:srgbClr val="FFFFFF"/>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22" name="Text 20"/>
          <p:cNvSpPr/>
          <p:nvPr/>
        </p:nvSpPr>
        <p:spPr>
          <a:xfrm>
            <a:off x="731520" y="4617720"/>
            <a:ext cx="3108960" cy="274320"/>
          </a:xfrm>
          <a:prstGeom prst="rect">
            <a:avLst/>
          </a:prstGeom>
          <a:noFill/>
          <a:ln/>
        </p:spPr>
        <p:txBody>
          <a:bodyPr wrap="square" lIns="0" tIns="0" rIns="0" bIns="0" rtlCol="0" anchor="ctr"/>
          <a:lstStyle/>
          <a:p>
            <a:pPr indent="0" marL="0">
              <a:buNone/>
            </a:pPr>
            <a:r>
              <a:rPr lang="en-US" sz="1300" b="1" dirty="0">
                <a:solidFill>
                  <a:srgbClr val="00432A"/>
                </a:solidFill>
                <a:latin typeface="Arial" pitchFamily="34" charset="0"/>
                <a:ea typeface="Arial" pitchFamily="34" charset="-122"/>
                <a:cs typeface="Arial" pitchFamily="34" charset="-120"/>
              </a:rPr>
              <a:t>iManage</a:t>
            </a:r>
            <a:endParaRPr lang="en-US" sz="1300" dirty="0"/>
          </a:p>
        </p:txBody>
      </p:sp>
      <p:sp>
        <p:nvSpPr>
          <p:cNvPr id="23" name="Text 21"/>
          <p:cNvSpPr/>
          <p:nvPr/>
        </p:nvSpPr>
        <p:spPr>
          <a:xfrm>
            <a:off x="731520" y="4956048"/>
            <a:ext cx="3108960" cy="960120"/>
          </a:xfrm>
          <a:prstGeom prst="rect">
            <a:avLst/>
          </a:prstGeom>
          <a:noFill/>
          <a:ln/>
        </p:spPr>
        <p:txBody>
          <a:bodyPr wrap="square" lIns="0" tIns="0" rIns="0" bIns="0" rtlCol="0" anchor="t"/>
          <a:lstStyle/>
          <a:p>
            <a:pPr indent="0" marL="0">
              <a:lnSpc>
                <a:spcPts val="1500"/>
              </a:lnSpc>
              <a:buNone/>
            </a:pPr>
            <a:r>
              <a:rPr lang="en-US" sz="1150" dirty="0">
                <a:solidFill>
                  <a:srgbClr val="16211C"/>
                </a:solidFill>
                <a:latin typeface="Calibri" pitchFamily="34" charset="0"/>
                <a:ea typeface="Calibri" pitchFamily="34" charset="-122"/>
                <a:cs typeface="Calibri" pitchFamily="34" charset="-120"/>
              </a:rPr>
              <a:t>No event triggers and no ability to call outbound APIs. It exposes an endpoint that can be pinged.</a:t>
            </a:r>
            <a:endParaRPr lang="en-US" sz="1150" dirty="0"/>
          </a:p>
        </p:txBody>
      </p:sp>
      <p:sp>
        <p:nvSpPr>
          <p:cNvPr id="24" name="Shape 22"/>
          <p:cNvSpPr/>
          <p:nvPr/>
        </p:nvSpPr>
        <p:spPr>
          <a:xfrm>
            <a:off x="4279392" y="4434840"/>
            <a:ext cx="3529584" cy="1600200"/>
          </a:xfrm>
          <a:prstGeom prst="roundRect">
            <a:avLst>
              <a:gd name="adj" fmla="val 3429"/>
            </a:avLst>
          </a:prstGeom>
          <a:solidFill>
            <a:srgbClr val="FFFFFF"/>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25" name="Text 23"/>
          <p:cNvSpPr/>
          <p:nvPr/>
        </p:nvSpPr>
        <p:spPr>
          <a:xfrm>
            <a:off x="4507992" y="4617720"/>
            <a:ext cx="3108960" cy="274320"/>
          </a:xfrm>
          <a:prstGeom prst="rect">
            <a:avLst/>
          </a:prstGeom>
          <a:noFill/>
          <a:ln/>
        </p:spPr>
        <p:txBody>
          <a:bodyPr wrap="square" lIns="0" tIns="0" rIns="0" bIns="0" rtlCol="0" anchor="ctr"/>
          <a:lstStyle/>
          <a:p>
            <a:pPr indent="0" marL="0">
              <a:buNone/>
            </a:pPr>
            <a:r>
              <a:rPr lang="en-US" sz="1300" b="1" dirty="0">
                <a:solidFill>
                  <a:srgbClr val="1F4E5F"/>
                </a:solidFill>
                <a:latin typeface="Arial" pitchFamily="34" charset="0"/>
                <a:ea typeface="Arial" pitchFamily="34" charset="-122"/>
                <a:cs typeface="Arial" pitchFamily="34" charset="-120"/>
              </a:rPr>
              <a:t>Exterro and TyMetrix</a:t>
            </a:r>
            <a:endParaRPr lang="en-US" sz="1300" dirty="0"/>
          </a:p>
        </p:txBody>
      </p:sp>
      <p:sp>
        <p:nvSpPr>
          <p:cNvPr id="26" name="Text 24"/>
          <p:cNvSpPr/>
          <p:nvPr/>
        </p:nvSpPr>
        <p:spPr>
          <a:xfrm>
            <a:off x="4507992" y="4956048"/>
            <a:ext cx="3108960" cy="960120"/>
          </a:xfrm>
          <a:prstGeom prst="rect">
            <a:avLst/>
          </a:prstGeom>
          <a:noFill/>
          <a:ln/>
        </p:spPr>
        <p:txBody>
          <a:bodyPr wrap="square" lIns="0" tIns="0" rIns="0" bIns="0" rtlCol="0" anchor="t"/>
          <a:lstStyle/>
          <a:p>
            <a:pPr indent="0" marL="0">
              <a:lnSpc>
                <a:spcPts val="1500"/>
              </a:lnSpc>
              <a:buNone/>
            </a:pPr>
            <a:r>
              <a:rPr lang="en-US" sz="1150" dirty="0">
                <a:solidFill>
                  <a:srgbClr val="16211C"/>
                </a:solidFill>
                <a:latin typeface="Calibri" pitchFamily="34" charset="0"/>
                <a:ea typeface="Calibri" pitchFamily="34" charset="-122"/>
                <a:cs typeface="Calibri" pitchFamily="34" charset="-120"/>
              </a:rPr>
              <a:t>Cannot send or request data. Both accept batch intake, but something has to assemble and deliver it.</a:t>
            </a:r>
            <a:endParaRPr lang="en-US" sz="1150" dirty="0"/>
          </a:p>
        </p:txBody>
      </p:sp>
      <p:sp>
        <p:nvSpPr>
          <p:cNvPr id="27" name="Shape 25"/>
          <p:cNvSpPr/>
          <p:nvPr/>
        </p:nvSpPr>
        <p:spPr>
          <a:xfrm>
            <a:off x="8055864" y="4434840"/>
            <a:ext cx="3529584" cy="1600200"/>
          </a:xfrm>
          <a:prstGeom prst="roundRect">
            <a:avLst>
              <a:gd name="adj" fmla="val 3429"/>
            </a:avLst>
          </a:prstGeom>
          <a:solidFill>
            <a:srgbClr val="EAF3EA"/>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28" name="Text 26"/>
          <p:cNvSpPr/>
          <p:nvPr/>
        </p:nvSpPr>
        <p:spPr>
          <a:xfrm>
            <a:off x="8284464" y="4617720"/>
            <a:ext cx="3108960" cy="274320"/>
          </a:xfrm>
          <a:prstGeom prst="rect">
            <a:avLst/>
          </a:prstGeom>
          <a:noFill/>
          <a:ln/>
        </p:spPr>
        <p:txBody>
          <a:bodyPr wrap="square" lIns="0" tIns="0" rIns="0" bIns="0" rtlCol="0" anchor="ctr"/>
          <a:lstStyle/>
          <a:p>
            <a:pPr indent="0" marL="0">
              <a:buNone/>
            </a:pPr>
            <a:r>
              <a:rPr lang="en-US" sz="1300" b="1" dirty="0">
                <a:solidFill>
                  <a:srgbClr val="A32015"/>
                </a:solidFill>
                <a:latin typeface="Arial" pitchFamily="34" charset="0"/>
                <a:ea typeface="Arial" pitchFamily="34" charset="-122"/>
                <a:cs typeface="Arial" pitchFamily="34" charset="-120"/>
              </a:rPr>
              <a:t>Result</a:t>
            </a:r>
            <a:endParaRPr lang="en-US" sz="1300" dirty="0"/>
          </a:p>
        </p:txBody>
      </p:sp>
      <p:sp>
        <p:nvSpPr>
          <p:cNvPr id="29" name="Text 27"/>
          <p:cNvSpPr/>
          <p:nvPr/>
        </p:nvSpPr>
        <p:spPr>
          <a:xfrm>
            <a:off x="8284464" y="4956048"/>
            <a:ext cx="3108960" cy="960120"/>
          </a:xfrm>
          <a:prstGeom prst="rect">
            <a:avLst/>
          </a:prstGeom>
          <a:noFill/>
          <a:ln/>
        </p:spPr>
        <p:txBody>
          <a:bodyPr wrap="square" lIns="0" tIns="0" rIns="0" bIns="0" rtlCol="0" anchor="t"/>
          <a:lstStyle/>
          <a:p>
            <a:pPr indent="0" marL="0">
              <a:lnSpc>
                <a:spcPts val="1500"/>
              </a:lnSpc>
              <a:buNone/>
            </a:pPr>
            <a:r>
              <a:rPr lang="en-US" sz="1150" dirty="0">
                <a:solidFill>
                  <a:srgbClr val="16211C"/>
                </a:solidFill>
                <a:latin typeface="Calibri" pitchFamily="34" charset="0"/>
                <a:ea typeface="Calibri" pitchFamily="34" charset="-122"/>
                <a:cs typeface="Calibri" pitchFamily="34" charset="-120"/>
              </a:rPr>
              <a:t>A TD-hosted integration module is the only way matter data moves between the three systems.</a:t>
            </a:r>
            <a:endParaRPr lang="en-US" sz="1150" dirty="0"/>
          </a:p>
        </p:txBody>
      </p:sp>
      <p:sp>
        <p:nvSpPr>
          <p:cNvPr id="30" name="Text 28"/>
          <p:cNvSpPr/>
          <p:nvPr/>
        </p:nvSpPr>
        <p:spPr>
          <a:xfrm>
            <a:off x="502920" y="6473952"/>
            <a:ext cx="8229600" cy="237744"/>
          </a:xfrm>
          <a:prstGeom prst="rect">
            <a:avLst/>
          </a:prstGeom>
          <a:noFill/>
          <a:ln/>
        </p:spPr>
        <p:txBody>
          <a:bodyPr wrap="square" lIns="0" tIns="0" rIns="0" bIns="0" rtlCol="0" anchor="ctr"/>
          <a:lstStyle/>
          <a:p>
            <a:pPr indent="0" marL="0">
              <a:buNone/>
            </a:pPr>
            <a:r>
              <a:rPr lang="en-US" sz="900" dirty="0">
                <a:solidFill>
                  <a:srgbClr val="5F6F68"/>
                </a:solidFill>
                <a:latin typeface="Calibri" pitchFamily="34" charset="0"/>
                <a:ea typeface="Calibri" pitchFamily="34" charset="-122"/>
                <a:cs typeface="Calibri" pitchFamily="34" charset="-120"/>
              </a:rPr>
              <a:t>iManage Integration Module  |  Technology Solutions</a:t>
            </a:r>
            <a:endParaRPr lang="en-US" sz="900" dirty="0"/>
          </a:p>
        </p:txBody>
      </p:sp>
      <p:sp>
        <p:nvSpPr>
          <p:cNvPr id="31" name="Text 29"/>
          <p:cNvSpPr/>
          <p:nvPr/>
        </p:nvSpPr>
        <p:spPr>
          <a:xfrm>
            <a:off x="11274552" y="6473952"/>
            <a:ext cx="411480" cy="237744"/>
          </a:xfrm>
          <a:prstGeom prst="rect">
            <a:avLst/>
          </a:prstGeom>
          <a:noFill/>
          <a:ln/>
        </p:spPr>
        <p:txBody>
          <a:bodyPr wrap="square" lIns="0" tIns="0" rIns="0" bIns="0" rtlCol="0" anchor="ctr"/>
          <a:lstStyle/>
          <a:p>
            <a:pPr algn="r" indent="0" marL="0">
              <a:buNone/>
            </a:pPr>
            <a:r>
              <a:rPr lang="en-US" sz="900" dirty="0">
                <a:solidFill>
                  <a:srgbClr val="5F6F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08A00"/>
                </a:solidFill>
                <a:latin typeface="Arial" pitchFamily="34" charset="0"/>
                <a:ea typeface="Arial" pitchFamily="34" charset="-122"/>
                <a:cs typeface="Arial" pitchFamily="34" charset="-120"/>
              </a:rPr>
              <a:t>TARGET ARCHITECTURE</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2700" b="1" dirty="0">
                <a:solidFill>
                  <a:srgbClr val="00432A"/>
                </a:solidFill>
                <a:latin typeface="Arial" pitchFamily="34" charset="0"/>
                <a:ea typeface="Arial" pitchFamily="34" charset="-122"/>
                <a:cs typeface="Arial" pitchFamily="34" charset="-120"/>
              </a:rPr>
              <a:t>Recommended Azure platform</a:t>
            </a:r>
            <a:endParaRPr lang="en-US" sz="2700" dirty="0"/>
          </a:p>
        </p:txBody>
      </p:sp>
      <p:sp>
        <p:nvSpPr>
          <p:cNvPr id="4" name="Text 2"/>
          <p:cNvSpPr/>
          <p:nvPr/>
        </p:nvSpPr>
        <p:spPr>
          <a:xfrm>
            <a:off x="502920" y="1133856"/>
            <a:ext cx="11155680" cy="310896"/>
          </a:xfrm>
          <a:prstGeom prst="rect">
            <a:avLst/>
          </a:prstGeom>
          <a:noFill/>
          <a:ln/>
        </p:spPr>
        <p:txBody>
          <a:bodyPr wrap="square" lIns="0" tIns="0" rIns="0" bIns="0" rtlCol="0" anchor="ctr"/>
          <a:lstStyle/>
          <a:p>
            <a:pPr indent="0" marL="0">
              <a:buNone/>
            </a:pPr>
            <a:r>
              <a:rPr lang="en-US" sz="1300" dirty="0">
                <a:solidFill>
                  <a:srgbClr val="5F6F68"/>
                </a:solidFill>
                <a:latin typeface="Calibri" pitchFamily="34" charset="0"/>
                <a:ea typeface="Calibri" pitchFamily="34" charset="-122"/>
                <a:cs typeface="Calibri" pitchFamily="34" charset="-120"/>
              </a:rPr>
              <a:t>Azure Functions and Service Bus for the integration. Data Factory for the Team Connect migration.</a:t>
            </a:r>
            <a:endParaRPr lang="en-US" sz="1300" dirty="0"/>
          </a:p>
        </p:txBody>
      </p:sp>
      <p:sp>
        <p:nvSpPr>
          <p:cNvPr id="5" name="Shape 3"/>
          <p:cNvSpPr/>
          <p:nvPr/>
        </p:nvSpPr>
        <p:spPr>
          <a:xfrm>
            <a:off x="502920" y="1572768"/>
            <a:ext cx="11183112" cy="2057400"/>
          </a:xfrm>
          <a:prstGeom prst="roundRect">
            <a:avLst>
              <a:gd name="adj" fmla="val 3556"/>
            </a:avLst>
          </a:prstGeom>
          <a:solidFill>
            <a:srgbClr val="F5FAF6"/>
          </a:solidFill>
          <a:ln w="12700">
            <a:solidFill>
              <a:srgbClr val="C9D8CD"/>
            </a:solidFill>
            <a:prstDash val="solid"/>
          </a:ln>
        </p:spPr>
      </p:sp>
      <p:sp>
        <p:nvSpPr>
          <p:cNvPr id="6" name="Text 4"/>
          <p:cNvSpPr/>
          <p:nvPr/>
        </p:nvSpPr>
        <p:spPr>
          <a:xfrm>
            <a:off x="731520" y="1664208"/>
            <a:ext cx="7315200" cy="256032"/>
          </a:xfrm>
          <a:prstGeom prst="rect">
            <a:avLst/>
          </a:prstGeom>
          <a:noFill/>
          <a:ln/>
        </p:spPr>
        <p:txBody>
          <a:bodyPr wrap="square" lIns="0" tIns="0" rIns="0" bIns="0" rtlCol="0" anchor="ctr"/>
          <a:lstStyle/>
          <a:p>
            <a:pPr indent="0" marL="0">
              <a:buNone/>
            </a:pPr>
            <a:r>
              <a:rPr lang="en-US" sz="1100" b="1" spc="150" kern="0" dirty="0">
                <a:solidFill>
                  <a:srgbClr val="00432A"/>
                </a:solidFill>
                <a:latin typeface="Arial" pitchFamily="34" charset="0"/>
                <a:ea typeface="Arial" pitchFamily="34" charset="-122"/>
                <a:cs typeface="Arial" pitchFamily="34" charset="-120"/>
              </a:rPr>
              <a:t>INTEGRATION</a:t>
            </a:r>
            <a:endParaRPr lang="en-US" sz="1100" dirty="0"/>
          </a:p>
        </p:txBody>
      </p:sp>
      <p:sp>
        <p:nvSpPr>
          <p:cNvPr id="7" name="Shape 5"/>
          <p:cNvSpPr/>
          <p:nvPr/>
        </p:nvSpPr>
        <p:spPr>
          <a:xfrm>
            <a:off x="777240" y="2057400"/>
            <a:ext cx="1737360" cy="777240"/>
          </a:xfrm>
          <a:prstGeom prst="roundRect">
            <a:avLst>
              <a:gd name="adj" fmla="val 5882"/>
            </a:avLst>
          </a:prstGeom>
          <a:solidFill>
            <a:srgbClr val="00432A"/>
          </a:solidFill>
          <a:ln w="15875">
            <a:solidFill>
              <a:srgbClr val="00432A"/>
            </a:solidFill>
            <a:prstDash val="solid"/>
          </a:ln>
          <a:effectLst>
            <a:outerShdw sx="100000" sy="100000" kx="0" ky="0" algn="bl" rotWithShape="0" blurRad="101600" dist="25400" dir="5400000">
              <a:srgbClr val="9AA9A0">
                <a:alpha val="22000"/>
              </a:srgbClr>
            </a:outerShdw>
          </a:effectLst>
        </p:spPr>
      </p:sp>
      <p:sp>
        <p:nvSpPr>
          <p:cNvPr id="8" name="Text 6"/>
          <p:cNvSpPr/>
          <p:nvPr/>
        </p:nvSpPr>
        <p:spPr>
          <a:xfrm>
            <a:off x="777240" y="2057400"/>
            <a:ext cx="1737360" cy="777240"/>
          </a:xfrm>
          <a:prstGeom prst="rect">
            <a:avLst/>
          </a:prstGeom>
          <a:noFill/>
          <a:ln/>
        </p:spPr>
        <p:txBody>
          <a:bodyPr wrap="square" lIns="508" tIns="508" rIns="508" bIns="508" rtlCol="0" anchor="ctr"/>
          <a:lstStyle/>
          <a:p>
            <a:pPr algn="ctr" indent="0" marL="0">
              <a:lnSpc>
                <a:spcPts val="1500"/>
              </a:lnSpc>
              <a:buNone/>
            </a:pPr>
            <a:r>
              <a:rPr lang="en-US" sz="1200" b="1" dirty="0">
                <a:solidFill>
                  <a:srgbClr val="FFFFFF"/>
                </a:solidFill>
                <a:latin typeface="Arial" pitchFamily="34" charset="0"/>
                <a:ea typeface="Arial" pitchFamily="34" charset="-122"/>
                <a:cs typeface="Arial" pitchFamily="34" charset="-120"/>
              </a:rPr>
              <a:t>iManage</a:t>
            </a:r>
            <a:endParaRPr lang="en-US" sz="1200" dirty="0"/>
          </a:p>
        </p:txBody>
      </p:sp>
      <p:sp>
        <p:nvSpPr>
          <p:cNvPr id="9" name="Shape 7"/>
          <p:cNvSpPr/>
          <p:nvPr/>
        </p:nvSpPr>
        <p:spPr>
          <a:xfrm>
            <a:off x="2926080" y="2057400"/>
            <a:ext cx="1828800" cy="777240"/>
          </a:xfrm>
          <a:prstGeom prst="roundRect">
            <a:avLst>
              <a:gd name="adj" fmla="val 5882"/>
            </a:avLst>
          </a:prstGeom>
          <a:solidFill>
            <a:srgbClr val="008A00"/>
          </a:solidFill>
          <a:ln w="15875">
            <a:solidFill>
              <a:srgbClr val="008A00"/>
            </a:solidFill>
            <a:prstDash val="solid"/>
          </a:ln>
          <a:effectLst>
            <a:outerShdw sx="100000" sy="100000" kx="0" ky="0" algn="bl" rotWithShape="0" blurRad="101600" dist="25400" dir="5400000">
              <a:srgbClr val="9AA9A0">
                <a:alpha val="22000"/>
              </a:srgbClr>
            </a:outerShdw>
          </a:effectLst>
        </p:spPr>
      </p:sp>
      <p:sp>
        <p:nvSpPr>
          <p:cNvPr id="10" name="Text 8"/>
          <p:cNvSpPr/>
          <p:nvPr/>
        </p:nvSpPr>
        <p:spPr>
          <a:xfrm>
            <a:off x="2926080" y="2057400"/>
            <a:ext cx="1828800" cy="777240"/>
          </a:xfrm>
          <a:prstGeom prst="rect">
            <a:avLst/>
          </a:prstGeom>
          <a:noFill/>
          <a:ln/>
        </p:spPr>
        <p:txBody>
          <a:bodyPr wrap="square" lIns="508" tIns="508" rIns="508" bIns="508" rtlCol="0" anchor="ctr"/>
          <a:lstStyle/>
          <a:p>
            <a:pPr algn="ctr" indent="0" marL="0">
              <a:lnSpc>
                <a:spcPts val="1313"/>
              </a:lnSpc>
              <a:buNone/>
            </a:pPr>
            <a:r>
              <a:rPr lang="en-US" sz="1050" b="1" dirty="0">
                <a:solidFill>
                  <a:srgbClr val="FFFFFF"/>
                </a:solidFill>
                <a:latin typeface="Arial" pitchFamily="34" charset="0"/>
                <a:ea typeface="Arial" pitchFamily="34" charset="-122"/>
                <a:cs typeface="Arial" pitchFamily="34" charset="-120"/>
              </a:rPr>
              <a:t>Function: poller</a:t>
            </a:r>
            <a:endParaRPr lang="en-US" sz="1050" dirty="0"/>
          </a:p>
          <a:p>
            <a:pPr algn="ctr" indent="0" marL="0">
              <a:lnSpc>
                <a:spcPts val="1313"/>
              </a:lnSpc>
              <a:buNone/>
            </a:pPr>
            <a:r>
              <a:rPr lang="en-US" sz="1050" b="1" dirty="0">
                <a:solidFill>
                  <a:srgbClr val="FFFFFF"/>
                </a:solidFill>
                <a:latin typeface="Arial" pitchFamily="34" charset="0"/>
                <a:ea typeface="Arial" pitchFamily="34" charset="-122"/>
                <a:cs typeface="Arial" pitchFamily="34" charset="-120"/>
              </a:rPr>
              <a:t>every 2–5 min</a:t>
            </a:r>
            <a:endParaRPr lang="en-US" sz="1050" dirty="0"/>
          </a:p>
        </p:txBody>
      </p:sp>
      <p:sp>
        <p:nvSpPr>
          <p:cNvPr id="11" name="Shape 9"/>
          <p:cNvSpPr/>
          <p:nvPr/>
        </p:nvSpPr>
        <p:spPr>
          <a:xfrm>
            <a:off x="5166360" y="2057400"/>
            <a:ext cx="1828800" cy="777240"/>
          </a:xfrm>
          <a:prstGeom prst="roundRect">
            <a:avLst>
              <a:gd name="adj" fmla="val 5882"/>
            </a:avLst>
          </a:prstGeom>
          <a:solidFill>
            <a:srgbClr val="008A00"/>
          </a:solidFill>
          <a:ln w="15875">
            <a:solidFill>
              <a:srgbClr val="008A00"/>
            </a:solidFill>
            <a:prstDash val="solid"/>
          </a:ln>
          <a:effectLst>
            <a:outerShdw sx="100000" sy="100000" kx="0" ky="0" algn="bl" rotWithShape="0" blurRad="101600" dist="25400" dir="5400000">
              <a:srgbClr val="9AA9A0">
                <a:alpha val="22000"/>
              </a:srgbClr>
            </a:outerShdw>
          </a:effectLst>
        </p:spPr>
      </p:sp>
      <p:sp>
        <p:nvSpPr>
          <p:cNvPr id="12" name="Text 10"/>
          <p:cNvSpPr/>
          <p:nvPr/>
        </p:nvSpPr>
        <p:spPr>
          <a:xfrm>
            <a:off x="5166360" y="2057400"/>
            <a:ext cx="1828800" cy="777240"/>
          </a:xfrm>
          <a:prstGeom prst="rect">
            <a:avLst/>
          </a:prstGeom>
          <a:noFill/>
          <a:ln/>
        </p:spPr>
        <p:txBody>
          <a:bodyPr wrap="square" lIns="508" tIns="508" rIns="508" bIns="508" rtlCol="0" anchor="ctr"/>
          <a:lstStyle/>
          <a:p>
            <a:pPr algn="ctr" indent="0" marL="0">
              <a:lnSpc>
                <a:spcPts val="1313"/>
              </a:lnSpc>
              <a:buNone/>
            </a:pPr>
            <a:r>
              <a:rPr lang="en-US" sz="1050" b="1" dirty="0">
                <a:solidFill>
                  <a:srgbClr val="FFFFFF"/>
                </a:solidFill>
                <a:latin typeface="Arial" pitchFamily="34" charset="0"/>
                <a:ea typeface="Arial" pitchFamily="34" charset="-122"/>
                <a:cs typeface="Arial" pitchFamily="34" charset="-120"/>
              </a:rPr>
              <a:t>Functions:</a:t>
            </a:r>
            <a:endParaRPr lang="en-US" sz="1050" dirty="0"/>
          </a:p>
          <a:p>
            <a:pPr algn="ctr" indent="0" marL="0">
              <a:lnSpc>
                <a:spcPts val="1313"/>
              </a:lnSpc>
              <a:buNone/>
            </a:pPr>
            <a:r>
              <a:rPr lang="en-US" sz="1050" b="1" dirty="0">
                <a:solidFill>
                  <a:srgbClr val="FFFFFF"/>
                </a:solidFill>
                <a:latin typeface="Arial" pitchFamily="34" charset="0"/>
                <a:ea typeface="Arial" pitchFamily="34" charset="-122"/>
                <a:cs typeface="Arial" pitchFamily="34" charset="-120"/>
              </a:rPr>
              <a:t>canonical model</a:t>
            </a:r>
            <a:endParaRPr lang="en-US" sz="1050" dirty="0"/>
          </a:p>
        </p:txBody>
      </p:sp>
      <p:sp>
        <p:nvSpPr>
          <p:cNvPr id="13" name="Shape 11"/>
          <p:cNvSpPr/>
          <p:nvPr/>
        </p:nvSpPr>
        <p:spPr>
          <a:xfrm>
            <a:off x="7406640" y="2057400"/>
            <a:ext cx="1828800" cy="777240"/>
          </a:xfrm>
          <a:prstGeom prst="roundRect">
            <a:avLst>
              <a:gd name="adj" fmla="val 5882"/>
            </a:avLst>
          </a:prstGeom>
          <a:solidFill>
            <a:srgbClr val="00432A"/>
          </a:solidFill>
          <a:ln w="15875">
            <a:solidFill>
              <a:srgbClr val="00432A"/>
            </a:solidFill>
            <a:prstDash val="solid"/>
          </a:ln>
          <a:effectLst>
            <a:outerShdw sx="100000" sy="100000" kx="0" ky="0" algn="bl" rotWithShape="0" blurRad="101600" dist="25400" dir="5400000">
              <a:srgbClr val="9AA9A0">
                <a:alpha val="22000"/>
              </a:srgbClr>
            </a:outerShdw>
          </a:effectLst>
        </p:spPr>
      </p:sp>
      <p:sp>
        <p:nvSpPr>
          <p:cNvPr id="14" name="Text 12"/>
          <p:cNvSpPr/>
          <p:nvPr/>
        </p:nvSpPr>
        <p:spPr>
          <a:xfrm>
            <a:off x="7406640" y="2057400"/>
            <a:ext cx="1828800" cy="777240"/>
          </a:xfrm>
          <a:prstGeom prst="rect">
            <a:avLst/>
          </a:prstGeom>
          <a:noFill/>
          <a:ln/>
        </p:spPr>
        <p:txBody>
          <a:bodyPr wrap="square" lIns="508" tIns="508" rIns="508" bIns="508" rtlCol="0" anchor="ctr"/>
          <a:lstStyle/>
          <a:p>
            <a:pPr algn="ctr" indent="0" marL="0">
              <a:lnSpc>
                <a:spcPts val="1313"/>
              </a:lnSpc>
              <a:buNone/>
            </a:pPr>
            <a:r>
              <a:rPr lang="en-US" sz="1050" b="1" dirty="0">
                <a:solidFill>
                  <a:srgbClr val="FFFFFF"/>
                </a:solidFill>
                <a:latin typeface="Arial" pitchFamily="34" charset="0"/>
                <a:ea typeface="Arial" pitchFamily="34" charset="-122"/>
                <a:cs typeface="Arial" pitchFamily="34" charset="-120"/>
              </a:rPr>
              <a:t>Service Bus</a:t>
            </a:r>
            <a:endParaRPr lang="en-US" sz="1050" dirty="0"/>
          </a:p>
          <a:p>
            <a:pPr algn="ctr" indent="0" marL="0">
              <a:lnSpc>
                <a:spcPts val="1313"/>
              </a:lnSpc>
              <a:buNone/>
            </a:pPr>
            <a:r>
              <a:rPr lang="en-US" sz="1050" b="1" dirty="0">
                <a:solidFill>
                  <a:srgbClr val="FFFFFF"/>
                </a:solidFill>
                <a:latin typeface="Arial" pitchFamily="34" charset="0"/>
                <a:ea typeface="Arial" pitchFamily="34" charset="-122"/>
                <a:cs typeface="Arial" pitchFamily="34" charset="-120"/>
              </a:rPr>
              <a:t>matter-events</a:t>
            </a:r>
            <a:endParaRPr lang="en-US" sz="1050" dirty="0"/>
          </a:p>
        </p:txBody>
      </p:sp>
      <p:sp>
        <p:nvSpPr>
          <p:cNvPr id="15" name="Shape 13"/>
          <p:cNvSpPr/>
          <p:nvPr/>
        </p:nvSpPr>
        <p:spPr>
          <a:xfrm>
            <a:off x="9646920" y="1783080"/>
            <a:ext cx="2011680" cy="384048"/>
          </a:xfrm>
          <a:prstGeom prst="roundRect">
            <a:avLst>
              <a:gd name="adj" fmla="val 11905"/>
            </a:avLst>
          </a:prstGeom>
          <a:solidFill>
            <a:srgbClr val="1F4E5F"/>
          </a:solidFill>
          <a:ln w="15875">
            <a:solidFill>
              <a:srgbClr val="1F4E5F"/>
            </a:solidFill>
            <a:prstDash val="solid"/>
          </a:ln>
          <a:effectLst>
            <a:outerShdw sx="100000" sy="100000" kx="0" ky="0" algn="bl" rotWithShape="0" blurRad="101600" dist="25400" dir="5400000">
              <a:srgbClr val="9AA9A0">
                <a:alpha val="22000"/>
              </a:srgbClr>
            </a:outerShdw>
          </a:effectLst>
        </p:spPr>
      </p:sp>
      <p:sp>
        <p:nvSpPr>
          <p:cNvPr id="16" name="Text 14"/>
          <p:cNvSpPr/>
          <p:nvPr/>
        </p:nvSpPr>
        <p:spPr>
          <a:xfrm>
            <a:off x="9646920" y="1783080"/>
            <a:ext cx="2011680" cy="384048"/>
          </a:xfrm>
          <a:prstGeom prst="rect">
            <a:avLst/>
          </a:prstGeom>
          <a:noFill/>
          <a:ln/>
        </p:spPr>
        <p:txBody>
          <a:bodyPr wrap="square" lIns="508" tIns="508" rIns="508" bIns="508" rtlCol="0" anchor="ctr"/>
          <a:lstStyle/>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Exterro adapter</a:t>
            </a:r>
            <a:endParaRPr lang="en-US" sz="1000" dirty="0"/>
          </a:p>
        </p:txBody>
      </p:sp>
      <p:sp>
        <p:nvSpPr>
          <p:cNvPr id="17" name="Shape 15"/>
          <p:cNvSpPr/>
          <p:nvPr/>
        </p:nvSpPr>
        <p:spPr>
          <a:xfrm>
            <a:off x="9646920" y="2258568"/>
            <a:ext cx="2011680" cy="384048"/>
          </a:xfrm>
          <a:prstGeom prst="roundRect">
            <a:avLst>
              <a:gd name="adj" fmla="val 11905"/>
            </a:avLst>
          </a:prstGeom>
          <a:solidFill>
            <a:srgbClr val="1F4E5F"/>
          </a:solidFill>
          <a:ln w="15875">
            <a:solidFill>
              <a:srgbClr val="1F4E5F"/>
            </a:solidFill>
            <a:prstDash val="solid"/>
          </a:ln>
          <a:effectLst>
            <a:outerShdw sx="100000" sy="100000" kx="0" ky="0" algn="bl" rotWithShape="0" blurRad="101600" dist="25400" dir="5400000">
              <a:srgbClr val="9AA9A0">
                <a:alpha val="22000"/>
              </a:srgbClr>
            </a:outerShdw>
          </a:effectLst>
        </p:spPr>
      </p:sp>
      <p:sp>
        <p:nvSpPr>
          <p:cNvPr id="18" name="Text 16"/>
          <p:cNvSpPr/>
          <p:nvPr/>
        </p:nvSpPr>
        <p:spPr>
          <a:xfrm>
            <a:off x="9646920" y="2258568"/>
            <a:ext cx="2011680" cy="384048"/>
          </a:xfrm>
          <a:prstGeom prst="rect">
            <a:avLst/>
          </a:prstGeom>
          <a:noFill/>
          <a:ln/>
        </p:spPr>
        <p:txBody>
          <a:bodyPr wrap="square" lIns="508" tIns="508" rIns="508" bIns="508" rtlCol="0" anchor="ctr"/>
          <a:lstStyle/>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TyMetrix adapter</a:t>
            </a:r>
            <a:endParaRPr lang="en-US" sz="1000" dirty="0"/>
          </a:p>
        </p:txBody>
      </p:sp>
      <p:sp>
        <p:nvSpPr>
          <p:cNvPr id="19" name="Shape 17"/>
          <p:cNvSpPr/>
          <p:nvPr/>
        </p:nvSpPr>
        <p:spPr>
          <a:xfrm>
            <a:off x="9646920" y="2734056"/>
            <a:ext cx="2011680" cy="384048"/>
          </a:xfrm>
          <a:prstGeom prst="roundRect">
            <a:avLst>
              <a:gd name="adj" fmla="val 11905"/>
            </a:avLst>
          </a:prstGeom>
          <a:solidFill>
            <a:srgbClr val="FFFFFF"/>
          </a:solidFill>
          <a:ln w="15875">
            <a:solidFill>
              <a:srgbClr val="C9D8CD"/>
            </a:solidFill>
            <a:prstDash val="solid"/>
          </a:ln>
          <a:effectLst>
            <a:outerShdw sx="100000" sy="100000" kx="0" ky="0" algn="bl" rotWithShape="0" blurRad="101600" dist="25400" dir="5400000">
              <a:srgbClr val="9AA9A0">
                <a:alpha val="22000"/>
              </a:srgbClr>
            </a:outerShdw>
          </a:effectLst>
        </p:spPr>
      </p:sp>
      <p:sp>
        <p:nvSpPr>
          <p:cNvPr id="20" name="Text 18"/>
          <p:cNvSpPr/>
          <p:nvPr/>
        </p:nvSpPr>
        <p:spPr>
          <a:xfrm>
            <a:off x="9646920" y="2734056"/>
            <a:ext cx="2011680" cy="384048"/>
          </a:xfrm>
          <a:prstGeom prst="rect">
            <a:avLst/>
          </a:prstGeom>
          <a:noFill/>
          <a:ln/>
        </p:spPr>
        <p:txBody>
          <a:bodyPr wrap="square" lIns="508" tIns="508" rIns="508" bIns="508" rtlCol="0" anchor="ctr"/>
          <a:lstStyle/>
          <a:p>
            <a:pPr algn="ctr" indent="0" marL="0">
              <a:lnSpc>
                <a:spcPts val="1250"/>
              </a:lnSpc>
              <a:buNone/>
            </a:pPr>
            <a:r>
              <a:rPr lang="en-US" sz="1000" dirty="0">
                <a:solidFill>
                  <a:srgbClr val="5F6F68"/>
                </a:solidFill>
                <a:latin typeface="Arial" pitchFamily="34" charset="0"/>
                <a:ea typeface="Arial" pitchFamily="34" charset="-122"/>
                <a:cs typeface="Arial" pitchFamily="34" charset="-120"/>
              </a:rPr>
              <a:t>Future adapters</a:t>
            </a:r>
            <a:endParaRPr lang="en-US" sz="1000" dirty="0"/>
          </a:p>
        </p:txBody>
      </p:sp>
      <p:sp>
        <p:nvSpPr>
          <p:cNvPr id="21" name="Shape 19"/>
          <p:cNvSpPr/>
          <p:nvPr/>
        </p:nvSpPr>
        <p:spPr>
          <a:xfrm>
            <a:off x="2532888" y="2450592"/>
            <a:ext cx="365760" cy="0"/>
          </a:xfrm>
          <a:prstGeom prst="line">
            <a:avLst/>
          </a:prstGeom>
          <a:noFill/>
          <a:ln w="25400">
            <a:solidFill>
              <a:srgbClr val="4C9E4C"/>
            </a:solidFill>
            <a:prstDash val="solid"/>
            <a:tailEnd type="triangle"/>
          </a:ln>
        </p:spPr>
      </p:sp>
      <p:sp>
        <p:nvSpPr>
          <p:cNvPr id="22" name="Shape 20"/>
          <p:cNvSpPr/>
          <p:nvPr/>
        </p:nvSpPr>
        <p:spPr>
          <a:xfrm>
            <a:off x="4773168" y="2450592"/>
            <a:ext cx="365760" cy="0"/>
          </a:xfrm>
          <a:prstGeom prst="line">
            <a:avLst/>
          </a:prstGeom>
          <a:noFill/>
          <a:ln w="25400">
            <a:solidFill>
              <a:srgbClr val="4C9E4C"/>
            </a:solidFill>
            <a:prstDash val="solid"/>
            <a:tailEnd type="triangle"/>
          </a:ln>
        </p:spPr>
      </p:sp>
      <p:sp>
        <p:nvSpPr>
          <p:cNvPr id="23" name="Shape 21"/>
          <p:cNvSpPr/>
          <p:nvPr/>
        </p:nvSpPr>
        <p:spPr>
          <a:xfrm>
            <a:off x="7013448" y="2450592"/>
            <a:ext cx="365760" cy="0"/>
          </a:xfrm>
          <a:prstGeom prst="line">
            <a:avLst/>
          </a:prstGeom>
          <a:noFill/>
          <a:ln w="25400">
            <a:solidFill>
              <a:srgbClr val="4C9E4C"/>
            </a:solidFill>
            <a:prstDash val="solid"/>
            <a:tailEnd type="triangle"/>
          </a:ln>
        </p:spPr>
      </p:sp>
      <p:sp>
        <p:nvSpPr>
          <p:cNvPr id="24" name="Shape 22"/>
          <p:cNvSpPr/>
          <p:nvPr/>
        </p:nvSpPr>
        <p:spPr>
          <a:xfrm>
            <a:off x="9253728" y="2331720"/>
            <a:ext cx="365760" cy="-320040"/>
          </a:xfrm>
          <a:prstGeom prst="line">
            <a:avLst/>
          </a:prstGeom>
          <a:noFill/>
          <a:ln w="25400">
            <a:solidFill>
              <a:srgbClr val="4C9E4C"/>
            </a:solidFill>
            <a:prstDash val="solid"/>
            <a:tailEnd type="triangle"/>
          </a:ln>
        </p:spPr>
      </p:sp>
      <p:sp>
        <p:nvSpPr>
          <p:cNvPr id="25" name="Shape 23"/>
          <p:cNvSpPr/>
          <p:nvPr/>
        </p:nvSpPr>
        <p:spPr>
          <a:xfrm>
            <a:off x="9253728" y="2450592"/>
            <a:ext cx="365760" cy="36576"/>
          </a:xfrm>
          <a:prstGeom prst="line">
            <a:avLst/>
          </a:prstGeom>
          <a:noFill/>
          <a:ln w="25400">
            <a:solidFill>
              <a:srgbClr val="4C9E4C"/>
            </a:solidFill>
            <a:prstDash val="solid"/>
            <a:tailEnd type="triangle"/>
          </a:ln>
        </p:spPr>
      </p:sp>
      <p:sp>
        <p:nvSpPr>
          <p:cNvPr id="26" name="Shape 24"/>
          <p:cNvSpPr/>
          <p:nvPr/>
        </p:nvSpPr>
        <p:spPr>
          <a:xfrm>
            <a:off x="9253728" y="2578608"/>
            <a:ext cx="365760" cy="384048"/>
          </a:xfrm>
          <a:prstGeom prst="line">
            <a:avLst/>
          </a:prstGeom>
          <a:noFill/>
          <a:ln w="25400">
            <a:solidFill>
              <a:srgbClr val="C9D8CD"/>
            </a:solidFill>
            <a:prstDash val="solid"/>
            <a:tailEnd type="triangle"/>
          </a:ln>
        </p:spPr>
      </p:sp>
      <p:sp>
        <p:nvSpPr>
          <p:cNvPr id="27" name="Text 25"/>
          <p:cNvSpPr/>
          <p:nvPr/>
        </p:nvSpPr>
        <p:spPr>
          <a:xfrm>
            <a:off x="731520" y="3154680"/>
            <a:ext cx="10698480" cy="274320"/>
          </a:xfrm>
          <a:prstGeom prst="rect">
            <a:avLst/>
          </a:prstGeom>
          <a:noFill/>
          <a:ln/>
        </p:spPr>
        <p:txBody>
          <a:bodyPr wrap="square" lIns="0" tIns="0" rIns="0" bIns="0" rtlCol="0" anchor="ctr"/>
          <a:lstStyle/>
          <a:p>
            <a:pPr indent="0" marL="0">
              <a:buNone/>
            </a:pPr>
            <a:r>
              <a:rPr lang="en-US" sz="1100" dirty="0">
                <a:solidFill>
                  <a:srgbClr val="5F6F68"/>
                </a:solidFill>
                <a:latin typeface="Calibri" pitchFamily="34" charset="0"/>
                <a:ea typeface="Calibri" pitchFamily="34" charset="-122"/>
                <a:cs typeface="Calibri" pitchFamily="34" charset="-120"/>
              </a:rPr>
              <a:t>Supporting services:  Azure SQL (per-matter integration state)  ·  Key Vault (secrets)  ·  Application Insights and Azure Monitor (monitoring)</a:t>
            </a:r>
            <a:endParaRPr lang="en-US" sz="1100" dirty="0"/>
          </a:p>
        </p:txBody>
      </p:sp>
      <p:sp>
        <p:nvSpPr>
          <p:cNvPr id="28" name="Shape 26"/>
          <p:cNvSpPr/>
          <p:nvPr/>
        </p:nvSpPr>
        <p:spPr>
          <a:xfrm>
            <a:off x="502920" y="3749040"/>
            <a:ext cx="11183112" cy="1170432"/>
          </a:xfrm>
          <a:prstGeom prst="roundRect">
            <a:avLst>
              <a:gd name="adj" fmla="val 6250"/>
            </a:avLst>
          </a:prstGeom>
          <a:solidFill>
            <a:srgbClr val="E4EEF2"/>
          </a:solidFill>
          <a:ln w="12700">
            <a:solidFill>
              <a:srgbClr val="C9D8CD"/>
            </a:solidFill>
            <a:prstDash val="solid"/>
          </a:ln>
        </p:spPr>
      </p:sp>
      <p:sp>
        <p:nvSpPr>
          <p:cNvPr id="29" name="Text 27"/>
          <p:cNvSpPr/>
          <p:nvPr/>
        </p:nvSpPr>
        <p:spPr>
          <a:xfrm>
            <a:off x="731520" y="3822192"/>
            <a:ext cx="7315200" cy="237744"/>
          </a:xfrm>
          <a:prstGeom prst="rect">
            <a:avLst/>
          </a:prstGeom>
          <a:noFill/>
          <a:ln/>
        </p:spPr>
        <p:txBody>
          <a:bodyPr wrap="square" lIns="0" tIns="0" rIns="0" bIns="0" rtlCol="0" anchor="ctr"/>
          <a:lstStyle/>
          <a:p>
            <a:pPr indent="0" marL="0">
              <a:buNone/>
            </a:pPr>
            <a:r>
              <a:rPr lang="en-US" sz="1100" b="1" spc="150" kern="0" dirty="0">
                <a:solidFill>
                  <a:srgbClr val="1F4E5F"/>
                </a:solidFill>
                <a:latin typeface="Arial" pitchFamily="34" charset="0"/>
                <a:ea typeface="Arial" pitchFamily="34" charset="-122"/>
                <a:cs typeface="Arial" pitchFamily="34" charset="-120"/>
              </a:rPr>
              <a:t>MIGRATION</a:t>
            </a:r>
            <a:endParaRPr lang="en-US" sz="1100" dirty="0"/>
          </a:p>
        </p:txBody>
      </p:sp>
      <p:sp>
        <p:nvSpPr>
          <p:cNvPr id="30" name="Shape 28"/>
          <p:cNvSpPr/>
          <p:nvPr/>
        </p:nvSpPr>
        <p:spPr>
          <a:xfrm>
            <a:off x="777240" y="4142232"/>
            <a:ext cx="1920240" cy="685800"/>
          </a:xfrm>
          <a:prstGeom prst="roundRect">
            <a:avLst>
              <a:gd name="adj" fmla="val 6667"/>
            </a:avLst>
          </a:prstGeom>
          <a:solidFill>
            <a:srgbClr val="1F4E5F"/>
          </a:solidFill>
          <a:ln w="15875">
            <a:solidFill>
              <a:srgbClr val="1F4E5F"/>
            </a:solidFill>
            <a:prstDash val="solid"/>
          </a:ln>
          <a:effectLst>
            <a:outerShdw sx="100000" sy="100000" kx="0" ky="0" algn="bl" rotWithShape="0" blurRad="101600" dist="25400" dir="5400000">
              <a:srgbClr val="9AA9A0">
                <a:alpha val="22000"/>
              </a:srgbClr>
            </a:outerShdw>
          </a:effectLst>
        </p:spPr>
      </p:sp>
      <p:sp>
        <p:nvSpPr>
          <p:cNvPr id="31" name="Text 29"/>
          <p:cNvSpPr/>
          <p:nvPr/>
        </p:nvSpPr>
        <p:spPr>
          <a:xfrm>
            <a:off x="777240" y="4142232"/>
            <a:ext cx="1920240" cy="685800"/>
          </a:xfrm>
          <a:prstGeom prst="rect">
            <a:avLst/>
          </a:prstGeom>
          <a:noFill/>
          <a:ln/>
        </p:spPr>
        <p:txBody>
          <a:bodyPr wrap="square" lIns="508" tIns="508" rIns="508" bIns="508" rtlCol="0" anchor="ctr"/>
          <a:lstStyle/>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Team Connect</a:t>
            </a:r>
            <a:endParaRPr lang="en-US" sz="1000" dirty="0"/>
          </a:p>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(SQL / Oracle / blob)</a:t>
            </a:r>
            <a:endParaRPr lang="en-US" sz="1000" dirty="0"/>
          </a:p>
        </p:txBody>
      </p:sp>
      <p:sp>
        <p:nvSpPr>
          <p:cNvPr id="32" name="Shape 30"/>
          <p:cNvSpPr/>
          <p:nvPr/>
        </p:nvSpPr>
        <p:spPr>
          <a:xfrm>
            <a:off x="2715768" y="4480560"/>
            <a:ext cx="256032" cy="0"/>
          </a:xfrm>
          <a:prstGeom prst="line">
            <a:avLst/>
          </a:prstGeom>
          <a:noFill/>
          <a:ln w="25400">
            <a:solidFill>
              <a:srgbClr val="1F4E5F"/>
            </a:solidFill>
            <a:prstDash val="solid"/>
            <a:tailEnd type="triangle"/>
          </a:ln>
        </p:spPr>
      </p:sp>
      <p:sp>
        <p:nvSpPr>
          <p:cNvPr id="33" name="Shape 31"/>
          <p:cNvSpPr/>
          <p:nvPr/>
        </p:nvSpPr>
        <p:spPr>
          <a:xfrm>
            <a:off x="2990088" y="4142232"/>
            <a:ext cx="1920240" cy="685800"/>
          </a:xfrm>
          <a:prstGeom prst="roundRect">
            <a:avLst>
              <a:gd name="adj" fmla="val 6667"/>
            </a:avLst>
          </a:prstGeom>
          <a:solidFill>
            <a:srgbClr val="1F4E5F"/>
          </a:solidFill>
          <a:ln w="15875">
            <a:solidFill>
              <a:srgbClr val="1F4E5F"/>
            </a:solidFill>
            <a:prstDash val="solid"/>
          </a:ln>
          <a:effectLst>
            <a:outerShdw sx="100000" sy="100000" kx="0" ky="0" algn="bl" rotWithShape="0" blurRad="101600" dist="25400" dir="5400000">
              <a:srgbClr val="9AA9A0">
                <a:alpha val="22000"/>
              </a:srgbClr>
            </a:outerShdw>
          </a:effectLst>
        </p:spPr>
      </p:sp>
      <p:sp>
        <p:nvSpPr>
          <p:cNvPr id="34" name="Text 32"/>
          <p:cNvSpPr/>
          <p:nvPr/>
        </p:nvSpPr>
        <p:spPr>
          <a:xfrm>
            <a:off x="2990088" y="4142232"/>
            <a:ext cx="1920240" cy="685800"/>
          </a:xfrm>
          <a:prstGeom prst="rect">
            <a:avLst/>
          </a:prstGeom>
          <a:noFill/>
          <a:ln/>
        </p:spPr>
        <p:txBody>
          <a:bodyPr wrap="square" lIns="508" tIns="508" rIns="508" bIns="508" rtlCol="0" anchor="ctr"/>
          <a:lstStyle/>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Azure Data Factory</a:t>
            </a:r>
            <a:endParaRPr lang="en-US" sz="1000" dirty="0"/>
          </a:p>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ingest &amp; transform</a:t>
            </a:r>
            <a:endParaRPr lang="en-US" sz="1000" dirty="0"/>
          </a:p>
        </p:txBody>
      </p:sp>
      <p:sp>
        <p:nvSpPr>
          <p:cNvPr id="35" name="Shape 33"/>
          <p:cNvSpPr/>
          <p:nvPr/>
        </p:nvSpPr>
        <p:spPr>
          <a:xfrm>
            <a:off x="4928616" y="4480560"/>
            <a:ext cx="256032" cy="0"/>
          </a:xfrm>
          <a:prstGeom prst="line">
            <a:avLst/>
          </a:prstGeom>
          <a:noFill/>
          <a:ln w="25400">
            <a:solidFill>
              <a:srgbClr val="1F4E5F"/>
            </a:solidFill>
            <a:prstDash val="solid"/>
            <a:tailEnd type="triangle"/>
          </a:ln>
        </p:spPr>
      </p:sp>
      <p:sp>
        <p:nvSpPr>
          <p:cNvPr id="36" name="Shape 34"/>
          <p:cNvSpPr/>
          <p:nvPr/>
        </p:nvSpPr>
        <p:spPr>
          <a:xfrm>
            <a:off x="5202936" y="4142232"/>
            <a:ext cx="1920240" cy="685800"/>
          </a:xfrm>
          <a:prstGeom prst="roundRect">
            <a:avLst>
              <a:gd name="adj" fmla="val 6667"/>
            </a:avLst>
          </a:prstGeom>
          <a:solidFill>
            <a:srgbClr val="1F4E5F"/>
          </a:solidFill>
          <a:ln w="15875">
            <a:solidFill>
              <a:srgbClr val="1F4E5F"/>
            </a:solidFill>
            <a:prstDash val="solid"/>
          </a:ln>
          <a:effectLst>
            <a:outerShdw sx="100000" sy="100000" kx="0" ky="0" algn="bl" rotWithShape="0" blurRad="101600" dist="25400" dir="5400000">
              <a:srgbClr val="9AA9A0">
                <a:alpha val="22000"/>
              </a:srgbClr>
            </a:outerShdw>
          </a:effectLst>
        </p:spPr>
      </p:sp>
      <p:sp>
        <p:nvSpPr>
          <p:cNvPr id="37" name="Text 35"/>
          <p:cNvSpPr/>
          <p:nvPr/>
        </p:nvSpPr>
        <p:spPr>
          <a:xfrm>
            <a:off x="5202936" y="4142232"/>
            <a:ext cx="1920240" cy="685800"/>
          </a:xfrm>
          <a:prstGeom prst="rect">
            <a:avLst/>
          </a:prstGeom>
          <a:noFill/>
          <a:ln/>
        </p:spPr>
        <p:txBody>
          <a:bodyPr wrap="square" lIns="508" tIns="508" rIns="508" bIns="508" rtlCol="0" anchor="ctr"/>
          <a:lstStyle/>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ADLS / Blob</a:t>
            </a:r>
            <a:endParaRPr lang="en-US" sz="1000" dirty="0"/>
          </a:p>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RAW → CURATED → READY</a:t>
            </a:r>
            <a:endParaRPr lang="en-US" sz="1000" dirty="0"/>
          </a:p>
        </p:txBody>
      </p:sp>
      <p:sp>
        <p:nvSpPr>
          <p:cNvPr id="38" name="Shape 36"/>
          <p:cNvSpPr/>
          <p:nvPr/>
        </p:nvSpPr>
        <p:spPr>
          <a:xfrm>
            <a:off x="7141464" y="4480560"/>
            <a:ext cx="256032" cy="0"/>
          </a:xfrm>
          <a:prstGeom prst="line">
            <a:avLst/>
          </a:prstGeom>
          <a:noFill/>
          <a:ln w="25400">
            <a:solidFill>
              <a:srgbClr val="1F4E5F"/>
            </a:solidFill>
            <a:prstDash val="solid"/>
            <a:tailEnd type="triangle"/>
          </a:ln>
        </p:spPr>
      </p:sp>
      <p:sp>
        <p:nvSpPr>
          <p:cNvPr id="39" name="Shape 37"/>
          <p:cNvSpPr/>
          <p:nvPr/>
        </p:nvSpPr>
        <p:spPr>
          <a:xfrm>
            <a:off x="7415784" y="4142232"/>
            <a:ext cx="1920240" cy="685800"/>
          </a:xfrm>
          <a:prstGeom prst="roundRect">
            <a:avLst>
              <a:gd name="adj" fmla="val 6667"/>
            </a:avLst>
          </a:prstGeom>
          <a:solidFill>
            <a:srgbClr val="1F4E5F"/>
          </a:solidFill>
          <a:ln w="15875">
            <a:solidFill>
              <a:srgbClr val="1F4E5F"/>
            </a:solidFill>
            <a:prstDash val="solid"/>
          </a:ln>
          <a:effectLst>
            <a:outerShdw sx="100000" sy="100000" kx="0" ky="0" algn="bl" rotWithShape="0" blurRad="101600" dist="25400" dir="5400000">
              <a:srgbClr val="9AA9A0">
                <a:alpha val="22000"/>
              </a:srgbClr>
            </a:outerShdw>
          </a:effectLst>
        </p:spPr>
      </p:sp>
      <p:sp>
        <p:nvSpPr>
          <p:cNvPr id="40" name="Text 38"/>
          <p:cNvSpPr/>
          <p:nvPr/>
        </p:nvSpPr>
        <p:spPr>
          <a:xfrm>
            <a:off x="7415784" y="4142232"/>
            <a:ext cx="1920240" cy="685800"/>
          </a:xfrm>
          <a:prstGeom prst="rect">
            <a:avLst/>
          </a:prstGeom>
          <a:noFill/>
          <a:ln/>
        </p:spPr>
        <p:txBody>
          <a:bodyPr wrap="square" lIns="508" tIns="508" rIns="508" bIns="508" rtlCol="0" anchor="ctr"/>
          <a:lstStyle/>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Azure SQL</a:t>
            </a:r>
            <a:endParaRPr lang="en-US" sz="1000" dirty="0"/>
          </a:p>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iManage staging</a:t>
            </a:r>
            <a:endParaRPr lang="en-US" sz="1000" dirty="0"/>
          </a:p>
        </p:txBody>
      </p:sp>
      <p:sp>
        <p:nvSpPr>
          <p:cNvPr id="41" name="Shape 39"/>
          <p:cNvSpPr/>
          <p:nvPr/>
        </p:nvSpPr>
        <p:spPr>
          <a:xfrm>
            <a:off x="9354312" y="4480560"/>
            <a:ext cx="256032" cy="0"/>
          </a:xfrm>
          <a:prstGeom prst="line">
            <a:avLst/>
          </a:prstGeom>
          <a:noFill/>
          <a:ln w="25400">
            <a:solidFill>
              <a:srgbClr val="1F4E5F"/>
            </a:solidFill>
            <a:prstDash val="solid"/>
            <a:tailEnd type="triangle"/>
          </a:ln>
        </p:spPr>
      </p:sp>
      <p:sp>
        <p:nvSpPr>
          <p:cNvPr id="42" name="Shape 40"/>
          <p:cNvSpPr/>
          <p:nvPr/>
        </p:nvSpPr>
        <p:spPr>
          <a:xfrm>
            <a:off x="9628632" y="4142232"/>
            <a:ext cx="1920240" cy="685800"/>
          </a:xfrm>
          <a:prstGeom prst="roundRect">
            <a:avLst>
              <a:gd name="adj" fmla="val 6667"/>
            </a:avLst>
          </a:prstGeom>
          <a:solidFill>
            <a:srgbClr val="00432A"/>
          </a:solidFill>
          <a:ln w="15875">
            <a:solidFill>
              <a:srgbClr val="00432A"/>
            </a:solidFill>
            <a:prstDash val="solid"/>
          </a:ln>
          <a:effectLst>
            <a:outerShdw sx="100000" sy="100000" kx="0" ky="0" algn="bl" rotWithShape="0" blurRad="101600" dist="25400" dir="5400000">
              <a:srgbClr val="9AA9A0">
                <a:alpha val="22000"/>
              </a:srgbClr>
            </a:outerShdw>
          </a:effectLst>
        </p:spPr>
      </p:sp>
      <p:sp>
        <p:nvSpPr>
          <p:cNvPr id="43" name="Text 41"/>
          <p:cNvSpPr/>
          <p:nvPr/>
        </p:nvSpPr>
        <p:spPr>
          <a:xfrm>
            <a:off x="9628632" y="4142232"/>
            <a:ext cx="1920240" cy="685800"/>
          </a:xfrm>
          <a:prstGeom prst="rect">
            <a:avLst/>
          </a:prstGeom>
          <a:noFill/>
          <a:ln/>
        </p:spPr>
        <p:txBody>
          <a:bodyPr wrap="square" lIns="508" tIns="508" rIns="508" bIns="508" rtlCol="0" anchor="ctr"/>
          <a:lstStyle/>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iManage</a:t>
            </a:r>
            <a:endParaRPr lang="en-US" sz="1000" dirty="0"/>
          </a:p>
          <a:p>
            <a:pPr algn="ctr" indent="0" marL="0">
              <a:lnSpc>
                <a:spcPts val="1250"/>
              </a:lnSpc>
              <a:buNone/>
            </a:pPr>
            <a:r>
              <a:rPr lang="en-US" sz="1000" b="1" dirty="0">
                <a:solidFill>
                  <a:srgbClr val="FFFFFF"/>
                </a:solidFill>
                <a:latin typeface="Arial" pitchFamily="34" charset="0"/>
                <a:ea typeface="Arial" pitchFamily="34" charset="-122"/>
                <a:cs typeface="Arial" pitchFamily="34" charset="-120"/>
              </a:rPr>
              <a:t>migration waves</a:t>
            </a:r>
            <a:endParaRPr lang="en-US" sz="1000" dirty="0"/>
          </a:p>
        </p:txBody>
      </p:sp>
      <p:sp>
        <p:nvSpPr>
          <p:cNvPr id="44" name="Shape 42"/>
          <p:cNvSpPr/>
          <p:nvPr/>
        </p:nvSpPr>
        <p:spPr>
          <a:xfrm>
            <a:off x="502920" y="5029200"/>
            <a:ext cx="3529584" cy="1371600"/>
          </a:xfrm>
          <a:prstGeom prst="roundRect">
            <a:avLst>
              <a:gd name="adj" fmla="val 4000"/>
            </a:avLst>
          </a:prstGeom>
          <a:solidFill>
            <a:srgbClr val="FFFFFF"/>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45" name="Text 43"/>
          <p:cNvSpPr/>
          <p:nvPr/>
        </p:nvSpPr>
        <p:spPr>
          <a:xfrm>
            <a:off x="704088" y="5102352"/>
            <a:ext cx="3154680" cy="237744"/>
          </a:xfrm>
          <a:prstGeom prst="rect">
            <a:avLst/>
          </a:prstGeom>
          <a:noFill/>
          <a:ln/>
        </p:spPr>
        <p:txBody>
          <a:bodyPr wrap="square" lIns="0" tIns="0" rIns="0" bIns="0" rtlCol="0" anchor="ctr"/>
          <a:lstStyle/>
          <a:p>
            <a:pPr indent="0" marL="0">
              <a:buNone/>
            </a:pPr>
            <a:r>
              <a:rPr lang="en-US" sz="1150" b="1" dirty="0">
                <a:solidFill>
                  <a:srgbClr val="00432A"/>
                </a:solidFill>
                <a:latin typeface="Arial" pitchFamily="34" charset="0"/>
                <a:ea typeface="Arial" pitchFamily="34" charset="-122"/>
                <a:cs typeface="Arial" pitchFamily="34" charset="-120"/>
              </a:rPr>
              <a:t>Why not Data Factory here</a:t>
            </a:r>
            <a:endParaRPr lang="en-US" sz="1150" dirty="0"/>
          </a:p>
        </p:txBody>
      </p:sp>
      <p:sp>
        <p:nvSpPr>
          <p:cNvPr id="46" name="Text 44"/>
          <p:cNvSpPr/>
          <p:nvPr/>
        </p:nvSpPr>
        <p:spPr>
          <a:xfrm>
            <a:off x="704088" y="5349240"/>
            <a:ext cx="3154680" cy="960120"/>
          </a:xfrm>
          <a:prstGeom prst="rect">
            <a:avLst/>
          </a:prstGeom>
          <a:noFill/>
          <a:ln/>
        </p:spPr>
        <p:txBody>
          <a:bodyPr wrap="square" lIns="0" tIns="0" rIns="0" bIns="0" rtlCol="0" anchor="t"/>
          <a:lstStyle/>
          <a:p>
            <a:pPr indent="0" marL="0">
              <a:lnSpc>
                <a:spcPts val="1200"/>
              </a:lnSpc>
              <a:buNone/>
            </a:pPr>
            <a:r>
              <a:rPr lang="en-US" sz="950" dirty="0">
                <a:solidFill>
                  <a:srgbClr val="16211C"/>
                </a:solidFill>
                <a:latin typeface="Calibri" pitchFamily="34" charset="0"/>
                <a:ea typeface="Calibri" pitchFamily="34" charset="-122"/>
                <a:cs typeface="Calibri" pitchFamily="34" charset="-120"/>
              </a:rPr>
              <a:t>A 2–5 minute poll is ~20,000 pipeline runs a month, most finding nothing, with runs overlapping whenever a downstream is slow. Data Factory retries activities, not records, so per-matter status, retry and replay end up hand-built in SQL.</a:t>
            </a:r>
            <a:endParaRPr lang="en-US" sz="950" dirty="0"/>
          </a:p>
        </p:txBody>
      </p:sp>
      <p:sp>
        <p:nvSpPr>
          <p:cNvPr id="47" name="Shape 45"/>
          <p:cNvSpPr/>
          <p:nvPr/>
        </p:nvSpPr>
        <p:spPr>
          <a:xfrm>
            <a:off x="4279392" y="5029200"/>
            <a:ext cx="3529584" cy="1371600"/>
          </a:xfrm>
          <a:prstGeom prst="roundRect">
            <a:avLst>
              <a:gd name="adj" fmla="val 4000"/>
            </a:avLst>
          </a:prstGeom>
          <a:solidFill>
            <a:srgbClr val="E4EEF2"/>
          </a:solidFill>
          <a:ln w="12700">
            <a:solidFill>
              <a:srgbClr val="E4EEF2"/>
            </a:solidFill>
            <a:prstDash val="solid"/>
          </a:ln>
          <a:effectLst>
            <a:outerShdw sx="100000" sy="100000" kx="0" ky="0" algn="bl" rotWithShape="0" blurRad="101600" dist="25400" dir="5400000">
              <a:srgbClr val="9AA9A0">
                <a:alpha val="22000"/>
              </a:srgbClr>
            </a:outerShdw>
          </a:effectLst>
        </p:spPr>
      </p:sp>
      <p:sp>
        <p:nvSpPr>
          <p:cNvPr id="48" name="Text 46"/>
          <p:cNvSpPr/>
          <p:nvPr/>
        </p:nvSpPr>
        <p:spPr>
          <a:xfrm>
            <a:off x="4480560" y="5102352"/>
            <a:ext cx="3154680" cy="237744"/>
          </a:xfrm>
          <a:prstGeom prst="rect">
            <a:avLst/>
          </a:prstGeom>
          <a:noFill/>
          <a:ln/>
        </p:spPr>
        <p:txBody>
          <a:bodyPr wrap="square" lIns="0" tIns="0" rIns="0" bIns="0" rtlCol="0" anchor="ctr"/>
          <a:lstStyle/>
          <a:p>
            <a:pPr indent="0" marL="0">
              <a:buNone/>
            </a:pPr>
            <a:r>
              <a:rPr lang="en-US" sz="1150" b="1" dirty="0">
                <a:solidFill>
                  <a:srgbClr val="00432A"/>
                </a:solidFill>
                <a:latin typeface="Arial" pitchFamily="34" charset="0"/>
                <a:ea typeface="Arial" pitchFamily="34" charset="-122"/>
                <a:cs typeface="Arial" pitchFamily="34" charset="-120"/>
              </a:rPr>
              <a:t>Why there is no API gateway</a:t>
            </a:r>
            <a:endParaRPr lang="en-US" sz="1150" dirty="0"/>
          </a:p>
        </p:txBody>
      </p:sp>
      <p:sp>
        <p:nvSpPr>
          <p:cNvPr id="49" name="Text 47"/>
          <p:cNvSpPr/>
          <p:nvPr/>
        </p:nvSpPr>
        <p:spPr>
          <a:xfrm>
            <a:off x="4480560" y="5349240"/>
            <a:ext cx="3154680" cy="960120"/>
          </a:xfrm>
          <a:prstGeom prst="rect">
            <a:avLst/>
          </a:prstGeom>
          <a:noFill/>
          <a:ln/>
        </p:spPr>
        <p:txBody>
          <a:bodyPr wrap="square" lIns="0" tIns="0" rIns="0" bIns="0" rtlCol="0" anchor="t"/>
          <a:lstStyle/>
          <a:p>
            <a:pPr indent="0" marL="0">
              <a:lnSpc>
                <a:spcPts val="1200"/>
              </a:lnSpc>
              <a:buNone/>
            </a:pPr>
            <a:r>
              <a:rPr lang="en-US" sz="950" dirty="0">
                <a:solidFill>
                  <a:srgbClr val="16211C"/>
                </a:solidFill>
                <a:latin typeface="Calibri" pitchFamily="34" charset="0"/>
                <a:ea typeface="Calibri" pitchFamily="34" charset="-122"/>
                <a:cs typeface="Calibri" pitchFamily="34" charset="-120"/>
              </a:rPr>
              <a:t>API Management was in the vendor's reference design to front a 'Sync Matter' button in the iManage UI. iManage cannot make outbound calls, so nothing calls in. It has been removed from the design, the PID and the security review.</a:t>
            </a:r>
            <a:endParaRPr lang="en-US" sz="950" dirty="0"/>
          </a:p>
        </p:txBody>
      </p:sp>
      <p:sp>
        <p:nvSpPr>
          <p:cNvPr id="50" name="Shape 48"/>
          <p:cNvSpPr/>
          <p:nvPr/>
        </p:nvSpPr>
        <p:spPr>
          <a:xfrm>
            <a:off x="8055864" y="5029200"/>
            <a:ext cx="3529584" cy="1371600"/>
          </a:xfrm>
          <a:prstGeom prst="roundRect">
            <a:avLst>
              <a:gd name="adj" fmla="val 4000"/>
            </a:avLst>
          </a:prstGeom>
          <a:solidFill>
            <a:srgbClr val="EAF3EA"/>
          </a:solidFill>
          <a:ln w="12700">
            <a:solidFill>
              <a:srgbClr val="EAF3EA"/>
            </a:solidFill>
            <a:prstDash val="solid"/>
          </a:ln>
          <a:effectLst>
            <a:outerShdw sx="100000" sy="100000" kx="0" ky="0" algn="bl" rotWithShape="0" blurRad="101600" dist="25400" dir="5400000">
              <a:srgbClr val="9AA9A0">
                <a:alpha val="22000"/>
              </a:srgbClr>
            </a:outerShdw>
          </a:effectLst>
        </p:spPr>
      </p:sp>
      <p:sp>
        <p:nvSpPr>
          <p:cNvPr id="51" name="Text 49"/>
          <p:cNvSpPr/>
          <p:nvPr/>
        </p:nvSpPr>
        <p:spPr>
          <a:xfrm>
            <a:off x="8257032" y="5102352"/>
            <a:ext cx="3154680" cy="237744"/>
          </a:xfrm>
          <a:prstGeom prst="rect">
            <a:avLst/>
          </a:prstGeom>
          <a:noFill/>
          <a:ln/>
        </p:spPr>
        <p:txBody>
          <a:bodyPr wrap="square" lIns="0" tIns="0" rIns="0" bIns="0" rtlCol="0" anchor="ctr"/>
          <a:lstStyle/>
          <a:p>
            <a:pPr indent="0" marL="0">
              <a:buNone/>
            </a:pPr>
            <a:r>
              <a:rPr lang="en-US" sz="1150" b="1" dirty="0">
                <a:solidFill>
                  <a:srgbClr val="00432A"/>
                </a:solidFill>
                <a:latin typeface="Arial" pitchFamily="34" charset="0"/>
                <a:ea typeface="Arial" pitchFamily="34" charset="-122"/>
                <a:cs typeface="Arial" pitchFamily="34" charset="-120"/>
              </a:rPr>
              <a:t>On the Data Factory familiarity point</a:t>
            </a:r>
            <a:endParaRPr lang="en-US" sz="1150" dirty="0"/>
          </a:p>
        </p:txBody>
      </p:sp>
      <p:sp>
        <p:nvSpPr>
          <p:cNvPr id="52" name="Text 50"/>
          <p:cNvSpPr/>
          <p:nvPr/>
        </p:nvSpPr>
        <p:spPr>
          <a:xfrm>
            <a:off x="8257032" y="5349240"/>
            <a:ext cx="3154680" cy="960120"/>
          </a:xfrm>
          <a:prstGeom prst="rect">
            <a:avLst/>
          </a:prstGeom>
          <a:noFill/>
          <a:ln/>
        </p:spPr>
        <p:txBody>
          <a:bodyPr wrap="square" lIns="0" tIns="0" rIns="0" bIns="0" rtlCol="0" anchor="t"/>
          <a:lstStyle/>
          <a:p>
            <a:pPr indent="0" marL="0">
              <a:lnSpc>
                <a:spcPts val="1200"/>
              </a:lnSpc>
              <a:buNone/>
            </a:pPr>
            <a:r>
              <a:rPr lang="en-US" sz="950" dirty="0">
                <a:solidFill>
                  <a:srgbClr val="16211C"/>
                </a:solidFill>
                <a:latin typeface="Calibri" pitchFamily="34" charset="0"/>
                <a:ea typeface="Calibri" pitchFamily="34" charset="-122"/>
                <a:cs typeface="Calibri" pitchFamily="34" charset="-120"/>
              </a:rPr>
              <a:t>Data Factory is still the right tool for the Team Connect migration, so that skill stays in use on this project. The gap is Azure Functions and C# capability for the integration.</a:t>
            </a:r>
            <a:endParaRPr lang="en-US" sz="950" dirty="0"/>
          </a:p>
        </p:txBody>
      </p:sp>
      <p:sp>
        <p:nvSpPr>
          <p:cNvPr id="53" name="Text 51"/>
          <p:cNvSpPr/>
          <p:nvPr/>
        </p:nvSpPr>
        <p:spPr>
          <a:xfrm>
            <a:off x="502920" y="6473952"/>
            <a:ext cx="8229600" cy="237744"/>
          </a:xfrm>
          <a:prstGeom prst="rect">
            <a:avLst/>
          </a:prstGeom>
          <a:noFill/>
          <a:ln/>
        </p:spPr>
        <p:txBody>
          <a:bodyPr wrap="square" lIns="0" tIns="0" rIns="0" bIns="0" rtlCol="0" anchor="ctr"/>
          <a:lstStyle/>
          <a:p>
            <a:pPr indent="0" marL="0">
              <a:buNone/>
            </a:pPr>
            <a:r>
              <a:rPr lang="en-US" sz="900" dirty="0">
                <a:solidFill>
                  <a:srgbClr val="5F6F68"/>
                </a:solidFill>
                <a:latin typeface="Calibri" pitchFamily="34" charset="0"/>
                <a:ea typeface="Calibri" pitchFamily="34" charset="-122"/>
                <a:cs typeface="Calibri" pitchFamily="34" charset="-120"/>
              </a:rPr>
              <a:t>iManage Integration Module  |  Technology Solutions</a:t>
            </a:r>
            <a:endParaRPr lang="en-US" sz="900" dirty="0"/>
          </a:p>
        </p:txBody>
      </p:sp>
      <p:sp>
        <p:nvSpPr>
          <p:cNvPr id="54" name="Text 52"/>
          <p:cNvSpPr/>
          <p:nvPr/>
        </p:nvSpPr>
        <p:spPr>
          <a:xfrm>
            <a:off x="11274552" y="6473952"/>
            <a:ext cx="411480" cy="237744"/>
          </a:xfrm>
          <a:prstGeom prst="rect">
            <a:avLst/>
          </a:prstGeom>
          <a:noFill/>
          <a:ln/>
        </p:spPr>
        <p:txBody>
          <a:bodyPr wrap="square" lIns="0" tIns="0" rIns="0" bIns="0" rtlCol="0" anchor="ctr"/>
          <a:lstStyle/>
          <a:p>
            <a:pPr algn="r" indent="0" marL="0">
              <a:buNone/>
            </a:pPr>
            <a:r>
              <a:rPr lang="en-US" sz="900" dirty="0">
                <a:solidFill>
                  <a:srgbClr val="5F6F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08A00"/>
                </a:solidFill>
                <a:latin typeface="Arial" pitchFamily="34" charset="0"/>
                <a:ea typeface="Arial" pitchFamily="34" charset="-122"/>
                <a:cs typeface="Arial" pitchFamily="34" charset="-120"/>
              </a:rPr>
              <a:t>WORK STEPS  ·  1 OF 2</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2700" b="1" dirty="0">
                <a:solidFill>
                  <a:srgbClr val="00432A"/>
                </a:solidFill>
                <a:latin typeface="Arial" pitchFamily="34" charset="0"/>
                <a:ea typeface="Arial" pitchFamily="34" charset="-122"/>
                <a:cs typeface="Arial" pitchFamily="34" charset="-120"/>
              </a:rPr>
              <a:t>Design and environment setup</a:t>
            </a:r>
            <a:endParaRPr lang="en-US" sz="2700" dirty="0"/>
          </a:p>
        </p:txBody>
      </p:sp>
      <p:sp>
        <p:nvSpPr>
          <p:cNvPr id="4" name="Text 2"/>
          <p:cNvSpPr/>
          <p:nvPr/>
        </p:nvSpPr>
        <p:spPr>
          <a:xfrm>
            <a:off x="502920" y="1133856"/>
            <a:ext cx="11155680" cy="310896"/>
          </a:xfrm>
          <a:prstGeom prst="rect">
            <a:avLst/>
          </a:prstGeom>
          <a:noFill/>
          <a:ln/>
        </p:spPr>
        <p:txBody>
          <a:bodyPr wrap="square" lIns="0" tIns="0" rIns="0" bIns="0" rtlCol="0" anchor="ctr"/>
          <a:lstStyle/>
          <a:p>
            <a:pPr indent="0" marL="0">
              <a:buNone/>
            </a:pPr>
            <a:r>
              <a:rPr lang="en-US" sz="1300" dirty="0">
                <a:solidFill>
                  <a:srgbClr val="5F6F68"/>
                </a:solidFill>
                <a:latin typeface="Calibri" pitchFamily="34" charset="0"/>
                <a:ea typeface="Calibri" pitchFamily="34" charset="-122"/>
                <a:cs typeface="Calibri" pitchFamily="34" charset="-120"/>
              </a:rPr>
              <a:t>Identical in both build options. Kroll is the iManage subject-matter expert throughout design.</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627632"/>
          <a:ext cx="11183112" cy="914400"/>
        </p:xfrm>
        <a:graphic>
          <a:graphicData uri="http://schemas.openxmlformats.org/drawingml/2006/table">
            <a:tbl>
              <a:tblPr/>
              <a:tblGrid>
                <a:gridCol w="5394960"/>
                <a:gridCol w="2286000"/>
                <a:gridCol w="1234440"/>
                <a:gridCol w="2267712"/>
              </a:tblGrid>
              <a:tr h="356616">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Step</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Owner</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Elapsed</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Gate / dependency</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r>
              <a:tr h="356616">
                <a:tc gridSpan="4">
                  <a:txBody>
                    <a:bodyPr/>
                    <a:lstStyle/>
                    <a:p>
                      <a:pPr indent="0" marL="0">
                        <a:buNone/>
                      </a:pPr>
                      <a:r>
                        <a:rPr lang="en-US" sz="1000" b="1" dirty="0">
                          <a:solidFill>
                            <a:srgbClr val="00432A"/>
                          </a:solidFill>
                          <a:latin typeface="Arial" pitchFamily="34" charset="0"/>
                          <a:ea typeface="Arial" pitchFamily="34" charset="-122"/>
                          <a:cs typeface="Arial" pitchFamily="34" charset="-120"/>
                        </a:rPr>
                        <a:t>DESIGN AND DISCOVERY   (4–6 weeks)</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hMerge="1">
                  <a:tcPr/>
                </a:tc>
                <a:tc hMerge="1">
                  <a:tcPr/>
                </a:tc>
                <a:tc hMerge="1">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Confirm integration scope and downstream requirements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TD BA + app teams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2–3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Project kickoff</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iManage API discovery: endpoints, auth, rate limits, 'ready' state detection</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Kroll (SME) + TD</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1.5–3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Kroll SME access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Field-level mapping: iManage to canonical model to Exterro / TyMetrix</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TD + Kroll + vendors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2–3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Scope, API discovery</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Solution design: polling, watermark, idempotency, retry, replay</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TD Architecture + Kroll</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2–3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API discovery</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Architecture review and design sign-off</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TD Architecture</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2–3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Solution design</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gridSpan="4">
                  <a:txBody>
                    <a:bodyPr/>
                    <a:lstStyle/>
                    <a:p>
                      <a:pPr indent="0" marL="0">
                        <a:buNone/>
                      </a:pPr>
                      <a:r>
                        <a:rPr lang="en-US" sz="1000" b="1" dirty="0">
                          <a:solidFill>
                            <a:srgbClr val="00432A"/>
                          </a:solidFill>
                          <a:latin typeface="Arial" pitchFamily="34" charset="0"/>
                          <a:ea typeface="Arial" pitchFamily="34" charset="-122"/>
                          <a:cs typeface="Arial" pitchFamily="34" charset="-120"/>
                        </a:rPr>
                        <a:t>AZURE ENVIRONMENT SETUP   (9–16 weeks · starts at week 1, alongside design and the build)</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hMerge="1">
                  <a:tcPr/>
                </a:tc>
                <a:tc hMerge="1">
                  <a:tcPr/>
                </a:tc>
                <a:tc hMerge="1">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IAP submission, PID production, architecture review</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TD Infra + IA + Cloud</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2–3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Funded project</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Cloud CSP security review: Cloud, Network and Privacy teams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Security / Network / Privacy</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3–4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PID issued</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Cloud profile onboarding, CIDR allocation, AD group provisioning</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Cloud + Network + IAM</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2–3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Reviews passed</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Firewall requests and ARE deployment: PAT then PROD</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Network + ARE</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3–4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CIDR approved</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356616">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Key Vault, managed identity, monitoring, connectivity proving</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TD Infrastructure</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1–2 wks</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00" dirty="0">
                          <a:solidFill>
                            <a:srgbClr val="16211C"/>
                          </a:solidFill>
                          <a:latin typeface="Calibri" pitchFamily="34" charset="0"/>
                          <a:ea typeface="Calibri" pitchFamily="34" charset="-122"/>
                          <a:cs typeface="Calibri" pitchFamily="34" charset="-120"/>
                        </a:rPr>
                        <a:t>ARE deployment</a:t>
                      </a:r>
                      <a:endParaRPr lang="en-US" sz="100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bl>
          </a:graphicData>
        </a:graphic>
      </p:graphicFrame>
      <p:sp>
        <p:nvSpPr>
          <p:cNvPr id="6" name="Text 3"/>
          <p:cNvSpPr/>
          <p:nvPr/>
        </p:nvSpPr>
        <p:spPr>
          <a:xfrm>
            <a:off x="502920" y="6473952"/>
            <a:ext cx="8229600" cy="237744"/>
          </a:xfrm>
          <a:prstGeom prst="rect">
            <a:avLst/>
          </a:prstGeom>
          <a:noFill/>
          <a:ln/>
        </p:spPr>
        <p:txBody>
          <a:bodyPr wrap="square" lIns="0" tIns="0" rIns="0" bIns="0" rtlCol="0" anchor="ctr"/>
          <a:lstStyle/>
          <a:p>
            <a:pPr indent="0" marL="0">
              <a:buNone/>
            </a:pPr>
            <a:r>
              <a:rPr lang="en-US" sz="900" dirty="0">
                <a:solidFill>
                  <a:srgbClr val="5F6F68"/>
                </a:solidFill>
                <a:latin typeface="Calibri" pitchFamily="34" charset="0"/>
                <a:ea typeface="Calibri" pitchFamily="34" charset="-122"/>
                <a:cs typeface="Calibri" pitchFamily="34" charset="-120"/>
              </a:rPr>
              <a:t>iManage Integration Module  |  Technology Solutions</a:t>
            </a:r>
            <a:endParaRPr lang="en-US" sz="900" dirty="0"/>
          </a:p>
        </p:txBody>
      </p:sp>
      <p:sp>
        <p:nvSpPr>
          <p:cNvPr id="7" name="Text 4"/>
          <p:cNvSpPr/>
          <p:nvPr/>
        </p:nvSpPr>
        <p:spPr>
          <a:xfrm>
            <a:off x="11274552" y="6473952"/>
            <a:ext cx="411480" cy="237744"/>
          </a:xfrm>
          <a:prstGeom prst="rect">
            <a:avLst/>
          </a:prstGeom>
          <a:noFill/>
          <a:ln/>
        </p:spPr>
        <p:txBody>
          <a:bodyPr wrap="square" lIns="0" tIns="0" rIns="0" bIns="0" rtlCol="0" anchor="ctr"/>
          <a:lstStyle/>
          <a:p>
            <a:pPr algn="r" indent="0" marL="0">
              <a:buNone/>
            </a:pPr>
            <a:r>
              <a:rPr lang="en-US" sz="900" dirty="0">
                <a:solidFill>
                  <a:srgbClr val="5F6F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08A00"/>
                </a:solidFill>
                <a:latin typeface="Arial" pitchFamily="34" charset="0"/>
                <a:ea typeface="Arial" pitchFamily="34" charset="-122"/>
                <a:cs typeface="Arial" pitchFamily="34" charset="-120"/>
              </a:rPr>
              <a:t>WORK STEPS  ·  2 OF 2</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2700" b="1" dirty="0">
                <a:solidFill>
                  <a:srgbClr val="00432A"/>
                </a:solidFill>
                <a:latin typeface="Arial" pitchFamily="34" charset="0"/>
                <a:ea typeface="Arial" pitchFamily="34" charset="-122"/>
                <a:cs typeface="Arial" pitchFamily="34" charset="-120"/>
              </a:rPr>
              <a:t>Development, handover, deployment and support</a:t>
            </a:r>
            <a:endParaRPr lang="en-US" sz="2700" dirty="0"/>
          </a:p>
        </p:txBody>
      </p:sp>
      <p:sp>
        <p:nvSpPr>
          <p:cNvPr id="4" name="Text 2"/>
          <p:cNvSpPr/>
          <p:nvPr/>
        </p:nvSpPr>
        <p:spPr>
          <a:xfrm>
            <a:off x="502920" y="1133856"/>
            <a:ext cx="11155680" cy="310896"/>
          </a:xfrm>
          <a:prstGeom prst="rect">
            <a:avLst/>
          </a:prstGeom>
          <a:noFill/>
          <a:ln/>
        </p:spPr>
        <p:txBody>
          <a:bodyPr wrap="square" lIns="0" tIns="0" rIns="0" bIns="0" rtlCol="0" anchor="ctr"/>
          <a:lstStyle/>
          <a:p>
            <a:pPr indent="0" marL="0">
              <a:buNone/>
            </a:pPr>
            <a:r>
              <a:rPr lang="en-US" sz="1300" dirty="0">
                <a:solidFill>
                  <a:srgbClr val="5F6F68"/>
                </a:solidFill>
                <a:latin typeface="Calibri" pitchFamily="34" charset="0"/>
                <a:ea typeface="Calibri" pitchFamily="34" charset="-122"/>
                <a:cs typeface="Calibri" pitchFamily="34" charset="-120"/>
              </a:rPr>
              <a:t>Development is the only phase the build decision changes. Handover applies only if Kroll builds.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183112" cy="914400"/>
        </p:xfrm>
        <a:graphic>
          <a:graphicData uri="http://schemas.openxmlformats.org/drawingml/2006/table">
            <a:tbl>
              <a:tblPr/>
              <a:tblGrid>
                <a:gridCol w="5852160"/>
                <a:gridCol w="2468880"/>
                <a:gridCol w="1234440"/>
                <a:gridCol w="1627632"/>
              </a:tblGrid>
              <a:tr h="254203">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Step</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Owner</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Elapsed</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Applies to</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r>
              <a:tr h="254203">
                <a:tc gridSpan="4">
                  <a:txBody>
                    <a:bodyPr/>
                    <a:lstStyle/>
                    <a:p>
                      <a:pPr indent="0" marL="0">
                        <a:buNone/>
                      </a:pPr>
                      <a:r>
                        <a:rPr lang="en-US" sz="1000" b="1" dirty="0">
                          <a:solidFill>
                            <a:srgbClr val="00432A"/>
                          </a:solidFill>
                          <a:latin typeface="Arial" pitchFamily="34" charset="0"/>
                          <a:ea typeface="Arial" pitchFamily="34" charset="-122"/>
                          <a:cs typeface="Arial" pitchFamily="34" charset="-120"/>
                        </a:rPr>
                        <a:t>CODE DEVELOPMENT   (TD 8–10 weeks · Kroll 4–5 weeks · runs in parallel with the environment setup)</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hMerge="1">
                  <a:tcPr/>
                </a:tc>
                <a:tc hMerge="1">
                  <a:tcPr/>
                </a:tc>
                <a:tc hMerge="1">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Repository, CI/CD pipeline and infrastructure-as-code templates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1.5–2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TD-owned either way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iManage poller: 2–5 min timer, watermark, throttling, concurrency guard</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 or Kroll</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2–3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Differs by option</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Canonical matter model, normalizer and validation rules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 or Kroll</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1.5–2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Differs by option</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Service Bus topic, subscriptions, dead-letter and retry policy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 or Kroll</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0.5–1 wk</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Differs by option</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Exterro adapter and TyMetrix adapter: mapping, API calls, retry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 or Kroll</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3–4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Differs by option</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Integration state store: per-matter status, idempotency, replay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 or Kroll</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1–1.5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Differs by option</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Monitoring instrumentation, dashboards and runbooks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1–1.5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TD-owned either way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gridSpan="4">
                  <a:txBody>
                    <a:bodyPr/>
                    <a:lstStyle/>
                    <a:p>
                      <a:pPr indent="0" marL="0">
                        <a:buNone/>
                      </a:pPr>
                      <a:r>
                        <a:rPr lang="en-US" sz="1000" b="1" dirty="0">
                          <a:solidFill>
                            <a:srgbClr val="B26A00"/>
                          </a:solidFill>
                          <a:latin typeface="Arial" pitchFamily="34" charset="0"/>
                          <a:ea typeface="Arial" pitchFamily="34" charset="-122"/>
                          <a:cs typeface="Arial" pitchFamily="34" charset="-120"/>
                        </a:rPr>
                        <a:t>HANDOVER TO TD   (2–3 weeks · Kroll option only · Kroll has no access to TD systems)</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FBEFD9"/>
                    </a:solidFill>
                  </a:tcPr>
                </a:tc>
                <a:tc hMerge="1">
                  <a:tcPr/>
                </a:tc>
                <a:tc hMerge="1">
                  <a:tcPr/>
                </a:tc>
                <a:tc hMerge="1">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Kroll delivers the source code with build and deployment documentation</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Kroll</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0.5–1 wk</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b="1" dirty="0">
                          <a:solidFill>
                            <a:srgbClr val="B26A00"/>
                          </a:solidFill>
                          <a:latin typeface="Calibri" pitchFamily="34" charset="0"/>
                          <a:ea typeface="Calibri" pitchFamily="34" charset="-122"/>
                          <a:cs typeface="Calibri" pitchFamily="34" charset="-120"/>
                        </a:rPr>
                        <a:t>Kroll option only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code review and security scanning (SAST, SCA, licence)</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 + Security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1–1.5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b="1" dirty="0">
                          <a:solidFill>
                            <a:srgbClr val="B26A00"/>
                          </a:solidFill>
                          <a:latin typeface="Calibri" pitchFamily="34" charset="0"/>
                          <a:ea typeface="Calibri" pitchFamily="34" charset="-122"/>
                          <a:cs typeface="Calibri" pitchFamily="34" charset="-120"/>
                        </a:rPr>
                        <a:t>Kroll option only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Reconfigure for the TD environment: config, secrets to Key Vault, pipeline</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1–1.5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b="1" dirty="0">
                          <a:solidFill>
                            <a:srgbClr val="B26A00"/>
                          </a:solidFill>
                          <a:latin typeface="Calibri" pitchFamily="34" charset="0"/>
                          <a:ea typeface="Calibri" pitchFamily="34" charset="-122"/>
                          <a:cs typeface="Calibri" pitchFamily="34" charset="-120"/>
                        </a:rPr>
                        <a:t>Kroll option only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Knowledge transfer, with Kroll available to consult</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Kroll to TD</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1–1.5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b="1" dirty="0">
                          <a:solidFill>
                            <a:srgbClr val="B26A00"/>
                          </a:solidFill>
                          <a:latin typeface="Calibri" pitchFamily="34" charset="0"/>
                          <a:ea typeface="Calibri" pitchFamily="34" charset="-122"/>
                          <a:cs typeface="Calibri" pitchFamily="34" charset="-120"/>
                        </a:rPr>
                        <a:t>Kroll option only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gridSpan="4">
                  <a:txBody>
                    <a:bodyPr/>
                    <a:lstStyle/>
                    <a:p>
                      <a:pPr indent="0" marL="0">
                        <a:buNone/>
                      </a:pPr>
                      <a:r>
                        <a:rPr lang="en-US" sz="1000" b="1" dirty="0">
                          <a:solidFill>
                            <a:srgbClr val="00432A"/>
                          </a:solidFill>
                          <a:latin typeface="Arial" pitchFamily="34" charset="0"/>
                          <a:ea typeface="Arial" pitchFamily="34" charset="-122"/>
                          <a:cs typeface="Arial" pitchFamily="34" charset="-120"/>
                        </a:rPr>
                        <a:t>DEPLOYMENT, TESTING AND SUPPORT   (7–9 weeks to go-live, plus 4 weeks hypercare · TD-owned in both options)</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hMerge="1">
                  <a:tcPr/>
                </a:tc>
                <a:tc hMerge="1">
                  <a:tcPr/>
                </a:tc>
                <a:tc hMerge="1">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Deploy to PAT and PROD through ARE, with CAB approval and cutover</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 + ARE</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2–3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Both options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Testing: component, end-to-end with Exterro and TyMetrix, resilience, security</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QA + vendors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4–5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Both options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UAT and business sign-off</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Business + TD</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2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Both options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254203">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Hypercare, runbooks and transition to the run team  (after go-live)</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TD Dev + Run team</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4 wks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950" dirty="0">
                          <a:solidFill>
                            <a:srgbClr val="16211C"/>
                          </a:solidFill>
                          <a:latin typeface="Calibri" pitchFamily="34" charset="0"/>
                          <a:ea typeface="Calibri" pitchFamily="34" charset="-122"/>
                          <a:cs typeface="Calibri" pitchFamily="34" charset="-120"/>
                        </a:rPr>
                        <a:t>Both options</a:t>
                      </a:r>
                      <a:endParaRPr lang="en-US" sz="9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bl>
          </a:graphicData>
        </a:graphic>
      </p:graphicFrame>
      <p:sp>
        <p:nvSpPr>
          <p:cNvPr id="6" name="Text 3"/>
          <p:cNvSpPr/>
          <p:nvPr/>
        </p:nvSpPr>
        <p:spPr>
          <a:xfrm>
            <a:off x="502920" y="6473952"/>
            <a:ext cx="8229600" cy="237744"/>
          </a:xfrm>
          <a:prstGeom prst="rect">
            <a:avLst/>
          </a:prstGeom>
          <a:noFill/>
          <a:ln/>
        </p:spPr>
        <p:txBody>
          <a:bodyPr wrap="square" lIns="0" tIns="0" rIns="0" bIns="0" rtlCol="0" anchor="ctr"/>
          <a:lstStyle/>
          <a:p>
            <a:pPr indent="0" marL="0">
              <a:buNone/>
            </a:pPr>
            <a:r>
              <a:rPr lang="en-US" sz="900" dirty="0">
                <a:solidFill>
                  <a:srgbClr val="5F6F68"/>
                </a:solidFill>
                <a:latin typeface="Calibri" pitchFamily="34" charset="0"/>
                <a:ea typeface="Calibri" pitchFamily="34" charset="-122"/>
                <a:cs typeface="Calibri" pitchFamily="34" charset="-120"/>
              </a:rPr>
              <a:t>iManage Integration Module  |  Technology Solutions</a:t>
            </a:r>
            <a:endParaRPr lang="en-US" sz="900" dirty="0"/>
          </a:p>
        </p:txBody>
      </p:sp>
      <p:sp>
        <p:nvSpPr>
          <p:cNvPr id="7" name="Text 4"/>
          <p:cNvSpPr/>
          <p:nvPr/>
        </p:nvSpPr>
        <p:spPr>
          <a:xfrm>
            <a:off x="11274552" y="6473952"/>
            <a:ext cx="411480" cy="237744"/>
          </a:xfrm>
          <a:prstGeom prst="rect">
            <a:avLst/>
          </a:prstGeom>
          <a:noFill/>
          <a:ln/>
        </p:spPr>
        <p:txBody>
          <a:bodyPr wrap="square" lIns="0" tIns="0" rIns="0" bIns="0" rtlCol="0" anchor="ctr"/>
          <a:lstStyle/>
          <a:p>
            <a:pPr algn="r" indent="0" marL="0">
              <a:buNone/>
            </a:pPr>
            <a:r>
              <a:rPr lang="en-US" sz="900" dirty="0">
                <a:solidFill>
                  <a:srgbClr val="5F6F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08A00"/>
                </a:solidFill>
                <a:latin typeface="Arial" pitchFamily="34" charset="0"/>
                <a:ea typeface="Arial" pitchFamily="34" charset="-122"/>
                <a:cs typeface="Arial" pitchFamily="34" charset="-120"/>
              </a:rPr>
              <a:t>ENVIRONMENT SETUP</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2700" b="1" dirty="0">
                <a:solidFill>
                  <a:srgbClr val="00432A"/>
                </a:solidFill>
                <a:latin typeface="Arial" pitchFamily="34" charset="0"/>
                <a:ea typeface="Arial" pitchFamily="34" charset="-122"/>
                <a:cs typeface="Arial" pitchFamily="34" charset="-120"/>
              </a:rPr>
              <a:t>Azure environment: 2 to 4 months</a:t>
            </a:r>
            <a:endParaRPr lang="en-US" sz="2700" dirty="0"/>
          </a:p>
        </p:txBody>
      </p:sp>
      <p:sp>
        <p:nvSpPr>
          <p:cNvPr id="4" name="Text 2"/>
          <p:cNvSpPr/>
          <p:nvPr/>
        </p:nvSpPr>
        <p:spPr>
          <a:xfrm>
            <a:off x="502920" y="1133856"/>
            <a:ext cx="11155680" cy="310896"/>
          </a:xfrm>
          <a:prstGeom prst="rect">
            <a:avLst/>
          </a:prstGeom>
          <a:noFill/>
          <a:ln/>
        </p:spPr>
        <p:txBody>
          <a:bodyPr wrap="square" lIns="0" tIns="0" rIns="0" bIns="0" rtlCol="0" anchor="ctr"/>
          <a:lstStyle/>
          <a:p>
            <a:pPr indent="0" marL="0">
              <a:buNone/>
            </a:pPr>
            <a:r>
              <a:rPr lang="en-US" sz="1300" dirty="0">
                <a:solidFill>
                  <a:srgbClr val="5F6F68"/>
                </a:solidFill>
                <a:latin typeface="Calibri" pitchFamily="34" charset="0"/>
                <a:ea typeface="Calibri" pitchFamily="34" charset="-122"/>
                <a:cs typeface="Calibri" pitchFamily="34" charset="-120"/>
              </a:rPr>
              <a:t>This is the same whoever writes the code, and it is the largest single block of added time.</a:t>
            </a:r>
            <a:endParaRPr lang="en-US" sz="1300" dirty="0"/>
          </a:p>
        </p:txBody>
      </p:sp>
      <p:sp>
        <p:nvSpPr>
          <p:cNvPr id="5" name="Shape 3"/>
          <p:cNvSpPr/>
          <p:nvPr/>
        </p:nvSpPr>
        <p:spPr>
          <a:xfrm>
            <a:off x="502920" y="1664208"/>
            <a:ext cx="5486400" cy="429768"/>
          </a:xfrm>
          <a:prstGeom prst="roundRect">
            <a:avLst>
              <a:gd name="adj" fmla="val 10638"/>
            </a:avLst>
          </a:prstGeom>
          <a:solidFill>
            <a:srgbClr val="FFFFFF"/>
          </a:solidFill>
          <a:ln w="9525">
            <a:solidFill>
              <a:srgbClr val="C9D8CD"/>
            </a:solidFill>
            <a:prstDash val="solid"/>
          </a:ln>
        </p:spPr>
      </p:sp>
      <p:sp>
        <p:nvSpPr>
          <p:cNvPr id="6" name="Text 4"/>
          <p:cNvSpPr/>
          <p:nvPr/>
        </p:nvSpPr>
        <p:spPr>
          <a:xfrm>
            <a:off x="594360" y="166420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1</a:t>
            </a:r>
            <a:endParaRPr lang="en-US" sz="1100" dirty="0"/>
          </a:p>
        </p:txBody>
      </p:sp>
      <p:sp>
        <p:nvSpPr>
          <p:cNvPr id="7" name="Text 5"/>
          <p:cNvSpPr/>
          <p:nvPr/>
        </p:nvSpPr>
        <p:spPr>
          <a:xfrm>
            <a:off x="1005840" y="166420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Submit IAP · Infrastructure Architect assigned</a:t>
            </a:r>
            <a:endParaRPr lang="en-US" sz="1100" dirty="0"/>
          </a:p>
        </p:txBody>
      </p:sp>
      <p:sp>
        <p:nvSpPr>
          <p:cNvPr id="8" name="Text 6"/>
          <p:cNvSpPr/>
          <p:nvPr/>
        </p:nvSpPr>
        <p:spPr>
          <a:xfrm>
            <a:off x="4846320" y="166420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1 day</a:t>
            </a:r>
            <a:endParaRPr lang="en-US" sz="1050" dirty="0"/>
          </a:p>
        </p:txBody>
      </p:sp>
      <p:sp>
        <p:nvSpPr>
          <p:cNvPr id="9" name="Shape 7"/>
          <p:cNvSpPr/>
          <p:nvPr/>
        </p:nvSpPr>
        <p:spPr>
          <a:xfrm>
            <a:off x="502920" y="2167128"/>
            <a:ext cx="5486400" cy="429768"/>
          </a:xfrm>
          <a:prstGeom prst="roundRect">
            <a:avLst>
              <a:gd name="adj" fmla="val 10638"/>
            </a:avLst>
          </a:prstGeom>
          <a:solidFill>
            <a:srgbClr val="F5FAF6"/>
          </a:solidFill>
          <a:ln w="9525">
            <a:solidFill>
              <a:srgbClr val="C9D8CD"/>
            </a:solidFill>
            <a:prstDash val="solid"/>
          </a:ln>
        </p:spPr>
      </p:sp>
      <p:sp>
        <p:nvSpPr>
          <p:cNvPr id="10" name="Text 8"/>
          <p:cNvSpPr/>
          <p:nvPr/>
        </p:nvSpPr>
        <p:spPr>
          <a:xfrm>
            <a:off x="594360" y="216712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2</a:t>
            </a:r>
            <a:endParaRPr lang="en-US" sz="1100" dirty="0"/>
          </a:p>
        </p:txBody>
      </p:sp>
      <p:sp>
        <p:nvSpPr>
          <p:cNvPr id="11" name="Text 9"/>
          <p:cNvSpPr/>
          <p:nvPr/>
        </p:nvSpPr>
        <p:spPr>
          <a:xfrm>
            <a:off x="1005840" y="216712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IA and Cloud team produce the PID</a:t>
            </a:r>
            <a:endParaRPr lang="en-US" sz="1100" dirty="0"/>
          </a:p>
        </p:txBody>
      </p:sp>
      <p:sp>
        <p:nvSpPr>
          <p:cNvPr id="12" name="Text 10"/>
          <p:cNvSpPr/>
          <p:nvPr/>
        </p:nvSpPr>
        <p:spPr>
          <a:xfrm>
            <a:off x="4846320" y="216712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1–2 wks</a:t>
            </a:r>
            <a:endParaRPr lang="en-US" sz="1050" dirty="0"/>
          </a:p>
        </p:txBody>
      </p:sp>
      <p:sp>
        <p:nvSpPr>
          <p:cNvPr id="13" name="Shape 11"/>
          <p:cNvSpPr/>
          <p:nvPr/>
        </p:nvSpPr>
        <p:spPr>
          <a:xfrm>
            <a:off x="502920" y="2670048"/>
            <a:ext cx="5486400" cy="429768"/>
          </a:xfrm>
          <a:prstGeom prst="roundRect">
            <a:avLst>
              <a:gd name="adj" fmla="val 10638"/>
            </a:avLst>
          </a:prstGeom>
          <a:solidFill>
            <a:srgbClr val="FFFFFF"/>
          </a:solidFill>
          <a:ln w="9525">
            <a:solidFill>
              <a:srgbClr val="C9D8CD"/>
            </a:solidFill>
            <a:prstDash val="solid"/>
          </a:ln>
        </p:spPr>
      </p:sp>
      <p:sp>
        <p:nvSpPr>
          <p:cNvPr id="14" name="Text 12"/>
          <p:cNvSpPr/>
          <p:nvPr/>
        </p:nvSpPr>
        <p:spPr>
          <a:xfrm>
            <a:off x="594360" y="267004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3</a:t>
            </a:r>
            <a:endParaRPr lang="en-US" sz="1100" dirty="0"/>
          </a:p>
        </p:txBody>
      </p:sp>
      <p:sp>
        <p:nvSpPr>
          <p:cNvPr id="15" name="Text 13"/>
          <p:cNvSpPr/>
          <p:nvPr/>
        </p:nvSpPr>
        <p:spPr>
          <a:xfrm>
            <a:off x="1005840" y="267004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Architecture design review of the PID</a:t>
            </a:r>
            <a:endParaRPr lang="en-US" sz="1100" dirty="0"/>
          </a:p>
        </p:txBody>
      </p:sp>
      <p:sp>
        <p:nvSpPr>
          <p:cNvPr id="16" name="Text 14"/>
          <p:cNvSpPr/>
          <p:nvPr/>
        </p:nvSpPr>
        <p:spPr>
          <a:xfrm>
            <a:off x="4846320" y="267004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1–2 wks</a:t>
            </a:r>
            <a:endParaRPr lang="en-US" sz="1050" dirty="0"/>
          </a:p>
        </p:txBody>
      </p:sp>
      <p:sp>
        <p:nvSpPr>
          <p:cNvPr id="17" name="Shape 15"/>
          <p:cNvSpPr/>
          <p:nvPr/>
        </p:nvSpPr>
        <p:spPr>
          <a:xfrm>
            <a:off x="502920" y="3172968"/>
            <a:ext cx="5486400" cy="429768"/>
          </a:xfrm>
          <a:prstGeom prst="roundRect">
            <a:avLst>
              <a:gd name="adj" fmla="val 10638"/>
            </a:avLst>
          </a:prstGeom>
          <a:solidFill>
            <a:srgbClr val="FBEFD9"/>
          </a:solidFill>
          <a:ln w="9525">
            <a:solidFill>
              <a:srgbClr val="C9D8CD"/>
            </a:solidFill>
            <a:prstDash val="solid"/>
          </a:ln>
        </p:spPr>
      </p:sp>
      <p:sp>
        <p:nvSpPr>
          <p:cNvPr id="18" name="Text 16"/>
          <p:cNvSpPr/>
          <p:nvPr/>
        </p:nvSpPr>
        <p:spPr>
          <a:xfrm>
            <a:off x="594360" y="317296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4</a:t>
            </a:r>
            <a:endParaRPr lang="en-US" sz="1100" dirty="0"/>
          </a:p>
        </p:txBody>
      </p:sp>
      <p:sp>
        <p:nvSpPr>
          <p:cNvPr id="19" name="Text 17"/>
          <p:cNvSpPr/>
          <p:nvPr/>
        </p:nvSpPr>
        <p:spPr>
          <a:xfrm>
            <a:off x="1005840" y="317296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Cloud CSP review: Cloud, Network, Privacy</a:t>
            </a:r>
            <a:endParaRPr lang="en-US" sz="1100" dirty="0"/>
          </a:p>
        </p:txBody>
      </p:sp>
      <p:sp>
        <p:nvSpPr>
          <p:cNvPr id="20" name="Text 18"/>
          <p:cNvSpPr/>
          <p:nvPr/>
        </p:nvSpPr>
        <p:spPr>
          <a:xfrm>
            <a:off x="4846320" y="3172968"/>
            <a:ext cx="1051560" cy="429768"/>
          </a:xfrm>
          <a:prstGeom prst="rect">
            <a:avLst/>
          </a:prstGeom>
          <a:noFill/>
          <a:ln/>
        </p:spPr>
        <p:txBody>
          <a:bodyPr wrap="square" lIns="0" tIns="0" rIns="0" bIns="0" rtlCol="0" anchor="ctr"/>
          <a:lstStyle/>
          <a:p>
            <a:pPr algn="r" indent="0" marL="0">
              <a:buNone/>
            </a:pPr>
            <a:r>
              <a:rPr lang="en-US" sz="1050" b="1" dirty="0">
                <a:solidFill>
                  <a:srgbClr val="B26A00"/>
                </a:solidFill>
                <a:latin typeface="Arial" pitchFamily="34" charset="0"/>
                <a:ea typeface="Arial" pitchFamily="34" charset="-122"/>
                <a:cs typeface="Arial" pitchFamily="34" charset="-120"/>
              </a:rPr>
              <a:t>3–4 wks</a:t>
            </a:r>
            <a:endParaRPr lang="en-US" sz="1050" dirty="0"/>
          </a:p>
        </p:txBody>
      </p:sp>
      <p:sp>
        <p:nvSpPr>
          <p:cNvPr id="21" name="Shape 19"/>
          <p:cNvSpPr/>
          <p:nvPr/>
        </p:nvSpPr>
        <p:spPr>
          <a:xfrm>
            <a:off x="502920" y="3675888"/>
            <a:ext cx="5486400" cy="429768"/>
          </a:xfrm>
          <a:prstGeom prst="roundRect">
            <a:avLst>
              <a:gd name="adj" fmla="val 10638"/>
            </a:avLst>
          </a:prstGeom>
          <a:solidFill>
            <a:srgbClr val="FFFFFF"/>
          </a:solidFill>
          <a:ln w="9525">
            <a:solidFill>
              <a:srgbClr val="C9D8CD"/>
            </a:solidFill>
            <a:prstDash val="solid"/>
          </a:ln>
        </p:spPr>
      </p:sp>
      <p:sp>
        <p:nvSpPr>
          <p:cNvPr id="22" name="Text 20"/>
          <p:cNvSpPr/>
          <p:nvPr/>
        </p:nvSpPr>
        <p:spPr>
          <a:xfrm>
            <a:off x="594360" y="367588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5</a:t>
            </a:r>
            <a:endParaRPr lang="en-US" sz="1100" dirty="0"/>
          </a:p>
        </p:txBody>
      </p:sp>
      <p:sp>
        <p:nvSpPr>
          <p:cNvPr id="23" name="Text 21"/>
          <p:cNvSpPr/>
          <p:nvPr/>
        </p:nvSpPr>
        <p:spPr>
          <a:xfrm>
            <a:off x="1005840" y="367588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Cloud profile and subscription onboarding</a:t>
            </a:r>
            <a:endParaRPr lang="en-US" sz="1100" dirty="0"/>
          </a:p>
        </p:txBody>
      </p:sp>
      <p:sp>
        <p:nvSpPr>
          <p:cNvPr id="24" name="Text 22"/>
          <p:cNvSpPr/>
          <p:nvPr/>
        </p:nvSpPr>
        <p:spPr>
          <a:xfrm>
            <a:off x="4846320" y="367588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1–2 wks</a:t>
            </a:r>
            <a:endParaRPr lang="en-US" sz="1050" dirty="0"/>
          </a:p>
        </p:txBody>
      </p:sp>
      <p:sp>
        <p:nvSpPr>
          <p:cNvPr id="25" name="Shape 23"/>
          <p:cNvSpPr/>
          <p:nvPr/>
        </p:nvSpPr>
        <p:spPr>
          <a:xfrm>
            <a:off x="502920" y="4178808"/>
            <a:ext cx="5486400" cy="429768"/>
          </a:xfrm>
          <a:prstGeom prst="roundRect">
            <a:avLst>
              <a:gd name="adj" fmla="val 10638"/>
            </a:avLst>
          </a:prstGeom>
          <a:solidFill>
            <a:srgbClr val="F5FAF6"/>
          </a:solidFill>
          <a:ln w="9525">
            <a:solidFill>
              <a:srgbClr val="C9D8CD"/>
            </a:solidFill>
            <a:prstDash val="solid"/>
          </a:ln>
        </p:spPr>
      </p:sp>
      <p:sp>
        <p:nvSpPr>
          <p:cNvPr id="26" name="Text 24"/>
          <p:cNvSpPr/>
          <p:nvPr/>
        </p:nvSpPr>
        <p:spPr>
          <a:xfrm>
            <a:off x="594360" y="417880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6</a:t>
            </a:r>
            <a:endParaRPr lang="en-US" sz="1100" dirty="0"/>
          </a:p>
        </p:txBody>
      </p:sp>
      <p:sp>
        <p:nvSpPr>
          <p:cNvPr id="27" name="Text 25"/>
          <p:cNvSpPr/>
          <p:nvPr/>
        </p:nvSpPr>
        <p:spPr>
          <a:xfrm>
            <a:off x="1005840" y="417880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CIDR / subnet allocation, per environment</a:t>
            </a:r>
            <a:endParaRPr lang="en-US" sz="1100" dirty="0"/>
          </a:p>
        </p:txBody>
      </p:sp>
      <p:sp>
        <p:nvSpPr>
          <p:cNvPr id="28" name="Text 26"/>
          <p:cNvSpPr/>
          <p:nvPr/>
        </p:nvSpPr>
        <p:spPr>
          <a:xfrm>
            <a:off x="4846320" y="417880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3 days each</a:t>
            </a:r>
            <a:endParaRPr lang="en-US" sz="1050" dirty="0"/>
          </a:p>
        </p:txBody>
      </p:sp>
      <p:sp>
        <p:nvSpPr>
          <p:cNvPr id="29" name="Shape 27"/>
          <p:cNvSpPr/>
          <p:nvPr/>
        </p:nvSpPr>
        <p:spPr>
          <a:xfrm>
            <a:off x="6199632" y="1664208"/>
            <a:ext cx="5486400" cy="429768"/>
          </a:xfrm>
          <a:prstGeom prst="roundRect">
            <a:avLst>
              <a:gd name="adj" fmla="val 10638"/>
            </a:avLst>
          </a:prstGeom>
          <a:solidFill>
            <a:srgbClr val="FFFFFF"/>
          </a:solidFill>
          <a:ln w="9525">
            <a:solidFill>
              <a:srgbClr val="C9D8CD"/>
            </a:solidFill>
            <a:prstDash val="solid"/>
          </a:ln>
        </p:spPr>
      </p:sp>
      <p:sp>
        <p:nvSpPr>
          <p:cNvPr id="30" name="Text 28"/>
          <p:cNvSpPr/>
          <p:nvPr/>
        </p:nvSpPr>
        <p:spPr>
          <a:xfrm>
            <a:off x="6291072" y="166420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7</a:t>
            </a:r>
            <a:endParaRPr lang="en-US" sz="1100" dirty="0"/>
          </a:p>
        </p:txBody>
      </p:sp>
      <p:sp>
        <p:nvSpPr>
          <p:cNvPr id="31" name="Text 29"/>
          <p:cNvSpPr/>
          <p:nvPr/>
        </p:nvSpPr>
        <p:spPr>
          <a:xfrm>
            <a:off x="6702552" y="166420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AD group provisioning for cloud infrastructure</a:t>
            </a:r>
            <a:endParaRPr lang="en-US" sz="1100" dirty="0"/>
          </a:p>
        </p:txBody>
      </p:sp>
      <p:sp>
        <p:nvSpPr>
          <p:cNvPr id="32" name="Text 30"/>
          <p:cNvSpPr/>
          <p:nvPr/>
        </p:nvSpPr>
        <p:spPr>
          <a:xfrm>
            <a:off x="10543032" y="166420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1 wk</a:t>
            </a:r>
            <a:endParaRPr lang="en-US" sz="1050" dirty="0"/>
          </a:p>
        </p:txBody>
      </p:sp>
      <p:sp>
        <p:nvSpPr>
          <p:cNvPr id="33" name="Shape 31"/>
          <p:cNvSpPr/>
          <p:nvPr/>
        </p:nvSpPr>
        <p:spPr>
          <a:xfrm>
            <a:off x="6199632" y="2167128"/>
            <a:ext cx="5486400" cy="429768"/>
          </a:xfrm>
          <a:prstGeom prst="roundRect">
            <a:avLst>
              <a:gd name="adj" fmla="val 10638"/>
            </a:avLst>
          </a:prstGeom>
          <a:solidFill>
            <a:srgbClr val="F5FAF6"/>
          </a:solidFill>
          <a:ln w="9525">
            <a:solidFill>
              <a:srgbClr val="C9D8CD"/>
            </a:solidFill>
            <a:prstDash val="solid"/>
          </a:ln>
        </p:spPr>
      </p:sp>
      <p:sp>
        <p:nvSpPr>
          <p:cNvPr id="34" name="Text 32"/>
          <p:cNvSpPr/>
          <p:nvPr/>
        </p:nvSpPr>
        <p:spPr>
          <a:xfrm>
            <a:off x="6291072" y="216712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8</a:t>
            </a:r>
            <a:endParaRPr lang="en-US" sz="1100" dirty="0"/>
          </a:p>
        </p:txBody>
      </p:sp>
      <p:sp>
        <p:nvSpPr>
          <p:cNvPr id="35" name="Text 33"/>
          <p:cNvSpPr/>
          <p:nvPr/>
        </p:nvSpPr>
        <p:spPr>
          <a:xfrm>
            <a:off x="6702552" y="216712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Firewall requests: PAT and PROD</a:t>
            </a:r>
            <a:endParaRPr lang="en-US" sz="1100" dirty="0"/>
          </a:p>
        </p:txBody>
      </p:sp>
      <p:sp>
        <p:nvSpPr>
          <p:cNvPr id="36" name="Text 34"/>
          <p:cNvSpPr/>
          <p:nvPr/>
        </p:nvSpPr>
        <p:spPr>
          <a:xfrm>
            <a:off x="10543032" y="216712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5-day SLA</a:t>
            </a:r>
            <a:endParaRPr lang="en-US" sz="1050" dirty="0"/>
          </a:p>
        </p:txBody>
      </p:sp>
      <p:sp>
        <p:nvSpPr>
          <p:cNvPr id="37" name="Shape 35"/>
          <p:cNvSpPr/>
          <p:nvPr/>
        </p:nvSpPr>
        <p:spPr>
          <a:xfrm>
            <a:off x="6199632" y="2670048"/>
            <a:ext cx="5486400" cy="429768"/>
          </a:xfrm>
          <a:prstGeom prst="roundRect">
            <a:avLst>
              <a:gd name="adj" fmla="val 10638"/>
            </a:avLst>
          </a:prstGeom>
          <a:solidFill>
            <a:srgbClr val="FFFFFF"/>
          </a:solidFill>
          <a:ln w="9525">
            <a:solidFill>
              <a:srgbClr val="C9D8CD"/>
            </a:solidFill>
            <a:prstDash val="solid"/>
          </a:ln>
        </p:spPr>
      </p:sp>
      <p:sp>
        <p:nvSpPr>
          <p:cNvPr id="38" name="Text 36"/>
          <p:cNvSpPr/>
          <p:nvPr/>
        </p:nvSpPr>
        <p:spPr>
          <a:xfrm>
            <a:off x="6291072" y="267004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9</a:t>
            </a:r>
            <a:endParaRPr lang="en-US" sz="1100" dirty="0"/>
          </a:p>
        </p:txBody>
      </p:sp>
      <p:sp>
        <p:nvSpPr>
          <p:cNvPr id="39" name="Text 37"/>
          <p:cNvSpPr/>
          <p:nvPr/>
        </p:nvSpPr>
        <p:spPr>
          <a:xfrm>
            <a:off x="6702552" y="267004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PAT infrastructure deployment by ARE</a:t>
            </a:r>
            <a:endParaRPr lang="en-US" sz="1100" dirty="0"/>
          </a:p>
        </p:txBody>
      </p:sp>
      <p:sp>
        <p:nvSpPr>
          <p:cNvPr id="40" name="Text 38"/>
          <p:cNvSpPr/>
          <p:nvPr/>
        </p:nvSpPr>
        <p:spPr>
          <a:xfrm>
            <a:off x="10543032" y="267004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5–8 days</a:t>
            </a:r>
            <a:endParaRPr lang="en-US" sz="1050" dirty="0"/>
          </a:p>
        </p:txBody>
      </p:sp>
      <p:sp>
        <p:nvSpPr>
          <p:cNvPr id="41" name="Shape 39"/>
          <p:cNvSpPr/>
          <p:nvPr/>
        </p:nvSpPr>
        <p:spPr>
          <a:xfrm>
            <a:off x="6199632" y="3172968"/>
            <a:ext cx="5486400" cy="429768"/>
          </a:xfrm>
          <a:prstGeom prst="roundRect">
            <a:avLst>
              <a:gd name="adj" fmla="val 10638"/>
            </a:avLst>
          </a:prstGeom>
          <a:solidFill>
            <a:srgbClr val="F5FAF6"/>
          </a:solidFill>
          <a:ln w="9525">
            <a:solidFill>
              <a:srgbClr val="C9D8CD"/>
            </a:solidFill>
            <a:prstDash val="solid"/>
          </a:ln>
        </p:spPr>
      </p:sp>
      <p:sp>
        <p:nvSpPr>
          <p:cNvPr id="42" name="Text 40"/>
          <p:cNvSpPr/>
          <p:nvPr/>
        </p:nvSpPr>
        <p:spPr>
          <a:xfrm>
            <a:off x="6291072" y="317296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10</a:t>
            </a:r>
            <a:endParaRPr lang="en-US" sz="1100" dirty="0"/>
          </a:p>
        </p:txBody>
      </p:sp>
      <p:sp>
        <p:nvSpPr>
          <p:cNvPr id="43" name="Text 41"/>
          <p:cNvSpPr/>
          <p:nvPr/>
        </p:nvSpPr>
        <p:spPr>
          <a:xfrm>
            <a:off x="6702552" y="317296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PROD infrastructure deployment by ARE</a:t>
            </a:r>
            <a:endParaRPr lang="en-US" sz="1100" dirty="0"/>
          </a:p>
        </p:txBody>
      </p:sp>
      <p:sp>
        <p:nvSpPr>
          <p:cNvPr id="44" name="Text 42"/>
          <p:cNvSpPr/>
          <p:nvPr/>
        </p:nvSpPr>
        <p:spPr>
          <a:xfrm>
            <a:off x="10543032" y="317296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5–8 days</a:t>
            </a:r>
            <a:endParaRPr lang="en-US" sz="1050" dirty="0"/>
          </a:p>
        </p:txBody>
      </p:sp>
      <p:sp>
        <p:nvSpPr>
          <p:cNvPr id="45" name="Shape 43"/>
          <p:cNvSpPr/>
          <p:nvPr/>
        </p:nvSpPr>
        <p:spPr>
          <a:xfrm>
            <a:off x="6199632" y="3675888"/>
            <a:ext cx="5486400" cy="429768"/>
          </a:xfrm>
          <a:prstGeom prst="roundRect">
            <a:avLst>
              <a:gd name="adj" fmla="val 10638"/>
            </a:avLst>
          </a:prstGeom>
          <a:solidFill>
            <a:srgbClr val="FFFFFF"/>
          </a:solidFill>
          <a:ln w="9525">
            <a:solidFill>
              <a:srgbClr val="C9D8CD"/>
            </a:solidFill>
            <a:prstDash val="solid"/>
          </a:ln>
        </p:spPr>
      </p:sp>
      <p:sp>
        <p:nvSpPr>
          <p:cNvPr id="46" name="Text 44"/>
          <p:cNvSpPr/>
          <p:nvPr/>
        </p:nvSpPr>
        <p:spPr>
          <a:xfrm>
            <a:off x="6291072" y="367588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11</a:t>
            </a:r>
            <a:endParaRPr lang="en-US" sz="1100" dirty="0"/>
          </a:p>
        </p:txBody>
      </p:sp>
      <p:sp>
        <p:nvSpPr>
          <p:cNvPr id="47" name="Text 45"/>
          <p:cNvSpPr/>
          <p:nvPr/>
        </p:nvSpPr>
        <p:spPr>
          <a:xfrm>
            <a:off x="6702552" y="367588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Key Vault, managed identity, secrets onboarding</a:t>
            </a:r>
            <a:endParaRPr lang="en-US" sz="1100" dirty="0"/>
          </a:p>
        </p:txBody>
      </p:sp>
      <p:sp>
        <p:nvSpPr>
          <p:cNvPr id="48" name="Text 46"/>
          <p:cNvSpPr/>
          <p:nvPr/>
        </p:nvSpPr>
        <p:spPr>
          <a:xfrm>
            <a:off x="10543032" y="367588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1–1.5 wks</a:t>
            </a:r>
            <a:endParaRPr lang="en-US" sz="1050" dirty="0"/>
          </a:p>
        </p:txBody>
      </p:sp>
      <p:sp>
        <p:nvSpPr>
          <p:cNvPr id="49" name="Shape 47"/>
          <p:cNvSpPr/>
          <p:nvPr/>
        </p:nvSpPr>
        <p:spPr>
          <a:xfrm>
            <a:off x="6199632" y="4178808"/>
            <a:ext cx="5486400" cy="429768"/>
          </a:xfrm>
          <a:prstGeom prst="roundRect">
            <a:avLst>
              <a:gd name="adj" fmla="val 10638"/>
            </a:avLst>
          </a:prstGeom>
          <a:solidFill>
            <a:srgbClr val="F5FAF6"/>
          </a:solidFill>
          <a:ln w="9525">
            <a:solidFill>
              <a:srgbClr val="C9D8CD"/>
            </a:solidFill>
            <a:prstDash val="solid"/>
          </a:ln>
        </p:spPr>
      </p:sp>
      <p:sp>
        <p:nvSpPr>
          <p:cNvPr id="50" name="Text 48"/>
          <p:cNvSpPr/>
          <p:nvPr/>
        </p:nvSpPr>
        <p:spPr>
          <a:xfrm>
            <a:off x="6291072" y="4178808"/>
            <a:ext cx="365760" cy="429768"/>
          </a:xfrm>
          <a:prstGeom prst="rect">
            <a:avLst/>
          </a:prstGeom>
          <a:noFill/>
          <a:ln/>
        </p:spPr>
        <p:txBody>
          <a:bodyPr wrap="square" lIns="0" tIns="0" rIns="0" bIns="0" rtlCol="0" anchor="ctr"/>
          <a:lstStyle/>
          <a:p>
            <a:pPr algn="ctr" indent="0" marL="0">
              <a:buNone/>
            </a:pPr>
            <a:r>
              <a:rPr lang="en-US" sz="1100" b="1" dirty="0">
                <a:solidFill>
                  <a:srgbClr val="008A00"/>
                </a:solidFill>
                <a:latin typeface="Arial" pitchFamily="34" charset="0"/>
                <a:ea typeface="Arial" pitchFamily="34" charset="-122"/>
                <a:cs typeface="Arial" pitchFamily="34" charset="-120"/>
              </a:rPr>
              <a:t>12</a:t>
            </a:r>
            <a:endParaRPr lang="en-US" sz="1100" dirty="0"/>
          </a:p>
        </p:txBody>
      </p:sp>
      <p:sp>
        <p:nvSpPr>
          <p:cNvPr id="51" name="Text 49"/>
          <p:cNvSpPr/>
          <p:nvPr/>
        </p:nvSpPr>
        <p:spPr>
          <a:xfrm>
            <a:off x="6702552" y="4178808"/>
            <a:ext cx="3840480" cy="429768"/>
          </a:xfrm>
          <a:prstGeom prst="rect">
            <a:avLst/>
          </a:prstGeom>
          <a:noFill/>
          <a:ln/>
        </p:spPr>
        <p:txBody>
          <a:bodyPr wrap="square" lIns="0" tIns="0" rIns="0" bIns="0" rtlCol="0" anchor="ctr"/>
          <a:lstStyle/>
          <a:p>
            <a:pPr indent="0" marL="0">
              <a:buNone/>
            </a:pPr>
            <a:r>
              <a:rPr lang="en-US" sz="1100" dirty="0">
                <a:solidFill>
                  <a:srgbClr val="16211C"/>
                </a:solidFill>
                <a:latin typeface="Calibri" pitchFamily="34" charset="0"/>
                <a:ea typeface="Calibri" pitchFamily="34" charset="-122"/>
                <a:cs typeface="Calibri" pitchFamily="34" charset="-120"/>
              </a:rPr>
              <a:t>Environment validation and connectivity proving</a:t>
            </a:r>
            <a:endParaRPr lang="en-US" sz="1100" dirty="0"/>
          </a:p>
        </p:txBody>
      </p:sp>
      <p:sp>
        <p:nvSpPr>
          <p:cNvPr id="52" name="Text 50"/>
          <p:cNvSpPr/>
          <p:nvPr/>
        </p:nvSpPr>
        <p:spPr>
          <a:xfrm>
            <a:off x="10543032" y="4178808"/>
            <a:ext cx="1051560" cy="429768"/>
          </a:xfrm>
          <a:prstGeom prst="rect">
            <a:avLst/>
          </a:prstGeom>
          <a:noFill/>
          <a:ln/>
        </p:spPr>
        <p:txBody>
          <a:bodyPr wrap="square" lIns="0" tIns="0" rIns="0" bIns="0" rtlCol="0" anchor="ctr"/>
          <a:lstStyle/>
          <a:p>
            <a:pPr algn="r" indent="0" marL="0">
              <a:buNone/>
            </a:pPr>
            <a:r>
              <a:rPr lang="en-US" sz="1050" b="1" dirty="0">
                <a:solidFill>
                  <a:srgbClr val="00432A"/>
                </a:solidFill>
                <a:latin typeface="Arial" pitchFamily="34" charset="0"/>
                <a:ea typeface="Arial" pitchFamily="34" charset="-122"/>
                <a:cs typeface="Arial" pitchFamily="34" charset="-120"/>
              </a:rPr>
              <a:t>1–2 wks</a:t>
            </a:r>
            <a:endParaRPr lang="en-US" sz="1050" dirty="0"/>
          </a:p>
        </p:txBody>
      </p:sp>
      <p:sp>
        <p:nvSpPr>
          <p:cNvPr id="53" name="Shape 51"/>
          <p:cNvSpPr/>
          <p:nvPr/>
        </p:nvSpPr>
        <p:spPr>
          <a:xfrm>
            <a:off x="502920" y="4892040"/>
            <a:ext cx="5440680" cy="1143000"/>
          </a:xfrm>
          <a:prstGeom prst="roundRect">
            <a:avLst>
              <a:gd name="adj" fmla="val 4800"/>
            </a:avLst>
          </a:prstGeom>
          <a:solidFill>
            <a:srgbClr val="EAF3EA"/>
          </a:solidFill>
          <a:ln w="12700">
            <a:solidFill>
              <a:srgbClr val="EAF3EA"/>
            </a:solidFill>
            <a:prstDash val="solid"/>
          </a:ln>
          <a:effectLst>
            <a:outerShdw sx="100000" sy="100000" kx="0" ky="0" algn="bl" rotWithShape="0" blurRad="101600" dist="25400" dir="5400000">
              <a:srgbClr val="9AA9A0">
                <a:alpha val="22000"/>
              </a:srgbClr>
            </a:outerShdw>
          </a:effectLst>
        </p:spPr>
      </p:sp>
      <p:sp>
        <p:nvSpPr>
          <p:cNvPr id="54" name="Text 52"/>
          <p:cNvSpPr/>
          <p:nvPr/>
        </p:nvSpPr>
        <p:spPr>
          <a:xfrm>
            <a:off x="777240" y="5029200"/>
            <a:ext cx="2377440" cy="411480"/>
          </a:xfrm>
          <a:prstGeom prst="rect">
            <a:avLst/>
          </a:prstGeom>
          <a:noFill/>
          <a:ln/>
        </p:spPr>
        <p:txBody>
          <a:bodyPr wrap="square" lIns="0" tIns="0" rIns="0" bIns="0" rtlCol="0" anchor="ctr"/>
          <a:lstStyle/>
          <a:p>
            <a:pPr indent="0" marL="0">
              <a:buNone/>
            </a:pPr>
            <a:r>
              <a:rPr lang="en-US" sz="2200" b="1" dirty="0">
                <a:solidFill>
                  <a:srgbClr val="00432A"/>
                </a:solidFill>
                <a:latin typeface="Arial" pitchFamily="34" charset="0"/>
                <a:ea typeface="Arial" pitchFamily="34" charset="-122"/>
                <a:cs typeface="Arial" pitchFamily="34" charset="-120"/>
              </a:rPr>
              <a:t>9 – 16 weeks</a:t>
            </a:r>
            <a:endParaRPr lang="en-US" sz="2200" dirty="0"/>
          </a:p>
        </p:txBody>
      </p:sp>
      <p:sp>
        <p:nvSpPr>
          <p:cNvPr id="55" name="Text 53"/>
          <p:cNvSpPr/>
          <p:nvPr/>
        </p:nvSpPr>
        <p:spPr>
          <a:xfrm>
            <a:off x="3200400" y="5029200"/>
            <a:ext cx="2651760" cy="868680"/>
          </a:xfrm>
          <a:prstGeom prst="rect">
            <a:avLst/>
          </a:prstGeom>
          <a:noFill/>
          <a:ln/>
        </p:spPr>
        <p:txBody>
          <a:bodyPr wrap="square" lIns="0" tIns="0" rIns="0" bIns="0" rtlCol="0" anchor="t"/>
          <a:lstStyle/>
          <a:p>
            <a:pPr indent="0" marL="0">
              <a:lnSpc>
                <a:spcPts val="1400"/>
              </a:lnSpc>
              <a:buNone/>
            </a:pPr>
            <a:r>
              <a:rPr lang="en-US" sz="1050" dirty="0">
                <a:solidFill>
                  <a:srgbClr val="16211C"/>
                </a:solidFill>
                <a:latin typeface="Calibri" pitchFamily="34" charset="0"/>
                <a:ea typeface="Calibri" pitchFamily="34" charset="-122"/>
                <a:cs typeface="Calibri" pitchFamily="34" charset="-120"/>
              </a:rPr>
              <a:t>On plan, with 22 weeks as the downside if a review repeats. DEV, PAT and PROD each repeat the addressing, firewall and deployment steps.</a:t>
            </a:r>
            <a:endParaRPr lang="en-US" sz="1050" dirty="0"/>
          </a:p>
        </p:txBody>
      </p:sp>
      <p:sp>
        <p:nvSpPr>
          <p:cNvPr id="56" name="Shape 54"/>
          <p:cNvSpPr/>
          <p:nvPr/>
        </p:nvSpPr>
        <p:spPr>
          <a:xfrm>
            <a:off x="6199632" y="4892040"/>
            <a:ext cx="5486400" cy="1143000"/>
          </a:xfrm>
          <a:prstGeom prst="roundRect">
            <a:avLst>
              <a:gd name="adj" fmla="val 4800"/>
            </a:avLst>
          </a:prstGeom>
          <a:solidFill>
            <a:srgbClr val="FBEFD9"/>
          </a:solidFill>
          <a:ln w="12700">
            <a:solidFill>
              <a:srgbClr val="FBEFD9"/>
            </a:solidFill>
            <a:prstDash val="solid"/>
          </a:ln>
          <a:effectLst>
            <a:outerShdw sx="100000" sy="100000" kx="0" ky="0" algn="bl" rotWithShape="0" blurRad="101600" dist="25400" dir="5400000">
              <a:srgbClr val="9AA9A0">
                <a:alpha val="22000"/>
              </a:srgbClr>
            </a:outerShdw>
          </a:effectLst>
        </p:spPr>
      </p:sp>
      <p:sp>
        <p:nvSpPr>
          <p:cNvPr id="57" name="Text 55"/>
          <p:cNvSpPr/>
          <p:nvPr/>
        </p:nvSpPr>
        <p:spPr>
          <a:xfrm>
            <a:off x="6473952" y="5010912"/>
            <a:ext cx="4937760" cy="274320"/>
          </a:xfrm>
          <a:prstGeom prst="rect">
            <a:avLst/>
          </a:prstGeom>
          <a:noFill/>
          <a:ln/>
        </p:spPr>
        <p:txBody>
          <a:bodyPr wrap="square" lIns="0" tIns="0" rIns="0" bIns="0" rtlCol="0" anchor="ctr"/>
          <a:lstStyle/>
          <a:p>
            <a:pPr indent="0" marL="0">
              <a:buNone/>
            </a:pPr>
            <a:r>
              <a:rPr lang="en-US" sz="1300" b="1" dirty="0">
                <a:solidFill>
                  <a:srgbClr val="B26A00"/>
                </a:solidFill>
                <a:latin typeface="Arial" pitchFamily="34" charset="0"/>
                <a:ea typeface="Arial" pitchFamily="34" charset="-122"/>
                <a:cs typeface="Arial" pitchFamily="34" charset="-120"/>
              </a:rPr>
              <a:t>Include the migration services in this PID</a:t>
            </a:r>
            <a:endParaRPr lang="en-US" sz="1300" dirty="0"/>
          </a:p>
        </p:txBody>
      </p:sp>
      <p:sp>
        <p:nvSpPr>
          <p:cNvPr id="58" name="Text 56"/>
          <p:cNvSpPr/>
          <p:nvPr/>
        </p:nvSpPr>
        <p:spPr>
          <a:xfrm>
            <a:off x="6473952" y="5303520"/>
            <a:ext cx="4937760" cy="640080"/>
          </a:xfrm>
          <a:prstGeom prst="rect">
            <a:avLst/>
          </a:prstGeom>
          <a:noFill/>
          <a:ln/>
        </p:spPr>
        <p:txBody>
          <a:bodyPr wrap="square" lIns="0" tIns="0" rIns="0" bIns="0" rtlCol="0" anchor="t"/>
          <a:lstStyle/>
          <a:p>
            <a:pPr indent="0" marL="0">
              <a:lnSpc>
                <a:spcPts val="1400"/>
              </a:lnSpc>
              <a:buNone/>
            </a:pPr>
            <a:r>
              <a:rPr lang="en-US" sz="1100" dirty="0">
                <a:solidFill>
                  <a:srgbClr val="16211C"/>
                </a:solidFill>
                <a:latin typeface="Calibri" pitchFamily="34" charset="0"/>
                <a:ea typeface="Calibri" pitchFamily="34" charset="-122"/>
                <a:cs typeface="Calibri" pitchFamily="34" charset="-120"/>
              </a:rPr>
              <a:t>Data Factory, ADLS/Blob and the Azure SQL staging database. Adding them after the PID is baselined costs 6–10 weeks of rework.</a:t>
            </a:r>
            <a:endParaRPr lang="en-US" sz="1100" dirty="0"/>
          </a:p>
        </p:txBody>
      </p:sp>
      <p:sp>
        <p:nvSpPr>
          <p:cNvPr id="59" name="Text 57"/>
          <p:cNvSpPr/>
          <p:nvPr/>
        </p:nvSpPr>
        <p:spPr>
          <a:xfrm>
            <a:off x="502920" y="6473952"/>
            <a:ext cx="8229600" cy="237744"/>
          </a:xfrm>
          <a:prstGeom prst="rect">
            <a:avLst/>
          </a:prstGeom>
          <a:noFill/>
          <a:ln/>
        </p:spPr>
        <p:txBody>
          <a:bodyPr wrap="square" lIns="0" tIns="0" rIns="0" bIns="0" rtlCol="0" anchor="ctr"/>
          <a:lstStyle/>
          <a:p>
            <a:pPr indent="0" marL="0">
              <a:buNone/>
            </a:pPr>
            <a:r>
              <a:rPr lang="en-US" sz="900" dirty="0">
                <a:solidFill>
                  <a:srgbClr val="5F6F68"/>
                </a:solidFill>
                <a:latin typeface="Calibri" pitchFamily="34" charset="0"/>
                <a:ea typeface="Calibri" pitchFamily="34" charset="-122"/>
                <a:cs typeface="Calibri" pitchFamily="34" charset="-120"/>
              </a:rPr>
              <a:t>iManage Integration Module  |  Technology Solutions</a:t>
            </a:r>
            <a:endParaRPr lang="en-US" sz="900" dirty="0"/>
          </a:p>
        </p:txBody>
      </p:sp>
      <p:sp>
        <p:nvSpPr>
          <p:cNvPr id="60" name="Text 58"/>
          <p:cNvSpPr/>
          <p:nvPr/>
        </p:nvSpPr>
        <p:spPr>
          <a:xfrm>
            <a:off x="11274552" y="6473952"/>
            <a:ext cx="411480" cy="237744"/>
          </a:xfrm>
          <a:prstGeom prst="rect">
            <a:avLst/>
          </a:prstGeom>
          <a:noFill/>
          <a:ln/>
        </p:spPr>
        <p:txBody>
          <a:bodyPr wrap="square" lIns="0" tIns="0" rIns="0" bIns="0" rtlCol="0" anchor="ctr"/>
          <a:lstStyle/>
          <a:p>
            <a:pPr algn="r" indent="0" marL="0">
              <a:buNone/>
            </a:pPr>
            <a:r>
              <a:rPr lang="en-US" sz="900" dirty="0">
                <a:solidFill>
                  <a:srgbClr val="5F6F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08A00"/>
                </a:solidFill>
                <a:latin typeface="Arial" pitchFamily="34" charset="0"/>
                <a:ea typeface="Arial" pitchFamily="34" charset="-122"/>
                <a:cs typeface="Arial" pitchFamily="34" charset="-120"/>
              </a:rPr>
              <a:t>DECISION</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2700" b="1" dirty="0">
                <a:solidFill>
                  <a:srgbClr val="00432A"/>
                </a:solidFill>
                <a:latin typeface="Arial" pitchFamily="34" charset="0"/>
                <a:ea typeface="Arial" pitchFamily="34" charset="-122"/>
                <a:cs typeface="Arial" pitchFamily="34" charset="-120"/>
              </a:rPr>
              <a:t>Who writes the integration code</a:t>
            </a:r>
            <a:endParaRPr lang="en-US" sz="2700" dirty="0"/>
          </a:p>
        </p:txBody>
      </p:sp>
      <p:sp>
        <p:nvSpPr>
          <p:cNvPr id="4" name="Text 2"/>
          <p:cNvSpPr/>
          <p:nvPr/>
        </p:nvSpPr>
        <p:spPr>
          <a:xfrm>
            <a:off x="502920" y="1133856"/>
            <a:ext cx="11155680" cy="310896"/>
          </a:xfrm>
          <a:prstGeom prst="rect">
            <a:avLst/>
          </a:prstGeom>
          <a:noFill/>
          <a:ln/>
        </p:spPr>
        <p:txBody>
          <a:bodyPr wrap="square" lIns="0" tIns="0" rIns="0" bIns="0" rtlCol="0" anchor="ctr"/>
          <a:lstStyle/>
          <a:p>
            <a:pPr indent="0" marL="0">
              <a:buNone/>
            </a:pPr>
            <a:r>
              <a:rPr lang="en-US" sz="1300" dirty="0">
                <a:solidFill>
                  <a:srgbClr val="5F6F68"/>
                </a:solidFill>
                <a:latin typeface="Calibri" pitchFamily="34" charset="0"/>
                <a:ea typeface="Calibri" pitchFamily="34" charset="-122"/>
                <a:cs typeface="Calibri" pitchFamily="34" charset="-120"/>
              </a:rPr>
              <a:t>This covers the application code only. TD owns the environment, deployment, configuration and support in both options.</a:t>
            </a:r>
            <a:endParaRPr lang="en-US" sz="1300" dirty="0"/>
          </a:p>
        </p:txBody>
      </p:sp>
      <p:sp>
        <p:nvSpPr>
          <p:cNvPr id="5" name="Shape 3"/>
          <p:cNvSpPr/>
          <p:nvPr/>
        </p:nvSpPr>
        <p:spPr>
          <a:xfrm>
            <a:off x="502920" y="1691640"/>
            <a:ext cx="5486400" cy="3520440"/>
          </a:xfrm>
          <a:prstGeom prst="roundRect">
            <a:avLst>
              <a:gd name="adj" fmla="val 1558"/>
            </a:avLst>
          </a:prstGeom>
          <a:solidFill>
            <a:srgbClr val="FFFFFF"/>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6" name="Shape 4"/>
          <p:cNvSpPr/>
          <p:nvPr/>
        </p:nvSpPr>
        <p:spPr>
          <a:xfrm>
            <a:off x="502920" y="1691640"/>
            <a:ext cx="5486400" cy="621792"/>
          </a:xfrm>
          <a:prstGeom prst="roundRect">
            <a:avLst>
              <a:gd name="adj" fmla="val 8824"/>
            </a:avLst>
          </a:prstGeom>
          <a:solidFill>
            <a:srgbClr val="008A00"/>
          </a:solidFill>
          <a:ln w="12700">
            <a:solidFill>
              <a:srgbClr val="008A00"/>
            </a:solidFill>
            <a:prstDash val="solid"/>
          </a:ln>
        </p:spPr>
      </p:sp>
      <p:sp>
        <p:nvSpPr>
          <p:cNvPr id="7" name="Text 5"/>
          <p:cNvSpPr/>
          <p:nvPr/>
        </p:nvSpPr>
        <p:spPr>
          <a:xfrm>
            <a:off x="758952" y="1773936"/>
            <a:ext cx="1280160" cy="237744"/>
          </a:xfrm>
          <a:prstGeom prst="rect">
            <a:avLst/>
          </a:prstGeom>
          <a:noFill/>
          <a:ln/>
        </p:spPr>
        <p:txBody>
          <a:bodyPr wrap="square" lIns="0" tIns="0" rIns="0" bIns="0" rtlCol="0" anchor="ctr"/>
          <a:lstStyle/>
          <a:p>
            <a:pPr indent="0" marL="0">
              <a:buNone/>
            </a:pPr>
            <a:r>
              <a:rPr lang="en-US" sz="1000" b="1" spc="150" kern="0" dirty="0">
                <a:solidFill>
                  <a:srgbClr val="C7E6D3"/>
                </a:solidFill>
                <a:latin typeface="Arial" pitchFamily="34" charset="0"/>
                <a:ea typeface="Arial" pitchFamily="34" charset="-122"/>
                <a:cs typeface="Arial" pitchFamily="34" charset="-120"/>
              </a:rPr>
              <a:t>OPTION 1</a:t>
            </a:r>
            <a:endParaRPr lang="en-US" sz="1000" dirty="0"/>
          </a:p>
        </p:txBody>
      </p:sp>
      <p:sp>
        <p:nvSpPr>
          <p:cNvPr id="8" name="Text 6"/>
          <p:cNvSpPr/>
          <p:nvPr/>
        </p:nvSpPr>
        <p:spPr>
          <a:xfrm>
            <a:off x="1965960" y="1737360"/>
            <a:ext cx="384048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TD builds</a:t>
            </a:r>
            <a:endParaRPr lang="en-US" sz="1600" dirty="0"/>
          </a:p>
        </p:txBody>
      </p:sp>
      <p:sp>
        <p:nvSpPr>
          <p:cNvPr id="9" name="Text 7"/>
          <p:cNvSpPr/>
          <p:nvPr/>
        </p:nvSpPr>
        <p:spPr>
          <a:xfrm>
            <a:off x="758952" y="2487168"/>
            <a:ext cx="1371600" cy="256032"/>
          </a:xfrm>
          <a:prstGeom prst="rect">
            <a:avLst/>
          </a:prstGeom>
          <a:noFill/>
          <a:ln/>
        </p:spPr>
        <p:txBody>
          <a:bodyPr wrap="square" lIns="0" tIns="0" rIns="0" bIns="0" rtlCol="0" anchor="ctr"/>
          <a:lstStyle/>
          <a:p>
            <a:pPr indent="0" marL="0">
              <a:buNone/>
            </a:pPr>
            <a:r>
              <a:rPr lang="en-US" sz="1100" b="1" dirty="0">
                <a:solidFill>
                  <a:srgbClr val="008A00"/>
                </a:solidFill>
                <a:latin typeface="Arial" pitchFamily="34" charset="0"/>
                <a:ea typeface="Arial" pitchFamily="34" charset="-122"/>
                <a:cs typeface="Arial" pitchFamily="34" charset="-120"/>
              </a:rPr>
              <a:t>Development</a:t>
            </a:r>
            <a:endParaRPr lang="en-US" sz="1100" dirty="0"/>
          </a:p>
        </p:txBody>
      </p:sp>
      <p:sp>
        <p:nvSpPr>
          <p:cNvPr id="10" name="Text 8"/>
          <p:cNvSpPr/>
          <p:nvPr/>
        </p:nvSpPr>
        <p:spPr>
          <a:xfrm>
            <a:off x="2103120" y="2487168"/>
            <a:ext cx="3657600" cy="64008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8–10 weeks. No one on the current team has built this, so there is ramp-up on the iManage API and the Azure services, with Kroll consulting.</a:t>
            </a:r>
            <a:endParaRPr lang="en-US" sz="1050" dirty="0"/>
          </a:p>
        </p:txBody>
      </p:sp>
      <p:sp>
        <p:nvSpPr>
          <p:cNvPr id="11" name="Text 9"/>
          <p:cNvSpPr/>
          <p:nvPr/>
        </p:nvSpPr>
        <p:spPr>
          <a:xfrm>
            <a:off x="758952" y="3172968"/>
            <a:ext cx="1371600" cy="256032"/>
          </a:xfrm>
          <a:prstGeom prst="rect">
            <a:avLst/>
          </a:prstGeom>
          <a:noFill/>
          <a:ln/>
        </p:spPr>
        <p:txBody>
          <a:bodyPr wrap="square" lIns="0" tIns="0" rIns="0" bIns="0" rtlCol="0" anchor="ctr"/>
          <a:lstStyle/>
          <a:p>
            <a:pPr indent="0" marL="0">
              <a:buNone/>
            </a:pPr>
            <a:r>
              <a:rPr lang="en-US" sz="1100" b="1" dirty="0">
                <a:solidFill>
                  <a:srgbClr val="008A00"/>
                </a:solidFill>
                <a:latin typeface="Arial" pitchFamily="34" charset="0"/>
                <a:ea typeface="Arial" pitchFamily="34" charset="-122"/>
                <a:cs typeface="Arial" pitchFamily="34" charset="-120"/>
              </a:rPr>
              <a:t>Handover</a:t>
            </a:r>
            <a:endParaRPr lang="en-US" sz="1100" dirty="0"/>
          </a:p>
        </p:txBody>
      </p:sp>
      <p:sp>
        <p:nvSpPr>
          <p:cNvPr id="12" name="Text 10"/>
          <p:cNvSpPr/>
          <p:nvPr/>
        </p:nvSpPr>
        <p:spPr>
          <a:xfrm>
            <a:off x="2103120" y="3172968"/>
            <a:ext cx="3657600" cy="64008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None. The code is written in TD's environment from the start.</a:t>
            </a:r>
            <a:endParaRPr lang="en-US" sz="1050" dirty="0"/>
          </a:p>
        </p:txBody>
      </p:sp>
      <p:sp>
        <p:nvSpPr>
          <p:cNvPr id="13" name="Text 11"/>
          <p:cNvSpPr/>
          <p:nvPr/>
        </p:nvSpPr>
        <p:spPr>
          <a:xfrm>
            <a:off x="758952" y="3858768"/>
            <a:ext cx="1371600" cy="256032"/>
          </a:xfrm>
          <a:prstGeom prst="rect">
            <a:avLst/>
          </a:prstGeom>
          <a:noFill/>
          <a:ln/>
        </p:spPr>
        <p:txBody>
          <a:bodyPr wrap="square" lIns="0" tIns="0" rIns="0" bIns="0" rtlCol="0" anchor="ctr"/>
          <a:lstStyle/>
          <a:p>
            <a:pPr indent="0" marL="0">
              <a:buNone/>
            </a:pPr>
            <a:r>
              <a:rPr lang="en-US" sz="1100" b="1" dirty="0">
                <a:solidFill>
                  <a:srgbClr val="008A00"/>
                </a:solidFill>
                <a:latin typeface="Arial" pitchFamily="34" charset="0"/>
                <a:ea typeface="Arial" pitchFamily="34" charset="-122"/>
                <a:cs typeface="Arial" pitchFamily="34" charset="-120"/>
              </a:rPr>
              <a:t>Support</a:t>
            </a:r>
            <a:endParaRPr lang="en-US" sz="1100" dirty="0"/>
          </a:p>
        </p:txBody>
      </p:sp>
      <p:sp>
        <p:nvSpPr>
          <p:cNvPr id="14" name="Text 12"/>
          <p:cNvSpPr/>
          <p:nvPr/>
        </p:nvSpPr>
        <p:spPr>
          <a:xfrm>
            <a:off x="2103120" y="3858768"/>
            <a:ext cx="3657600" cy="64008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TD supports and extends code it wrote.</a:t>
            </a:r>
            <a:endParaRPr lang="en-US" sz="1050" dirty="0"/>
          </a:p>
        </p:txBody>
      </p:sp>
      <p:sp>
        <p:nvSpPr>
          <p:cNvPr id="15" name="Text 13"/>
          <p:cNvSpPr/>
          <p:nvPr/>
        </p:nvSpPr>
        <p:spPr>
          <a:xfrm>
            <a:off x="758952" y="4544568"/>
            <a:ext cx="1371600" cy="256032"/>
          </a:xfrm>
          <a:prstGeom prst="rect">
            <a:avLst/>
          </a:prstGeom>
          <a:noFill/>
          <a:ln/>
        </p:spPr>
        <p:txBody>
          <a:bodyPr wrap="square" lIns="0" tIns="0" rIns="0" bIns="0" rtlCol="0" anchor="ctr"/>
          <a:lstStyle/>
          <a:p>
            <a:pPr indent="0" marL="0">
              <a:buNone/>
            </a:pPr>
            <a:r>
              <a:rPr lang="en-US" sz="1100" b="1" dirty="0">
                <a:solidFill>
                  <a:srgbClr val="008A00"/>
                </a:solidFill>
                <a:latin typeface="Arial" pitchFamily="34" charset="0"/>
                <a:ea typeface="Arial" pitchFamily="34" charset="-122"/>
                <a:cs typeface="Arial" pitchFamily="34" charset="-120"/>
              </a:rPr>
              <a:t>Main risk</a:t>
            </a:r>
            <a:endParaRPr lang="en-US" sz="1100" dirty="0"/>
          </a:p>
        </p:txBody>
      </p:sp>
      <p:sp>
        <p:nvSpPr>
          <p:cNvPr id="16" name="Text 14"/>
          <p:cNvSpPr/>
          <p:nvPr/>
        </p:nvSpPr>
        <p:spPr>
          <a:xfrm>
            <a:off x="2103120" y="4544568"/>
            <a:ext cx="3657600" cy="64008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This is the least certain estimate in the plan, because there is no prior build to base it on.</a:t>
            </a:r>
            <a:endParaRPr lang="en-US" sz="1050" dirty="0"/>
          </a:p>
        </p:txBody>
      </p:sp>
      <p:sp>
        <p:nvSpPr>
          <p:cNvPr id="17" name="Shape 15"/>
          <p:cNvSpPr/>
          <p:nvPr/>
        </p:nvSpPr>
        <p:spPr>
          <a:xfrm>
            <a:off x="6199632" y="1691640"/>
            <a:ext cx="5486400" cy="3520440"/>
          </a:xfrm>
          <a:prstGeom prst="roundRect">
            <a:avLst>
              <a:gd name="adj" fmla="val 1558"/>
            </a:avLst>
          </a:prstGeom>
          <a:solidFill>
            <a:srgbClr val="FFFFFF"/>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18" name="Shape 16"/>
          <p:cNvSpPr/>
          <p:nvPr/>
        </p:nvSpPr>
        <p:spPr>
          <a:xfrm>
            <a:off x="6199632" y="1691640"/>
            <a:ext cx="5486400" cy="621792"/>
          </a:xfrm>
          <a:prstGeom prst="roundRect">
            <a:avLst>
              <a:gd name="adj" fmla="val 8824"/>
            </a:avLst>
          </a:prstGeom>
          <a:solidFill>
            <a:srgbClr val="1F4E5F"/>
          </a:solidFill>
          <a:ln w="12700">
            <a:solidFill>
              <a:srgbClr val="1F4E5F"/>
            </a:solidFill>
            <a:prstDash val="solid"/>
          </a:ln>
        </p:spPr>
      </p:sp>
      <p:sp>
        <p:nvSpPr>
          <p:cNvPr id="19" name="Text 17"/>
          <p:cNvSpPr/>
          <p:nvPr/>
        </p:nvSpPr>
        <p:spPr>
          <a:xfrm>
            <a:off x="6455664" y="1773936"/>
            <a:ext cx="1280160" cy="237744"/>
          </a:xfrm>
          <a:prstGeom prst="rect">
            <a:avLst/>
          </a:prstGeom>
          <a:noFill/>
          <a:ln/>
        </p:spPr>
        <p:txBody>
          <a:bodyPr wrap="square" lIns="0" tIns="0" rIns="0" bIns="0" rtlCol="0" anchor="ctr"/>
          <a:lstStyle/>
          <a:p>
            <a:pPr indent="0" marL="0">
              <a:buNone/>
            </a:pPr>
            <a:r>
              <a:rPr lang="en-US" sz="1000" b="1" spc="150" kern="0" dirty="0">
                <a:solidFill>
                  <a:srgbClr val="C7E6D3"/>
                </a:solidFill>
                <a:latin typeface="Arial" pitchFamily="34" charset="0"/>
                <a:ea typeface="Arial" pitchFamily="34" charset="-122"/>
                <a:cs typeface="Arial" pitchFamily="34" charset="-120"/>
              </a:rPr>
              <a:t>OPTION 2</a:t>
            </a:r>
            <a:endParaRPr lang="en-US" sz="1000" dirty="0"/>
          </a:p>
        </p:txBody>
      </p:sp>
      <p:sp>
        <p:nvSpPr>
          <p:cNvPr id="20" name="Text 18"/>
          <p:cNvSpPr/>
          <p:nvPr/>
        </p:nvSpPr>
        <p:spPr>
          <a:xfrm>
            <a:off x="7662672" y="1737360"/>
            <a:ext cx="384048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Kroll builds</a:t>
            </a:r>
            <a:endParaRPr lang="en-US" sz="1600" dirty="0"/>
          </a:p>
        </p:txBody>
      </p:sp>
      <p:sp>
        <p:nvSpPr>
          <p:cNvPr id="21" name="Text 19"/>
          <p:cNvSpPr/>
          <p:nvPr/>
        </p:nvSpPr>
        <p:spPr>
          <a:xfrm>
            <a:off x="6455664" y="2487168"/>
            <a:ext cx="1371600" cy="256032"/>
          </a:xfrm>
          <a:prstGeom prst="rect">
            <a:avLst/>
          </a:prstGeom>
          <a:noFill/>
          <a:ln/>
        </p:spPr>
        <p:txBody>
          <a:bodyPr wrap="square" lIns="0" tIns="0" rIns="0" bIns="0" rtlCol="0" anchor="ctr"/>
          <a:lstStyle/>
          <a:p>
            <a:pPr indent="0" marL="0">
              <a:buNone/>
            </a:pPr>
            <a:r>
              <a:rPr lang="en-US" sz="1100" b="1" dirty="0">
                <a:solidFill>
                  <a:srgbClr val="1F4E5F"/>
                </a:solidFill>
                <a:latin typeface="Arial" pitchFamily="34" charset="0"/>
                <a:ea typeface="Arial" pitchFamily="34" charset="-122"/>
                <a:cs typeface="Arial" pitchFamily="34" charset="-120"/>
              </a:rPr>
              <a:t>Development</a:t>
            </a:r>
            <a:endParaRPr lang="en-US" sz="1100" dirty="0"/>
          </a:p>
        </p:txBody>
      </p:sp>
      <p:sp>
        <p:nvSpPr>
          <p:cNvPr id="22" name="Text 20"/>
          <p:cNvSpPr/>
          <p:nvPr/>
        </p:nvSpPr>
        <p:spPr>
          <a:xfrm>
            <a:off x="7799832" y="2487168"/>
            <a:ext cx="3657600" cy="64008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4–5 weeks. Kroll has built this integration before and already knows the iManage API.</a:t>
            </a:r>
            <a:endParaRPr lang="en-US" sz="1050" dirty="0"/>
          </a:p>
        </p:txBody>
      </p:sp>
      <p:sp>
        <p:nvSpPr>
          <p:cNvPr id="23" name="Text 21"/>
          <p:cNvSpPr/>
          <p:nvPr/>
        </p:nvSpPr>
        <p:spPr>
          <a:xfrm>
            <a:off x="6455664" y="3172968"/>
            <a:ext cx="1371600" cy="256032"/>
          </a:xfrm>
          <a:prstGeom prst="rect">
            <a:avLst/>
          </a:prstGeom>
          <a:noFill/>
          <a:ln/>
        </p:spPr>
        <p:txBody>
          <a:bodyPr wrap="square" lIns="0" tIns="0" rIns="0" bIns="0" rtlCol="0" anchor="ctr"/>
          <a:lstStyle/>
          <a:p>
            <a:pPr indent="0" marL="0">
              <a:buNone/>
            </a:pPr>
            <a:r>
              <a:rPr lang="en-US" sz="1100" b="1" dirty="0">
                <a:solidFill>
                  <a:srgbClr val="1F4E5F"/>
                </a:solidFill>
                <a:latin typeface="Arial" pitchFamily="34" charset="0"/>
                <a:ea typeface="Arial" pitchFamily="34" charset="-122"/>
                <a:cs typeface="Arial" pitchFamily="34" charset="-120"/>
              </a:rPr>
              <a:t>Handover</a:t>
            </a:r>
            <a:endParaRPr lang="en-US" sz="1100" dirty="0"/>
          </a:p>
        </p:txBody>
      </p:sp>
      <p:sp>
        <p:nvSpPr>
          <p:cNvPr id="24" name="Text 22"/>
          <p:cNvSpPr/>
          <p:nvPr/>
        </p:nvSpPr>
        <p:spPr>
          <a:xfrm>
            <a:off x="7799832" y="3172968"/>
            <a:ext cx="3657600" cy="64008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2–3 weeks. Kroll builds in their own environment and delivers the source; TD reviews, scans, reconfigures and deploys it here.</a:t>
            </a:r>
            <a:endParaRPr lang="en-US" sz="1050" dirty="0"/>
          </a:p>
        </p:txBody>
      </p:sp>
      <p:sp>
        <p:nvSpPr>
          <p:cNvPr id="25" name="Text 23"/>
          <p:cNvSpPr/>
          <p:nvPr/>
        </p:nvSpPr>
        <p:spPr>
          <a:xfrm>
            <a:off x="6455664" y="3858768"/>
            <a:ext cx="1371600" cy="256032"/>
          </a:xfrm>
          <a:prstGeom prst="rect">
            <a:avLst/>
          </a:prstGeom>
          <a:noFill/>
          <a:ln/>
        </p:spPr>
        <p:txBody>
          <a:bodyPr wrap="square" lIns="0" tIns="0" rIns="0" bIns="0" rtlCol="0" anchor="ctr"/>
          <a:lstStyle/>
          <a:p>
            <a:pPr indent="0" marL="0">
              <a:buNone/>
            </a:pPr>
            <a:r>
              <a:rPr lang="en-US" sz="1100" b="1" dirty="0">
                <a:solidFill>
                  <a:srgbClr val="1F4E5F"/>
                </a:solidFill>
                <a:latin typeface="Arial" pitchFamily="34" charset="0"/>
                <a:ea typeface="Arial" pitchFamily="34" charset="-122"/>
                <a:cs typeface="Arial" pitchFamily="34" charset="-120"/>
              </a:rPr>
              <a:t>Support</a:t>
            </a:r>
            <a:endParaRPr lang="en-US" sz="1100" dirty="0"/>
          </a:p>
        </p:txBody>
      </p:sp>
      <p:sp>
        <p:nvSpPr>
          <p:cNvPr id="26" name="Text 24"/>
          <p:cNvSpPr/>
          <p:nvPr/>
        </p:nvSpPr>
        <p:spPr>
          <a:xfrm>
            <a:off x="7799832" y="3858768"/>
            <a:ext cx="3657600" cy="64008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TD supports code it did not write, with Kroll available to consult.</a:t>
            </a:r>
            <a:endParaRPr lang="en-US" sz="1050" dirty="0"/>
          </a:p>
        </p:txBody>
      </p:sp>
      <p:sp>
        <p:nvSpPr>
          <p:cNvPr id="27" name="Text 25"/>
          <p:cNvSpPr/>
          <p:nvPr/>
        </p:nvSpPr>
        <p:spPr>
          <a:xfrm>
            <a:off x="6455664" y="4544568"/>
            <a:ext cx="1371600" cy="256032"/>
          </a:xfrm>
          <a:prstGeom prst="rect">
            <a:avLst/>
          </a:prstGeom>
          <a:noFill/>
          <a:ln/>
        </p:spPr>
        <p:txBody>
          <a:bodyPr wrap="square" lIns="0" tIns="0" rIns="0" bIns="0" rtlCol="0" anchor="ctr"/>
          <a:lstStyle/>
          <a:p>
            <a:pPr indent="0" marL="0">
              <a:buNone/>
            </a:pPr>
            <a:r>
              <a:rPr lang="en-US" sz="1100" b="1" dirty="0">
                <a:solidFill>
                  <a:srgbClr val="1F4E5F"/>
                </a:solidFill>
                <a:latin typeface="Arial" pitchFamily="34" charset="0"/>
                <a:ea typeface="Arial" pitchFamily="34" charset="-122"/>
                <a:cs typeface="Arial" pitchFamily="34" charset="-120"/>
              </a:rPr>
              <a:t>Main risk</a:t>
            </a:r>
            <a:endParaRPr lang="en-US" sz="1100" dirty="0"/>
          </a:p>
        </p:txBody>
      </p:sp>
      <p:sp>
        <p:nvSpPr>
          <p:cNvPr id="28" name="Text 26"/>
          <p:cNvSpPr/>
          <p:nvPr/>
        </p:nvSpPr>
        <p:spPr>
          <a:xfrm>
            <a:off x="7799832" y="4544568"/>
            <a:ext cx="3657600" cy="64008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TD has no visibility of the build while it happens, so standards and test evidence have to be specified up front.</a:t>
            </a:r>
            <a:endParaRPr lang="en-US" sz="1050" dirty="0"/>
          </a:p>
        </p:txBody>
      </p:sp>
      <p:sp>
        <p:nvSpPr>
          <p:cNvPr id="29" name="Shape 27"/>
          <p:cNvSpPr/>
          <p:nvPr/>
        </p:nvSpPr>
        <p:spPr>
          <a:xfrm>
            <a:off x="502920" y="5376672"/>
            <a:ext cx="11183112" cy="868680"/>
          </a:xfrm>
          <a:prstGeom prst="roundRect">
            <a:avLst>
              <a:gd name="adj" fmla="val 6316"/>
            </a:avLst>
          </a:prstGeom>
          <a:solidFill>
            <a:srgbClr val="EAF3EA"/>
          </a:solidFill>
          <a:ln w="12700">
            <a:solidFill>
              <a:srgbClr val="EAF3EA"/>
            </a:solidFill>
            <a:prstDash val="solid"/>
          </a:ln>
          <a:effectLst>
            <a:outerShdw sx="100000" sy="100000" kx="0" ky="0" algn="bl" rotWithShape="0" blurRad="101600" dist="25400" dir="5400000">
              <a:srgbClr val="9AA9A0">
                <a:alpha val="22000"/>
              </a:srgbClr>
            </a:outerShdw>
          </a:effectLst>
        </p:spPr>
      </p:sp>
      <p:sp>
        <p:nvSpPr>
          <p:cNvPr id="30" name="Text 28"/>
          <p:cNvSpPr/>
          <p:nvPr/>
        </p:nvSpPr>
        <p:spPr>
          <a:xfrm>
            <a:off x="777240" y="5449824"/>
            <a:ext cx="4937760" cy="256032"/>
          </a:xfrm>
          <a:prstGeom prst="rect">
            <a:avLst/>
          </a:prstGeom>
          <a:noFill/>
          <a:ln/>
        </p:spPr>
        <p:txBody>
          <a:bodyPr wrap="square" lIns="0" tIns="0" rIns="0" bIns="0" rtlCol="0" anchor="ctr"/>
          <a:lstStyle/>
          <a:p>
            <a:pPr indent="0" marL="0">
              <a:buNone/>
            </a:pPr>
            <a:r>
              <a:rPr lang="en-US" sz="1250" b="1" dirty="0">
                <a:solidFill>
                  <a:srgbClr val="00432A"/>
                </a:solidFill>
                <a:latin typeface="Arial" pitchFamily="34" charset="0"/>
                <a:ea typeface="Arial" pitchFamily="34" charset="-122"/>
                <a:cs typeface="Arial" pitchFamily="34" charset="-120"/>
              </a:rPr>
              <a:t>Everything except development is the same in both options.</a:t>
            </a:r>
            <a:endParaRPr lang="en-US" sz="1250" dirty="0"/>
          </a:p>
        </p:txBody>
      </p:sp>
      <p:sp>
        <p:nvSpPr>
          <p:cNvPr id="31" name="Text 29"/>
          <p:cNvSpPr/>
          <p:nvPr/>
        </p:nvSpPr>
        <p:spPr>
          <a:xfrm>
            <a:off x="777240" y="5724144"/>
            <a:ext cx="10607040" cy="457200"/>
          </a:xfrm>
          <a:prstGeom prst="rect">
            <a:avLst/>
          </a:prstGeom>
          <a:noFill/>
          <a:ln/>
        </p:spPr>
        <p:txBody>
          <a:bodyPr wrap="square" lIns="0" tIns="0" rIns="0" bIns="0" rtlCol="0" anchor="t"/>
          <a:lstStyle/>
          <a:p>
            <a:pPr indent="0" marL="0">
              <a:lnSpc>
                <a:spcPts val="1400"/>
              </a:lnSpc>
              <a:buNone/>
            </a:pPr>
            <a:r>
              <a:rPr lang="en-US" sz="1150" dirty="0">
                <a:solidFill>
                  <a:srgbClr val="16211C"/>
                </a:solidFill>
                <a:latin typeface="Calibri" pitchFamily="34" charset="0"/>
                <a:ea typeface="Calibri" pitchFamily="34" charset="-122"/>
                <a:cs typeface="Calibri" pitchFamily="34" charset="-120"/>
              </a:rPr>
              <a:t>Kroll saves 4–5 weeks of build time and removes the ramp-up risk. The environment setup, deployment, testing and support are TD-owned and unchanged, so the project still adds four to five and a half months.</a:t>
            </a:r>
            <a:endParaRPr lang="en-US" sz="1150" dirty="0"/>
          </a:p>
        </p:txBody>
      </p:sp>
      <p:sp>
        <p:nvSpPr>
          <p:cNvPr id="32" name="Text 30"/>
          <p:cNvSpPr/>
          <p:nvPr/>
        </p:nvSpPr>
        <p:spPr>
          <a:xfrm>
            <a:off x="502920" y="6473952"/>
            <a:ext cx="8229600" cy="237744"/>
          </a:xfrm>
          <a:prstGeom prst="rect">
            <a:avLst/>
          </a:prstGeom>
          <a:noFill/>
          <a:ln/>
        </p:spPr>
        <p:txBody>
          <a:bodyPr wrap="square" lIns="0" tIns="0" rIns="0" bIns="0" rtlCol="0" anchor="ctr"/>
          <a:lstStyle/>
          <a:p>
            <a:pPr indent="0" marL="0">
              <a:buNone/>
            </a:pPr>
            <a:r>
              <a:rPr lang="en-US" sz="900" dirty="0">
                <a:solidFill>
                  <a:srgbClr val="5F6F68"/>
                </a:solidFill>
                <a:latin typeface="Calibri" pitchFamily="34" charset="0"/>
                <a:ea typeface="Calibri" pitchFamily="34" charset="-122"/>
                <a:cs typeface="Calibri" pitchFamily="34" charset="-120"/>
              </a:rPr>
              <a:t>iManage Integration Module  |  Technology Solutions</a:t>
            </a:r>
            <a:endParaRPr lang="en-US" sz="900" dirty="0"/>
          </a:p>
        </p:txBody>
      </p:sp>
      <p:sp>
        <p:nvSpPr>
          <p:cNvPr id="33" name="Text 31"/>
          <p:cNvSpPr/>
          <p:nvPr/>
        </p:nvSpPr>
        <p:spPr>
          <a:xfrm>
            <a:off x="11274552" y="6473952"/>
            <a:ext cx="411480" cy="237744"/>
          </a:xfrm>
          <a:prstGeom prst="rect">
            <a:avLst/>
          </a:prstGeom>
          <a:noFill/>
          <a:ln/>
        </p:spPr>
        <p:txBody>
          <a:bodyPr wrap="square" lIns="0" tIns="0" rIns="0" bIns="0" rtlCol="0" anchor="ctr"/>
          <a:lstStyle/>
          <a:p>
            <a:pPr algn="r" indent="0" marL="0">
              <a:buNone/>
            </a:pPr>
            <a:r>
              <a:rPr lang="en-US" sz="900" dirty="0">
                <a:solidFill>
                  <a:srgbClr val="5F6F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08A00"/>
                </a:solidFill>
                <a:latin typeface="Arial" pitchFamily="34" charset="0"/>
                <a:ea typeface="Arial" pitchFamily="34" charset="-122"/>
                <a:cs typeface="Arial" pitchFamily="34" charset="-120"/>
              </a:rPr>
              <a:t>TIMELINE</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2700" b="1" dirty="0">
                <a:solidFill>
                  <a:srgbClr val="00432A"/>
                </a:solidFill>
                <a:latin typeface="Arial" pitchFamily="34" charset="0"/>
                <a:ea typeface="Arial" pitchFamily="34" charset="-122"/>
                <a:cs typeface="Arial" pitchFamily="34" charset="-120"/>
              </a:rPr>
              <a:t>Where the time goes</a:t>
            </a:r>
            <a:endParaRPr lang="en-US" sz="2700" dirty="0"/>
          </a:p>
        </p:txBody>
      </p:sp>
      <p:sp>
        <p:nvSpPr>
          <p:cNvPr id="4" name="Text 2"/>
          <p:cNvSpPr/>
          <p:nvPr/>
        </p:nvSpPr>
        <p:spPr>
          <a:xfrm>
            <a:off x="502920" y="1133856"/>
            <a:ext cx="11155680" cy="310896"/>
          </a:xfrm>
          <a:prstGeom prst="rect">
            <a:avLst/>
          </a:prstGeom>
          <a:noFill/>
          <a:ln/>
        </p:spPr>
        <p:txBody>
          <a:bodyPr wrap="square" lIns="0" tIns="0" rIns="0" bIns="0" rtlCol="0" anchor="ctr"/>
          <a:lstStyle/>
          <a:p>
            <a:pPr indent="0" marL="0">
              <a:buNone/>
            </a:pPr>
            <a:r>
              <a:rPr lang="en-US" sz="1300" dirty="0">
                <a:solidFill>
                  <a:srgbClr val="5F6F68"/>
                </a:solidFill>
                <a:latin typeface="Calibri" pitchFamily="34" charset="0"/>
                <a:ea typeface="Calibri" pitchFamily="34" charset="-122"/>
                <a:cs typeface="Calibri" pitchFamily="34" charset="-120"/>
              </a:rPr>
              <a:t>Elapsed weeks per phase. Phases overlap, so the totals are less than the sum of the bars.</a:t>
            </a:r>
            <a:endParaRPr lang="en-US" sz="1300" dirty="0"/>
          </a:p>
        </p:txBody>
      </p:sp>
      <p:graphicFrame>
        <p:nvGraphicFramePr>
          <p:cNvPr id="5" name="Chart 0" descr=""/>
          <p:cNvGraphicFramePr/>
          <p:nvPr/>
        </p:nvGraphicFramePr>
        <p:xfrm>
          <a:off x="502920" y="1600200"/>
          <a:ext cx="763524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412480" y="1691640"/>
            <a:ext cx="3273552" cy="868680"/>
          </a:xfrm>
          <a:prstGeom prst="roundRect">
            <a:avLst>
              <a:gd name="adj" fmla="val 6316"/>
            </a:avLst>
          </a:prstGeom>
          <a:solidFill>
            <a:srgbClr val="F5FAF6"/>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7" name="Text 4"/>
          <p:cNvSpPr/>
          <p:nvPr/>
        </p:nvSpPr>
        <p:spPr>
          <a:xfrm>
            <a:off x="8641080" y="1783080"/>
            <a:ext cx="2834640" cy="310896"/>
          </a:xfrm>
          <a:prstGeom prst="rect">
            <a:avLst/>
          </a:prstGeom>
          <a:noFill/>
          <a:ln/>
        </p:spPr>
        <p:txBody>
          <a:bodyPr wrap="square" lIns="0" tIns="0" rIns="0" bIns="0" rtlCol="0" anchor="ctr"/>
          <a:lstStyle/>
          <a:p>
            <a:pPr indent="0" marL="0">
              <a:buNone/>
            </a:pPr>
            <a:r>
              <a:rPr lang="en-US" sz="1700" b="1" dirty="0">
                <a:solidFill>
                  <a:srgbClr val="008A00"/>
                </a:solidFill>
                <a:latin typeface="Arial" pitchFamily="34" charset="0"/>
                <a:ea typeface="Arial" pitchFamily="34" charset="-122"/>
                <a:cs typeface="Arial" pitchFamily="34" charset="-120"/>
              </a:rPr>
              <a:t>19–26 weeks</a:t>
            </a:r>
            <a:endParaRPr lang="en-US" sz="1700" dirty="0"/>
          </a:p>
        </p:txBody>
      </p:sp>
      <p:sp>
        <p:nvSpPr>
          <p:cNvPr id="8" name="Text 5"/>
          <p:cNvSpPr/>
          <p:nvPr/>
        </p:nvSpPr>
        <p:spPr>
          <a:xfrm>
            <a:off x="8641080" y="2112264"/>
            <a:ext cx="2834640" cy="384048"/>
          </a:xfrm>
          <a:prstGeom prst="rect">
            <a:avLst/>
          </a:prstGeom>
          <a:noFill/>
          <a:ln/>
        </p:spPr>
        <p:txBody>
          <a:bodyPr wrap="square" lIns="0" tIns="0" rIns="0" bIns="0" rtlCol="0" anchor="t"/>
          <a:lstStyle/>
          <a:p>
            <a:pPr indent="0" marL="0">
              <a:lnSpc>
                <a:spcPts val="1300"/>
              </a:lnSpc>
              <a:buNone/>
            </a:pPr>
            <a:r>
              <a:rPr lang="en-US" sz="1050" dirty="0">
                <a:solidFill>
                  <a:srgbClr val="5F6F68"/>
                </a:solidFill>
                <a:latin typeface="Calibri" pitchFamily="34" charset="0"/>
                <a:ea typeface="Calibri" pitchFamily="34" charset="-122"/>
                <a:cs typeface="Calibri" pitchFamily="34" charset="-120"/>
              </a:rPr>
              <a:t>added to go-live if TD builds the code  (4.5 – 6 months)</a:t>
            </a:r>
            <a:endParaRPr lang="en-US" sz="1050" dirty="0"/>
          </a:p>
        </p:txBody>
      </p:sp>
      <p:sp>
        <p:nvSpPr>
          <p:cNvPr id="9" name="Shape 6"/>
          <p:cNvSpPr/>
          <p:nvPr/>
        </p:nvSpPr>
        <p:spPr>
          <a:xfrm>
            <a:off x="8412480" y="2715768"/>
            <a:ext cx="3273552" cy="868680"/>
          </a:xfrm>
          <a:prstGeom prst="roundRect">
            <a:avLst>
              <a:gd name="adj" fmla="val 6316"/>
            </a:avLst>
          </a:prstGeom>
          <a:solidFill>
            <a:srgbClr val="F5FAF6"/>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10" name="Text 7"/>
          <p:cNvSpPr/>
          <p:nvPr/>
        </p:nvSpPr>
        <p:spPr>
          <a:xfrm>
            <a:off x="8641080" y="2807208"/>
            <a:ext cx="2834640" cy="310896"/>
          </a:xfrm>
          <a:prstGeom prst="rect">
            <a:avLst/>
          </a:prstGeom>
          <a:noFill/>
          <a:ln/>
        </p:spPr>
        <p:txBody>
          <a:bodyPr wrap="square" lIns="0" tIns="0" rIns="0" bIns="0" rtlCol="0" anchor="ctr"/>
          <a:lstStyle/>
          <a:p>
            <a:pPr indent="0" marL="0">
              <a:buNone/>
            </a:pPr>
            <a:r>
              <a:rPr lang="en-US" sz="1700" b="1" dirty="0">
                <a:solidFill>
                  <a:srgbClr val="1F4E5F"/>
                </a:solidFill>
                <a:latin typeface="Arial" pitchFamily="34" charset="0"/>
                <a:ea typeface="Arial" pitchFamily="34" charset="-122"/>
                <a:cs typeface="Arial" pitchFamily="34" charset="-120"/>
              </a:rPr>
              <a:t>17–24 weeks</a:t>
            </a:r>
            <a:endParaRPr lang="en-US" sz="1700" dirty="0"/>
          </a:p>
        </p:txBody>
      </p:sp>
      <p:sp>
        <p:nvSpPr>
          <p:cNvPr id="11" name="Text 8"/>
          <p:cNvSpPr/>
          <p:nvPr/>
        </p:nvSpPr>
        <p:spPr>
          <a:xfrm>
            <a:off x="8641080" y="3136392"/>
            <a:ext cx="2834640" cy="384048"/>
          </a:xfrm>
          <a:prstGeom prst="rect">
            <a:avLst/>
          </a:prstGeom>
          <a:noFill/>
          <a:ln/>
        </p:spPr>
        <p:txBody>
          <a:bodyPr wrap="square" lIns="0" tIns="0" rIns="0" bIns="0" rtlCol="0" anchor="t"/>
          <a:lstStyle/>
          <a:p>
            <a:pPr indent="0" marL="0">
              <a:lnSpc>
                <a:spcPts val="1300"/>
              </a:lnSpc>
              <a:buNone/>
            </a:pPr>
            <a:r>
              <a:rPr lang="en-US" sz="1050" dirty="0">
                <a:solidFill>
                  <a:srgbClr val="5F6F68"/>
                </a:solidFill>
                <a:latin typeface="Calibri" pitchFamily="34" charset="0"/>
                <a:ea typeface="Calibri" pitchFamily="34" charset="-122"/>
                <a:cs typeface="Calibri" pitchFamily="34" charset="-120"/>
              </a:rPr>
              <a:t>added to go-live if Kroll builds the code  (4 – 5.5 months)</a:t>
            </a:r>
            <a:endParaRPr lang="en-US" sz="1050" dirty="0"/>
          </a:p>
        </p:txBody>
      </p:sp>
      <p:sp>
        <p:nvSpPr>
          <p:cNvPr id="12" name="Shape 9"/>
          <p:cNvSpPr/>
          <p:nvPr/>
        </p:nvSpPr>
        <p:spPr>
          <a:xfrm>
            <a:off x="8412480" y="3739896"/>
            <a:ext cx="3273552" cy="868680"/>
          </a:xfrm>
          <a:prstGeom prst="roundRect">
            <a:avLst>
              <a:gd name="adj" fmla="val 6316"/>
            </a:avLst>
          </a:prstGeom>
          <a:solidFill>
            <a:srgbClr val="F5FAF6"/>
          </a:solidFill>
          <a:ln w="12700">
            <a:solidFill>
              <a:srgbClr val="C9D8CD"/>
            </a:solidFill>
            <a:prstDash val="solid"/>
          </a:ln>
          <a:effectLst>
            <a:outerShdw sx="100000" sy="100000" kx="0" ky="0" algn="bl" rotWithShape="0" blurRad="101600" dist="25400" dir="5400000">
              <a:srgbClr val="9AA9A0">
                <a:alpha val="22000"/>
              </a:srgbClr>
            </a:outerShdw>
          </a:effectLst>
        </p:spPr>
      </p:sp>
      <p:sp>
        <p:nvSpPr>
          <p:cNvPr id="13" name="Text 10"/>
          <p:cNvSpPr/>
          <p:nvPr/>
        </p:nvSpPr>
        <p:spPr>
          <a:xfrm>
            <a:off x="8641080" y="3831336"/>
            <a:ext cx="2834640" cy="310896"/>
          </a:xfrm>
          <a:prstGeom prst="rect">
            <a:avLst/>
          </a:prstGeom>
          <a:noFill/>
          <a:ln/>
        </p:spPr>
        <p:txBody>
          <a:bodyPr wrap="square" lIns="0" tIns="0" rIns="0" bIns="0" rtlCol="0" anchor="ctr"/>
          <a:lstStyle/>
          <a:p>
            <a:pPr indent="0" marL="0">
              <a:buNone/>
            </a:pPr>
            <a:r>
              <a:rPr lang="en-US" sz="1700" b="1" dirty="0">
                <a:solidFill>
                  <a:srgbClr val="00432A"/>
                </a:solidFill>
                <a:latin typeface="Arial" pitchFamily="34" charset="0"/>
                <a:ea typeface="Arial" pitchFamily="34" charset="-122"/>
                <a:cs typeface="Arial" pitchFamily="34" charset="-120"/>
              </a:rPr>
              <a:t>9–16 weeks</a:t>
            </a:r>
            <a:endParaRPr lang="en-US" sz="1700" dirty="0"/>
          </a:p>
        </p:txBody>
      </p:sp>
      <p:sp>
        <p:nvSpPr>
          <p:cNvPr id="14" name="Text 11"/>
          <p:cNvSpPr/>
          <p:nvPr/>
        </p:nvSpPr>
        <p:spPr>
          <a:xfrm>
            <a:off x="8641080" y="4160520"/>
            <a:ext cx="2834640" cy="384048"/>
          </a:xfrm>
          <a:prstGeom prst="rect">
            <a:avLst/>
          </a:prstGeom>
          <a:noFill/>
          <a:ln/>
        </p:spPr>
        <p:txBody>
          <a:bodyPr wrap="square" lIns="0" tIns="0" rIns="0" bIns="0" rtlCol="0" anchor="t"/>
          <a:lstStyle/>
          <a:p>
            <a:pPr indent="0" marL="0">
              <a:lnSpc>
                <a:spcPts val="1300"/>
              </a:lnSpc>
              <a:buNone/>
            </a:pPr>
            <a:r>
              <a:rPr lang="en-US" sz="1050" dirty="0">
                <a:solidFill>
                  <a:srgbClr val="5F6F68"/>
                </a:solidFill>
                <a:latin typeface="Calibri" pitchFamily="34" charset="0"/>
                <a:ea typeface="Calibri" pitchFamily="34" charset="-122"/>
                <a:cs typeface="Calibri" pitchFamily="34" charset="-120"/>
              </a:rPr>
              <a:t>environment setup, identical in both options</a:t>
            </a:r>
            <a:endParaRPr lang="en-US" sz="1050" dirty="0"/>
          </a:p>
        </p:txBody>
      </p:sp>
      <p:sp>
        <p:nvSpPr>
          <p:cNvPr id="15" name="Shape 12"/>
          <p:cNvSpPr/>
          <p:nvPr/>
        </p:nvSpPr>
        <p:spPr>
          <a:xfrm>
            <a:off x="8412480" y="4828032"/>
            <a:ext cx="3273552" cy="1371600"/>
          </a:xfrm>
          <a:prstGeom prst="roundRect">
            <a:avLst>
              <a:gd name="adj" fmla="val 4000"/>
            </a:avLst>
          </a:prstGeom>
          <a:solidFill>
            <a:srgbClr val="FBEFD9"/>
          </a:solidFill>
          <a:ln w="12700">
            <a:solidFill>
              <a:srgbClr val="FBEFD9"/>
            </a:solidFill>
            <a:prstDash val="solid"/>
          </a:ln>
          <a:effectLst>
            <a:outerShdw sx="100000" sy="100000" kx="0" ky="0" algn="bl" rotWithShape="0" blurRad="101600" dist="25400" dir="5400000">
              <a:srgbClr val="9AA9A0">
                <a:alpha val="22000"/>
              </a:srgbClr>
            </a:outerShdw>
          </a:effectLst>
        </p:spPr>
      </p:sp>
      <p:sp>
        <p:nvSpPr>
          <p:cNvPr id="16" name="Text 13"/>
          <p:cNvSpPr/>
          <p:nvPr/>
        </p:nvSpPr>
        <p:spPr>
          <a:xfrm>
            <a:off x="8641080" y="4919472"/>
            <a:ext cx="2834640" cy="237744"/>
          </a:xfrm>
          <a:prstGeom prst="rect">
            <a:avLst/>
          </a:prstGeom>
          <a:noFill/>
          <a:ln/>
        </p:spPr>
        <p:txBody>
          <a:bodyPr wrap="square" lIns="0" tIns="0" rIns="0" bIns="0" rtlCol="0" anchor="ctr"/>
          <a:lstStyle/>
          <a:p>
            <a:pPr indent="0" marL="0">
              <a:buNone/>
            </a:pPr>
            <a:r>
              <a:rPr lang="en-US" sz="1200" b="1" dirty="0">
                <a:solidFill>
                  <a:srgbClr val="B26A00"/>
                </a:solidFill>
                <a:latin typeface="Arial" pitchFamily="34" charset="0"/>
                <a:ea typeface="Arial" pitchFamily="34" charset="-122"/>
                <a:cs typeface="Arial" pitchFamily="34" charset="-120"/>
              </a:rPr>
              <a:t>The point</a:t>
            </a:r>
            <a:endParaRPr lang="en-US" sz="1200" dirty="0"/>
          </a:p>
        </p:txBody>
      </p:sp>
      <p:sp>
        <p:nvSpPr>
          <p:cNvPr id="17" name="Text 14"/>
          <p:cNvSpPr/>
          <p:nvPr/>
        </p:nvSpPr>
        <p:spPr>
          <a:xfrm>
            <a:off x="8641080" y="5175504"/>
            <a:ext cx="2834640" cy="914400"/>
          </a:xfrm>
          <a:prstGeom prst="rect">
            <a:avLst/>
          </a:prstGeom>
          <a:noFill/>
          <a:ln/>
        </p:spPr>
        <p:txBody>
          <a:bodyPr wrap="square" lIns="0" tIns="0" rIns="0" bIns="0" rtlCol="0" anchor="t"/>
          <a:lstStyle/>
          <a:p>
            <a:pPr indent="0" marL="0">
              <a:lnSpc>
                <a:spcPts val="1300"/>
              </a:lnSpc>
              <a:buNone/>
            </a:pPr>
            <a:r>
              <a:rPr lang="en-US" sz="1050" dirty="0">
                <a:solidFill>
                  <a:srgbClr val="16211C"/>
                </a:solidFill>
                <a:latin typeface="Calibri" pitchFamily="34" charset="0"/>
                <a:ea typeface="Calibri" pitchFamily="34" charset="-122"/>
                <a:cs typeface="Calibri" pitchFamily="34" charset="-120"/>
              </a:rPr>
              <a:t>Kroll saves 4–5 weeks on development. The environment setup, deployment, testing and support do not change, so significant time is added to the project either way.</a:t>
            </a:r>
            <a:endParaRPr lang="en-US" sz="1050" dirty="0"/>
          </a:p>
        </p:txBody>
      </p:sp>
      <p:sp>
        <p:nvSpPr>
          <p:cNvPr id="18" name="Text 15"/>
          <p:cNvSpPr/>
          <p:nvPr/>
        </p:nvSpPr>
        <p:spPr>
          <a:xfrm>
            <a:off x="502920" y="6473952"/>
            <a:ext cx="8229600" cy="237744"/>
          </a:xfrm>
          <a:prstGeom prst="rect">
            <a:avLst/>
          </a:prstGeom>
          <a:noFill/>
          <a:ln/>
        </p:spPr>
        <p:txBody>
          <a:bodyPr wrap="square" lIns="0" tIns="0" rIns="0" bIns="0" rtlCol="0" anchor="ctr"/>
          <a:lstStyle/>
          <a:p>
            <a:pPr indent="0" marL="0">
              <a:buNone/>
            </a:pPr>
            <a:r>
              <a:rPr lang="en-US" sz="900" dirty="0">
                <a:solidFill>
                  <a:srgbClr val="5F6F68"/>
                </a:solidFill>
                <a:latin typeface="Calibri" pitchFamily="34" charset="0"/>
                <a:ea typeface="Calibri" pitchFamily="34" charset="-122"/>
                <a:cs typeface="Calibri" pitchFamily="34" charset="-120"/>
              </a:rPr>
              <a:t>iManage Integration Module  |  Technology Solutions</a:t>
            </a:r>
            <a:endParaRPr lang="en-US" sz="900" dirty="0"/>
          </a:p>
        </p:txBody>
      </p:sp>
      <p:sp>
        <p:nvSpPr>
          <p:cNvPr id="19" name="Text 16"/>
          <p:cNvSpPr/>
          <p:nvPr/>
        </p:nvSpPr>
        <p:spPr>
          <a:xfrm>
            <a:off x="11274552" y="6473952"/>
            <a:ext cx="411480" cy="237744"/>
          </a:xfrm>
          <a:prstGeom prst="rect">
            <a:avLst/>
          </a:prstGeom>
          <a:noFill/>
          <a:ln/>
        </p:spPr>
        <p:txBody>
          <a:bodyPr wrap="square" lIns="0" tIns="0" rIns="0" bIns="0" rtlCol="0" anchor="ctr"/>
          <a:lstStyle/>
          <a:p>
            <a:pPr algn="r" indent="0" marL="0">
              <a:buNone/>
            </a:pPr>
            <a:r>
              <a:rPr lang="en-US" sz="900" dirty="0">
                <a:solidFill>
                  <a:srgbClr val="5F6F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19456"/>
          </a:xfrm>
          <a:prstGeom prst="rect">
            <a:avLst/>
          </a:prstGeom>
          <a:noFill/>
          <a:ln/>
        </p:spPr>
        <p:txBody>
          <a:bodyPr wrap="square" lIns="0" tIns="0" rIns="0" bIns="0" rtlCol="0" anchor="ctr"/>
          <a:lstStyle/>
          <a:p>
            <a:pPr indent="0" marL="0">
              <a:buNone/>
            </a:pPr>
            <a:r>
              <a:rPr lang="en-US" sz="1050" b="1" spc="200" kern="0" dirty="0">
                <a:solidFill>
                  <a:srgbClr val="008A00"/>
                </a:solidFill>
                <a:latin typeface="Arial" pitchFamily="34" charset="0"/>
                <a:ea typeface="Arial" pitchFamily="34" charset="-122"/>
                <a:cs typeface="Arial" pitchFamily="34" charset="-120"/>
              </a:rPr>
              <a:t>SUMMARY</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2700" b="1" dirty="0">
                <a:solidFill>
                  <a:srgbClr val="00432A"/>
                </a:solidFill>
                <a:latin typeface="Arial" pitchFamily="34" charset="0"/>
                <a:ea typeface="Arial" pitchFamily="34" charset="-122"/>
                <a:cs typeface="Arial" pitchFamily="34" charset="-120"/>
              </a:rPr>
              <a:t>Recommendations</a:t>
            </a:r>
            <a:endParaRPr lang="en-US" sz="2700" dirty="0"/>
          </a:p>
        </p:txBody>
      </p:sp>
      <p:sp>
        <p:nvSpPr>
          <p:cNvPr id="4" name="Text 2"/>
          <p:cNvSpPr/>
          <p:nvPr/>
        </p:nvSpPr>
        <p:spPr>
          <a:xfrm>
            <a:off x="502920" y="1133856"/>
            <a:ext cx="11155680" cy="310896"/>
          </a:xfrm>
          <a:prstGeom prst="rect">
            <a:avLst/>
          </a:prstGeom>
          <a:noFill/>
          <a:ln/>
        </p:spPr>
        <p:txBody>
          <a:bodyPr wrap="square" lIns="0" tIns="0" rIns="0" bIns="0" rtlCol="0" anchor="ctr"/>
          <a:lstStyle/>
          <a:p>
            <a:pPr indent="0" marL="0">
              <a:buNone/>
            </a:pPr>
            <a:r>
              <a:rPr lang="en-US" sz="1300" dirty="0">
                <a:solidFill>
                  <a:srgbClr val="5F6F68"/>
                </a:solidFill>
                <a:latin typeface="Calibri" pitchFamily="34" charset="0"/>
                <a:ea typeface="Calibri" pitchFamily="34" charset="-122"/>
                <a:cs typeface="Calibri" pitchFamily="34" charset="-120"/>
              </a:rPr>
              <a:t>Five decisions, side by side. Step-level detail and timings are in the supporting workbook.</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27632"/>
          <a:ext cx="11183112" cy="914400"/>
        </p:xfrm>
        <a:graphic>
          <a:graphicData uri="http://schemas.openxmlformats.org/drawingml/2006/table">
            <a:tbl>
              <a:tblPr/>
              <a:tblGrid>
                <a:gridCol w="1965960"/>
                <a:gridCol w="3017520"/>
                <a:gridCol w="3566160"/>
                <a:gridCol w="2633472"/>
              </a:tblGrid>
              <a:tr h="65836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Topic</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Recommendation</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Why</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Cost of not doing it</a:t>
                      </a:r>
                      <a:endParaRPr lang="en-US" sz="1000" dirty="0">
                        <a:latin typeface="Arial" charset="0"/>
                        <a:ea typeface="Arial" charset="0"/>
                        <a:cs typeface="Arial"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008A00"/>
                    </a:solidFill>
                  </a:tcPr>
                </a:tc>
              </a:tr>
              <a:tr h="658368">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Integration platform</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Azure Functions + Service Bus, not Data Factory</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a:txBody>
                    <a:bodyPr/>
                    <a:lstStyle/>
                    <a:p>
                      <a:pPr indent="0" marL="0">
                        <a:buNone/>
                      </a:pPr>
                      <a:r>
                        <a:rPr lang="en-US" sz="1050" dirty="0">
                          <a:solidFill>
                            <a:srgbClr val="16211C"/>
                          </a:solidFill>
                          <a:latin typeface="Calibri" pitchFamily="34" charset="0"/>
                          <a:ea typeface="Calibri" pitchFamily="34" charset="-122"/>
                          <a:cs typeface="Calibri" pitchFamily="34" charset="-120"/>
                        </a:rPr>
                        <a:t>A 2–5 minute poll with per-matter 'ready' flags needs per-record retry, dead-letter and replay. Data Factory retries activities, not records.</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dirty="0">
                          <a:solidFill>
                            <a:srgbClr val="A32015"/>
                          </a:solidFill>
                          <a:latin typeface="Calibri" pitchFamily="34" charset="0"/>
                          <a:ea typeface="Calibri" pitchFamily="34" charset="-122"/>
                          <a:cs typeface="Calibri" pitchFamily="34" charset="-120"/>
                        </a:rPr>
                        <a:t>~20,000 pipeline runs a month, plus failure tracking and replay maintained in SQL by TD.</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658368">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Who writes the code</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Kroll builds it and delivers the source; TD reviews, reconfigures and deploys</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a:txBody>
                    <a:bodyPr/>
                    <a:lstStyle/>
                    <a:p>
                      <a:pPr indent="0" marL="0">
                        <a:buNone/>
                      </a:pPr>
                      <a:r>
                        <a:rPr lang="en-US" sz="1050" dirty="0">
                          <a:solidFill>
                            <a:srgbClr val="16211C"/>
                          </a:solidFill>
                          <a:latin typeface="Calibri" pitchFamily="34" charset="0"/>
                          <a:ea typeface="Calibri" pitchFamily="34" charset="-122"/>
                          <a:cs typeface="Calibri" pitchFamily="34" charset="-120"/>
                        </a:rPr>
                        <a:t>Kroll has built this before and knows the iManage API. No one on the current TD team has, so TD carries 8–10 weeks and the least certain estimate in the plan.</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dirty="0">
                          <a:solidFill>
                            <a:srgbClr val="A32015"/>
                          </a:solidFill>
                          <a:latin typeface="Calibri" pitchFamily="34" charset="0"/>
                          <a:ea typeface="Calibri" pitchFamily="34" charset="-122"/>
                          <a:cs typeface="Calibri" pitchFamily="34" charset="-120"/>
                        </a:rPr>
                        <a:t>4–5 extra weeks of development, and ramp-up risk on top.</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658368">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Infrastructure and support</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TD owns the Azure environment, deployment, configuration and production support</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a:txBody>
                    <a:bodyPr/>
                    <a:lstStyle/>
                    <a:p>
                      <a:pPr indent="0" marL="0">
                        <a:buNone/>
                      </a:pPr>
                      <a:r>
                        <a:rPr lang="en-US" sz="1050" dirty="0">
                          <a:solidFill>
                            <a:srgbClr val="16211C"/>
                          </a:solidFill>
                          <a:latin typeface="Calibri" pitchFamily="34" charset="0"/>
                          <a:ea typeface="Calibri" pitchFamily="34" charset="-122"/>
                          <a:cs typeface="Calibri" pitchFamily="34" charset="-120"/>
                        </a:rPr>
                        <a:t>Kroll has no access to TD systems. They build in their own environment and hand over source code.</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dirty="0">
                          <a:solidFill>
                            <a:srgbClr val="A32015"/>
                          </a:solidFill>
                          <a:latin typeface="Calibri" pitchFamily="34" charset="0"/>
                          <a:ea typeface="Calibri" pitchFamily="34" charset="-122"/>
                          <a:cs typeface="Calibri" pitchFamily="34" charset="-120"/>
                        </a:rPr>
                        <a:t>Not applicable — this holds in every option.</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658368">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Ongoing support</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Agree Kroll consulting availability for L3 after handover</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a:txBody>
                    <a:bodyPr/>
                    <a:lstStyle/>
                    <a:p>
                      <a:pPr indent="0" marL="0">
                        <a:buNone/>
                      </a:pPr>
                      <a:r>
                        <a:rPr lang="en-US" sz="1050" dirty="0">
                          <a:solidFill>
                            <a:srgbClr val="16211C"/>
                          </a:solidFill>
                          <a:latin typeface="Calibri" pitchFamily="34" charset="0"/>
                          <a:ea typeface="Calibri" pitchFamily="34" charset="-122"/>
                          <a:cs typeface="Calibri" pitchFamily="34" charset="-120"/>
                        </a:rPr>
                        <a:t>TD will be supporting and extending code it did not write, and adding downstream adapters later.</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dirty="0">
                          <a:solidFill>
                            <a:srgbClr val="A32015"/>
                          </a:solidFill>
                          <a:latin typeface="Calibri" pitchFamily="34" charset="0"/>
                          <a:ea typeface="Calibri" pitchFamily="34" charset="-122"/>
                          <a:cs typeface="Calibri" pitchFamily="34" charset="-120"/>
                        </a:rPr>
                        <a:t>Longer time to repair and a vendor dependency for every future change.</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r h="658368">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Migration staging</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b="1" dirty="0">
                          <a:solidFill>
                            <a:srgbClr val="00432A"/>
                          </a:solidFill>
                          <a:latin typeface="Calibri" pitchFamily="34" charset="0"/>
                          <a:ea typeface="Calibri" pitchFamily="34" charset="-122"/>
                          <a:cs typeface="Calibri" pitchFamily="34" charset="-120"/>
                        </a:rPr>
                        <a:t>Name Data Factory, ADLS/Blob and Azure SQL staging in the initial PID</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solidFill>
                      <a:srgbClr val="EAF3EA"/>
                    </a:solidFill>
                  </a:tcPr>
                </a:tc>
                <a:tc>
                  <a:txBody>
                    <a:bodyPr/>
                    <a:lstStyle/>
                    <a:p>
                      <a:pPr indent="0" marL="0">
                        <a:buNone/>
                      </a:pPr>
                      <a:r>
                        <a:rPr lang="en-US" sz="1050" dirty="0">
                          <a:solidFill>
                            <a:srgbClr val="16211C"/>
                          </a:solidFill>
                          <a:latin typeface="Calibri" pitchFamily="34" charset="0"/>
                          <a:ea typeface="Calibri" pitchFamily="34" charset="-122"/>
                          <a:cs typeface="Calibri" pitchFamily="34" charset="-120"/>
                        </a:rPr>
                        <a:t>They are then provisioned in the same ARE deployment as the integration platform.</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c>
                  <a:txBody>
                    <a:bodyPr/>
                    <a:lstStyle/>
                    <a:p>
                      <a:pPr indent="0" marL="0">
                        <a:buNone/>
                      </a:pPr>
                      <a:r>
                        <a:rPr lang="en-US" sz="1050" dirty="0">
                          <a:solidFill>
                            <a:srgbClr val="A32015"/>
                          </a:solidFill>
                          <a:latin typeface="Calibri" pitchFamily="34" charset="0"/>
                          <a:ea typeface="Calibri" pitchFamily="34" charset="-122"/>
                          <a:cs typeface="Calibri" pitchFamily="34" charset="-120"/>
                        </a:rPr>
                        <a:t>6–10 weeks of PID rework, a second security review and an ARE redeployment.</a:t>
                      </a:r>
                      <a:endParaRPr lang="en-US" sz="1050" dirty="0">
                        <a:latin typeface="Calibri" charset="0"/>
                        <a:ea typeface="Calibri" charset="0"/>
                        <a:cs typeface="Calibri" charset="0"/>
                      </a:endParaRPr>
                    </a:p>
                  </a:txBody>
                  <a:tcPr marL="91440" marR="91440" marT="45720" marB="45720" anchor="ctr">
                    <a:lnL w="6350" cap="flat" cmpd="sng" algn="ctr">
                      <a:solidFill>
                        <a:srgbClr val="C9D8CD"/>
                      </a:solidFill>
                      <a:prstDash val="solid"/>
                      <a:round/>
                      <a:headEnd type="none" w="med" len="med"/>
                      <a:tailEnd type="none" w="med" len="med"/>
                    </a:lnL>
                    <a:lnR w="6350" cap="flat" cmpd="sng" algn="ctr">
                      <a:solidFill>
                        <a:srgbClr val="C9D8CD"/>
                      </a:solidFill>
                      <a:prstDash val="solid"/>
                      <a:round/>
                      <a:headEnd type="none" w="med" len="med"/>
                      <a:tailEnd type="none" w="med" len="med"/>
                    </a:lnR>
                    <a:lnT w="6350" cap="flat" cmpd="sng" algn="ctr">
                      <a:solidFill>
                        <a:srgbClr val="C9D8CD"/>
                      </a:solidFill>
                      <a:prstDash val="solid"/>
                      <a:round/>
                      <a:headEnd type="none" w="med" len="med"/>
                      <a:tailEnd type="none" w="med" len="med"/>
                    </a:lnT>
                    <a:lnB w="6350" cap="flat" cmpd="sng" algn="ctr">
                      <a:solidFill>
                        <a:srgbClr val="C9D8CD"/>
                      </a:solidFill>
                      <a:prstDash val="solid"/>
                      <a:round/>
                      <a:headEnd type="none" w="med" len="med"/>
                      <a:tailEnd type="none" w="med" len="med"/>
                    </a:lnB>
                  </a:tcPr>
                </a:tc>
              </a:tr>
            </a:tbl>
          </a:graphicData>
        </a:graphic>
      </p:graphicFrame>
      <p:sp>
        <p:nvSpPr>
          <p:cNvPr id="6" name="Text 3"/>
          <p:cNvSpPr/>
          <p:nvPr/>
        </p:nvSpPr>
        <p:spPr>
          <a:xfrm>
            <a:off x="502920" y="5943600"/>
            <a:ext cx="11183112" cy="292608"/>
          </a:xfrm>
          <a:prstGeom prst="rect">
            <a:avLst/>
          </a:prstGeom>
          <a:noFill/>
          <a:ln/>
        </p:spPr>
        <p:txBody>
          <a:bodyPr wrap="square" lIns="0" tIns="0" rIns="0" bIns="0" rtlCol="0" anchor="ctr"/>
          <a:lstStyle/>
          <a:p>
            <a:pPr indent="0" marL="0">
              <a:buNone/>
            </a:pPr>
            <a:r>
              <a:rPr lang="en-US" sz="1100" b="1" dirty="0">
                <a:solidFill>
                  <a:srgbClr val="00432A"/>
                </a:solidFill>
                <a:latin typeface="Calibri" pitchFamily="34" charset="0"/>
                <a:ea typeface="Calibri" pitchFamily="34" charset="-122"/>
                <a:cs typeface="Calibri" pitchFamily="34" charset="-120"/>
              </a:rPr>
              <a:t>Decisions needed today:  who writes the code  ·  are the migration services in the PID  ·  which TD developers are named  ·  when is the IAP submitted</a:t>
            </a:r>
            <a:endParaRPr lang="en-US" sz="1100" dirty="0"/>
          </a:p>
        </p:txBody>
      </p:sp>
      <p:sp>
        <p:nvSpPr>
          <p:cNvPr id="7" name="Text 4"/>
          <p:cNvSpPr/>
          <p:nvPr/>
        </p:nvSpPr>
        <p:spPr>
          <a:xfrm>
            <a:off x="502920" y="6473952"/>
            <a:ext cx="8229600" cy="237744"/>
          </a:xfrm>
          <a:prstGeom prst="rect">
            <a:avLst/>
          </a:prstGeom>
          <a:noFill/>
          <a:ln/>
        </p:spPr>
        <p:txBody>
          <a:bodyPr wrap="square" lIns="0" tIns="0" rIns="0" bIns="0" rtlCol="0" anchor="ctr"/>
          <a:lstStyle/>
          <a:p>
            <a:pPr indent="0" marL="0">
              <a:buNone/>
            </a:pPr>
            <a:r>
              <a:rPr lang="en-US" sz="900" dirty="0">
                <a:solidFill>
                  <a:srgbClr val="5F6F68"/>
                </a:solidFill>
                <a:latin typeface="Calibri" pitchFamily="34" charset="0"/>
                <a:ea typeface="Calibri" pitchFamily="34" charset="-122"/>
                <a:cs typeface="Calibri" pitchFamily="34" charset="-120"/>
              </a:rPr>
              <a:t>iManage Integration Module  |  Technology Solutions</a:t>
            </a:r>
            <a:endParaRPr lang="en-US" sz="900" dirty="0"/>
          </a:p>
        </p:txBody>
      </p:sp>
      <p:sp>
        <p:nvSpPr>
          <p:cNvPr id="8" name="Text 5"/>
          <p:cNvSpPr/>
          <p:nvPr/>
        </p:nvSpPr>
        <p:spPr>
          <a:xfrm>
            <a:off x="11274552" y="6473952"/>
            <a:ext cx="411480" cy="237744"/>
          </a:xfrm>
          <a:prstGeom prst="rect">
            <a:avLst/>
          </a:prstGeom>
          <a:noFill/>
          <a:ln/>
        </p:spPr>
        <p:txBody>
          <a:bodyPr wrap="square" lIns="0" tIns="0" rIns="0" bIns="0" rtlCol="0" anchor="ctr"/>
          <a:lstStyle/>
          <a:p>
            <a:pPr algn="r" indent="0" marL="0">
              <a:buNone/>
            </a:pPr>
            <a:r>
              <a:rPr lang="en-US" sz="900" dirty="0">
                <a:solidFill>
                  <a:srgbClr val="5F6F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iManage Integration Module</dc:title>
  <dc:subject>PptxGenJS Presentation</dc:subject>
  <dc:creator>Technology Solutions</dc:creator>
  <cp:lastModifiedBy>Technology Solutions</cp:lastModifiedBy>
  <cp:revision>1</cp:revision>
  <dcterms:created xsi:type="dcterms:W3CDTF">2026-08-09T14:24:19Z</dcterms:created>
  <dcterms:modified xsi:type="dcterms:W3CDTF">2026-08-09T14:24:19Z</dcterms:modified>
</cp:coreProperties>
</file>