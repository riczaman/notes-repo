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10312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Group Head Objectives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640080" y="301752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Resources — ESVP, FY26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640080" y="356616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Upstream alignment source for SVP-level team objectives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822960" cy="822960"/>
          </a:xfrm>
          <a:prstGeom prst="ellipse">
            <a:avLst/>
          </a:prstGeom>
          <a:solidFill>
            <a:srgbClr val="4A6FE3"/>
          </a:solidFill>
          <a:ln w="12700">
            <a:solidFill>
              <a:srgbClr val="4A6FE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5720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645920" y="5029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4A6F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HEAD OBJECTIVE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645920" y="868680"/>
            <a:ext cx="969264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Advance HR to increase capacity and impact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48640" y="2377440"/>
            <a:ext cx="10881360" cy="1463040"/>
          </a:xfrm>
          <a:prstGeom prst="rect">
            <a:avLst/>
          </a:prstGeom>
          <a:solidFill>
            <a:srgbClr val="F2F5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256032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 MEASURE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14400" y="2880360"/>
            <a:ext cx="1005840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Realize FY26 C3 target: $2.8MM (FY27 target: $4.75MM; total C3 target: $50MM)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48640" y="484632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Head Objectives — HR — FY26  |  1 of 4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822960" cy="822960"/>
          </a:xfrm>
          <a:prstGeom prst="ellipse">
            <a:avLst/>
          </a:prstGeom>
          <a:solidFill>
            <a:srgbClr val="4A6FE3"/>
          </a:solidFill>
          <a:ln w="12700">
            <a:solidFill>
              <a:srgbClr val="4A6FE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5720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645920" y="5029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4A6F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HEAD OBJECTIVE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645920" y="868680"/>
            <a:ext cx="969264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 the talent needed with the skills and capability to compete and win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48640" y="2377440"/>
            <a:ext cx="10881360" cy="1463040"/>
          </a:xfrm>
          <a:prstGeom prst="rect">
            <a:avLst/>
          </a:prstGeom>
          <a:solidFill>
            <a:srgbClr val="F2F5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256032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 MEASURE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14400" y="2880360"/>
            <a:ext cx="1005840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Increase critical roles confidence by 10% by YE26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48640" y="484632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Head Objectives — HR — FY26  |  2 of 4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822960" cy="822960"/>
          </a:xfrm>
          <a:prstGeom prst="ellipse">
            <a:avLst/>
          </a:prstGeom>
          <a:solidFill>
            <a:srgbClr val="4A6FE3"/>
          </a:solidFill>
          <a:ln w="12700">
            <a:solidFill>
              <a:srgbClr val="4A6FE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5720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645920" y="5029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4A6F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HEAD OBJECTIVE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645920" y="868680"/>
            <a:ext cx="969264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Activate our culture to mitigate people risk and drive performance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48640" y="2377440"/>
            <a:ext cx="10881360" cy="1463040"/>
          </a:xfrm>
          <a:prstGeom prst="rect">
            <a:avLst/>
          </a:prstGeom>
          <a:solidFill>
            <a:srgbClr val="F2F5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256032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 MEASURE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14400" y="2880360"/>
            <a:ext cx="1005840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policy compliance by end of FY26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48640" y="484632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Head Objectives — HR — FY26  |  3 of 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822960" cy="822960"/>
          </a:xfrm>
          <a:prstGeom prst="ellipse">
            <a:avLst/>
          </a:prstGeom>
          <a:solidFill>
            <a:srgbClr val="4A6FE3"/>
          </a:solidFill>
          <a:ln w="12700">
            <a:solidFill>
              <a:srgbClr val="4A6FE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5720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645920" y="5029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4A6F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HEAD OBJECTIVE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645920" y="868680"/>
            <a:ext cx="969264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Shape the workforce to future-proof the bank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48640" y="2377440"/>
            <a:ext cx="10881360" cy="1463040"/>
          </a:xfrm>
          <a:prstGeom prst="rect">
            <a:avLst/>
          </a:prstGeom>
          <a:solidFill>
            <a:srgbClr val="F2F5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256032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 MEASURE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14400" y="2880360"/>
            <a:ext cx="1005840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frequency of low spans to 30% across prioritized enterprise segments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48640" y="484632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Head Objectives — HR — FY26  |  4 of 4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Group Head Objectives - HR</dc:title>
  <dc:subject>PptxGenJS Presentation</dc:subject>
  <dc:creator>Demo</dc:creator>
  <cp:lastModifiedBy>Demo</cp:lastModifiedBy>
  <cp:revision>1</cp:revision>
  <dcterms:created xsi:type="dcterms:W3CDTF">2026-06-21T13:56:08Z</dcterms:created>
  <dcterms:modified xsi:type="dcterms:W3CDTF">2026-06-21T13:56:08Z</dcterms:modified>
</cp:coreProperties>
</file>