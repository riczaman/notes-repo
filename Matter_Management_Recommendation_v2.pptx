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confirm the matter management architecture before iManage is implemented. The position is not that iManage cannot hold matter data. It is that a document platform should not become the system of record for legal matter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schedule argument that removed TeamConnect has reversed. Azure infrastructure for the middleware will not be ready before the TeamConnect migration completes.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claiming iManage has no matter capability. It does. The distinction is matter context around content versus matter management as a business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option is technically feasible. The concern is that a document platform becomes the system of record for business processes, delivered mainly through configuration and custom middleware.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restores the original onboarding design. TeamConnect and iManage are built to coexist, so the choice is not TeamConnect or iManage.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question for the business: which TyMetrix 360 matter management features are licensed, which are disabled, and what would activation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is not a judgement on iManage. It marks where the capability does not come with the product and becomes our build and support responsibility.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whether Azure middleware is needed in both architectures. If it is, the incremental cost of making TeamConnect the matter system is smaller than it 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system does what it was built to do. The integration links the matter record to its content, which is a supported pattern for both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a decision on architecture, not on a vendor. Approving separation keeps iManage in the architecture doing what it is best at, and keeps the long-term matter platform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rickyzaman-claude-work/84b2db43-0ff4-4dfe-82a1-170067d6c764/scratchpad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3063240"/>
            <a:ext cx="5029200" cy="2971800"/>
          </a:xfrm>
          <a:prstGeom prst="roundRect">
            <a:avLst>
              <a:gd name="adj" fmla="val 2154"/>
            </a:avLst>
          </a:prstGeom>
          <a:solidFill>
            <a:srgbClr val="F3F7F4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77240" y="3063240"/>
            <a:ext cx="5029200" cy="2971800"/>
          </a:xfrm>
          <a:prstGeom prst="rect">
            <a:avLst/>
          </a:prstGeom>
          <a:ln w="25400">
            <a:solidFill>
              <a:srgbClr val="008A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43000" y="34015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RECOMMENDATION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" y="37033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Management</a:t>
            </a:r>
            <a:endParaRPr lang="en-US" sz="2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43000" y="464515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iManage Work be the matter management system, or should matter management sit in a dedicated platform?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43000" y="5440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required before iManage implementation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since TeamConnect was descoped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TeamConnect was removed from scope because of project delay. Four conditions behind that decision have since reversed.</a:t>
            </a:r>
            <a:endParaRPr lang="en-US" sz="1300" dirty="0"/>
          </a:p>
        </p:txBody>
      </p:sp>
      <p:pic>
        <p:nvPicPr>
          <p:cNvPr id="6" name="Image 0" descr="/private/tmp/claude-501/-Users-rickyzaman-claude-work/84b2db43-0ff4-4dfe-82a1-170067d6c764/scratchpad/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1396" y="2130552"/>
            <a:ext cx="356616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71516" y="35021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changed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63186" y="274868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4166" y="274868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63186" y="463966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4166" y="463966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8308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" y="2020824"/>
            <a:ext cx="329184" cy="329184"/>
          </a:xfrm>
          <a:prstGeom prst="ellipse">
            <a:avLst/>
          </a:prstGeom>
          <a:solidFill>
            <a:srgbClr val="1A5336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2020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43584" y="2039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2441448"/>
            <a:ext cx="3099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2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TeamConnect migration is back on track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04672" y="300837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delay that removed it from scope has cleared. It is expected to complete before the Azure environment is ready.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60520" y="2770632"/>
            <a:ext cx="502920" cy="0"/>
          </a:xfrm>
          <a:prstGeom prst="line">
            <a:avLst/>
          </a:prstGeom>
          <a:noFill/>
          <a:ln w="15875">
            <a:solidFill>
              <a:srgbClr val="9DB8A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05656" y="2715768"/>
            <a:ext cx="109728" cy="109728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20" name="Shape 17"/>
          <p:cNvSpPr/>
          <p:nvPr/>
        </p:nvSpPr>
        <p:spPr>
          <a:xfrm>
            <a:off x="8028432" y="178308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84464" y="2020824"/>
            <a:ext cx="329184" cy="329184"/>
          </a:xfrm>
          <a:prstGeom prst="ellipse">
            <a:avLst/>
          </a:prstGeom>
          <a:solidFill>
            <a:srgbClr val="1A5336"/>
          </a:solidFill>
          <a:ln/>
        </p:spPr>
      </p:sp>
      <p:sp>
        <p:nvSpPr>
          <p:cNvPr id="22" name="Text 19"/>
          <p:cNvSpPr/>
          <p:nvPr/>
        </p:nvSpPr>
        <p:spPr>
          <a:xfrm>
            <a:off x="8284464" y="2020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723376" y="2039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84464" y="2441448"/>
            <a:ext cx="3099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2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Licences are already renewed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284464" y="300837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matter management platform is a committed cost, not a new purchase to justify.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461504" y="2770632"/>
            <a:ext cx="502920" cy="0"/>
          </a:xfrm>
          <a:prstGeom prst="line">
            <a:avLst/>
          </a:prstGeom>
          <a:noFill/>
          <a:ln w="15875">
            <a:solidFill>
              <a:srgbClr val="9DB8A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09560" y="2715768"/>
            <a:ext cx="109728" cy="109728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28" name="Shape 25"/>
          <p:cNvSpPr/>
          <p:nvPr/>
        </p:nvSpPr>
        <p:spPr>
          <a:xfrm>
            <a:off x="548640" y="406908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4672" y="4306824"/>
            <a:ext cx="329184" cy="329184"/>
          </a:xfrm>
          <a:prstGeom prst="ellipse">
            <a:avLst/>
          </a:prstGeom>
          <a:solidFill>
            <a:srgbClr val="1A5336"/>
          </a:solidFill>
          <a:ln/>
        </p:spPr>
      </p:sp>
      <p:sp>
        <p:nvSpPr>
          <p:cNvPr id="30" name="Text 27"/>
          <p:cNvSpPr/>
          <p:nvPr/>
        </p:nvSpPr>
        <p:spPr>
          <a:xfrm>
            <a:off x="804672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243584" y="4325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04672" y="4727448"/>
            <a:ext cx="3099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2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Azure middleware is now in scope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804672" y="529437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iManage design needs a built and supported integration layer to reach TyMetrix and Exterro.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160520" y="5056632"/>
            <a:ext cx="502920" cy="0"/>
          </a:xfrm>
          <a:prstGeom prst="line">
            <a:avLst/>
          </a:prstGeom>
          <a:noFill/>
          <a:ln w="15875">
            <a:solidFill>
              <a:srgbClr val="9DB8A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05656" y="5001768"/>
            <a:ext cx="109728" cy="109728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36" name="Shape 33"/>
          <p:cNvSpPr/>
          <p:nvPr/>
        </p:nvSpPr>
        <p:spPr>
          <a:xfrm>
            <a:off x="8028432" y="406908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84464" y="4306824"/>
            <a:ext cx="329184" cy="329184"/>
          </a:xfrm>
          <a:prstGeom prst="ellipse">
            <a:avLst/>
          </a:prstGeom>
          <a:solidFill>
            <a:srgbClr val="1A5336"/>
          </a:solidFill>
          <a:ln/>
        </p:spPr>
      </p:sp>
      <p:sp>
        <p:nvSpPr>
          <p:cNvPr id="38" name="Text 35"/>
          <p:cNvSpPr/>
          <p:nvPr/>
        </p:nvSpPr>
        <p:spPr>
          <a:xfrm>
            <a:off x="8284464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723376" y="4325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284464" y="4727448"/>
            <a:ext cx="3099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2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 is not yet implemented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8284464" y="529437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configuration or migrated content to protect, so the architecture can still be corrected.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461504" y="5056632"/>
            <a:ext cx="502920" cy="0"/>
          </a:xfrm>
          <a:prstGeom prst="line">
            <a:avLst/>
          </a:prstGeom>
          <a:noFill/>
          <a:ln w="15875">
            <a:solidFill>
              <a:srgbClr val="9DB8A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09560" y="5001768"/>
            <a:ext cx="109728" cy="109728"/>
          </a:xfrm>
          <a:prstGeom prst="ellipse">
            <a:avLst/>
          </a:prstGeom>
          <a:solidFill>
            <a:srgbClr val="008A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THE QUESTION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257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 can hold matter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not the question.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which system is the source of truth for matter data, workflow and reporting, while iManage remains the source of truth for documents and email.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08676" cy="3200400"/>
          </a:xfrm>
          <a:prstGeom prst="roundRect">
            <a:avLst>
              <a:gd name="adj" fmla="val 2000"/>
            </a:avLst>
          </a:prstGeom>
          <a:solidFill>
            <a:srgbClr val="E8F2EA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4768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iManage Work is built for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768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Content: the documents and email a matter produces.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542032"/>
            <a:ext cx="47685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and email repository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Versioning, security and retention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and matter-based search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and Outlook filing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workspaces and matter metadata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Mature, purpose-built content experience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1636" y="1691640"/>
            <a:ext cx="5408676" cy="3200400"/>
          </a:xfrm>
          <a:prstGeom prst="roundRect">
            <a:avLst>
              <a:gd name="adj" fmla="val 2000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1676" y="1874520"/>
            <a:ext cx="4768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matter management system owns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51676" y="2194560"/>
            <a:ext cx="4768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object: the matter itself and its process.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51676" y="2542032"/>
            <a:ext cx="47685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intake, approval and assignment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lifecycle, status and closure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dates, tasks and escalations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Budget, spend and outside counsel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reporting and dashboards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of who changed matter data and why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1A5336"/>
          </a:solidFill>
          <a:ln w="12700">
            <a:solidFill>
              <a:srgbClr val="1A53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20640"/>
            <a:ext cx="10360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is not a business process.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6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custom fields to iManage records matter attributes. It does not deliver intake, approvals, lifecycle transitions, key-date tracking or matter reporting. Each of those has to be built through configuration, integration or custom code, and then maintained by us.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257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 as both the matter system and the document repository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897112" y="530352"/>
            <a:ext cx="2743200" cy="402336"/>
          </a:xfrm>
          <a:prstGeom prst="roundRect">
            <a:avLst>
              <a:gd name="adj" fmla="val 20455"/>
            </a:avLst>
          </a:prstGeom>
          <a:solidFill>
            <a:srgbClr val="E4E9E6"/>
          </a:solidFill>
          <a:ln w="12700">
            <a:solidFill>
              <a:srgbClr val="E4E9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97112" y="5303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PROPOSAL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81912"/>
            <a:ext cx="146304" cy="146304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1527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primary application for users to learn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iManage metadata and custom fields instead of introducing another data model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the TeamConnect migration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document, email and Office experience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4306824" y="13258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1144" y="1581912"/>
            <a:ext cx="146304" cy="146304"/>
          </a:xfrm>
          <a:prstGeom prst="ellipse">
            <a:avLst/>
          </a:prstGeom>
          <a:solidFill>
            <a:srgbClr val="1A5336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1527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81144" y="1883664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matter record is spread across workspaces, folders, custom fields and external systems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requirements start driving document repository configuration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reporting has to be assembled from iManage, TyMetrix and Exterro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TeamConnect investment goes unused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8065008" y="13258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F8F0EE"/>
          </a:solidFill>
          <a:ln w="12700">
            <a:solidFill>
              <a:srgbClr val="EBD9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1581912"/>
            <a:ext cx="146304" cy="146304"/>
          </a:xfrm>
          <a:prstGeom prst="ellipse">
            <a:avLst/>
          </a:prstGeom>
          <a:solidFill>
            <a:srgbClr val="8E2F22"/>
          </a:solidFill>
          <a:ln/>
        </p:spPr>
      </p:sp>
      <p:sp>
        <p:nvSpPr>
          <p:cNvPr id="17" name="Text 15"/>
          <p:cNvSpPr/>
          <p:nvPr/>
        </p:nvSpPr>
        <p:spPr>
          <a:xfrm>
            <a:off x="8577072" y="1527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E2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39328" y="1883664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grows into a custom matter management application that technology owns and maintains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middleware becomes a permanent dependency to build, secure, monitor and patch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and document data become coupled, making the matter platform hard to replace later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future RFP becomes harder once the matter model is embedded in iManage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E8F2EA"/>
          </a:solidFill>
          <a:ln w="12700">
            <a:solidFill>
              <a:srgbClr val="D3E5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36592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by the Azure environment and middleware build. That infrastructure is not expected to be ready before the TeamConnect migration completes.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504688"/>
            <a:ext cx="11091672" cy="758952"/>
          </a:xfrm>
          <a:prstGeom prst="roundRect">
            <a:avLst>
              <a:gd name="adj" fmla="val 8434"/>
            </a:avLst>
          </a:prstGeom>
          <a:solidFill>
            <a:srgbClr val="1A5336"/>
          </a:solidFill>
          <a:ln w="12700">
            <a:solidFill>
              <a:srgbClr val="1A53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04688"/>
            <a:ext cx="103601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Technically feasible, but it turns a document platform into a custom matter application that we build, own and support.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257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TeamConnect for matter management, iManage for documents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897112" y="530352"/>
            <a:ext cx="2743200" cy="402336"/>
          </a:xfrm>
          <a:prstGeom prst="roundRect">
            <a:avLst>
              <a:gd name="adj" fmla="val 20455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97112" y="5303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81912"/>
            <a:ext cx="146304" cy="146304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1527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matter intake, lifecycle, workflow, key dates and legal spend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Licences already renewed and the cloud migration is already back on track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Mitratech supports iManage 10 as an out-of-the-box document management integration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ownership: matter data in TeamConnect, content in iManage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 future matter management RFP open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4306824" y="13258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1144" y="1581912"/>
            <a:ext cx="146304" cy="146304"/>
          </a:xfrm>
          <a:prstGeom prst="ellipse">
            <a:avLst/>
          </a:prstGeom>
          <a:solidFill>
            <a:srgbClr val="1A5336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1527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81144" y="1883664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applications for legal users rather than one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integration between matter and content must be built and governed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TeamConnect migration effort stays in scope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platforms to administer, with data synchronisation rules to agree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8065008" y="13258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F8F0EE"/>
          </a:solidFill>
          <a:ln w="12700">
            <a:solidFill>
              <a:srgbClr val="EBD9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1581912"/>
            <a:ext cx="146304" cy="146304"/>
          </a:xfrm>
          <a:prstGeom prst="ellipse">
            <a:avLst/>
          </a:prstGeom>
          <a:solidFill>
            <a:srgbClr val="8E2F22"/>
          </a:solidFill>
          <a:ln/>
        </p:spPr>
      </p:sp>
      <p:sp>
        <p:nvSpPr>
          <p:cNvPr id="17" name="Text 15"/>
          <p:cNvSpPr/>
          <p:nvPr/>
        </p:nvSpPr>
        <p:spPr>
          <a:xfrm>
            <a:off x="8577072" y="1527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E2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39328" y="1883664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may see the architecture as more complex than a single platform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depends on a well-designed link between the matter record and its workspace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TyMetrix and Exterro integration work still applies where those systems remain separate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impact must be confirmed against current entitlements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E8F2EA"/>
          </a:solidFill>
          <a:ln w="12700">
            <a:solidFill>
              <a:srgbClr val="D3E5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36592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migration is already underway and expected to complete before the Azure environment for the alternative design is ready.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504688"/>
            <a:ext cx="11091672" cy="758952"/>
          </a:xfrm>
          <a:prstGeom prst="roundRect">
            <a:avLst>
              <a:gd name="adj" fmla="val 8434"/>
            </a:avLst>
          </a:prstGeom>
          <a:solidFill>
            <a:srgbClr val="1A5336"/>
          </a:solidFill>
          <a:ln w="12700">
            <a:solidFill>
              <a:srgbClr val="1A53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04688"/>
            <a:ext cx="103601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 the matter capability we would otherwise build, on licences already paid for, and keeps iManage doing what it is best at.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257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TyMetrix 360 for matter management, iManage for documents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897112" y="530352"/>
            <a:ext cx="2743200" cy="402336"/>
          </a:xfrm>
          <a:prstGeom prst="roundRect">
            <a:avLst>
              <a:gd name="adj" fmla="val 20455"/>
            </a:avLst>
          </a:prstGeom>
          <a:solidFill>
            <a:srgbClr val="E4E9E6"/>
          </a:solidFill>
          <a:ln w="12700">
            <a:solidFill>
              <a:srgbClr val="E4E9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97112" y="5303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IN PARALLEL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81912"/>
            <a:ext cx="146304" cy="146304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1527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management functionality already exists in the platform and is currently disabled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spend, budgets, rates and invoice management sit in the same product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platform already available to the organisation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reduce the number of platforms in the long-term architecture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4306824" y="13258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1144" y="1581912"/>
            <a:ext cx="146304" cy="146304"/>
          </a:xfrm>
          <a:prstGeom prst="ellipse">
            <a:avLst/>
          </a:prstGeom>
          <a:solidFill>
            <a:srgbClr val="1A5336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1527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81144" y="1883664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entitlement, current configuration and existing data must be confirmed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preference to date has been for TeamConnect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iManage integration approach needs to be validated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and configuration effort is not yet scoped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8065008" y="13258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F8F0EE"/>
          </a:solidFill>
          <a:ln w="12700">
            <a:solidFill>
              <a:srgbClr val="EBD9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1581912"/>
            <a:ext cx="146304" cy="146304"/>
          </a:xfrm>
          <a:prstGeom prst="ellipse">
            <a:avLst/>
          </a:prstGeom>
          <a:solidFill>
            <a:srgbClr val="8E2F22"/>
          </a:solidFill>
          <a:ln/>
        </p:spPr>
      </p:sp>
      <p:sp>
        <p:nvSpPr>
          <p:cNvPr id="17" name="Text 15"/>
          <p:cNvSpPr/>
          <p:nvPr/>
        </p:nvSpPr>
        <p:spPr>
          <a:xfrm>
            <a:off x="8577072" y="1527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E2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39328" y="1883664"/>
            <a:ext cx="3026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cost and effort are unknown until an assessment is done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gaps against TeamConnect are not yet documented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this as the near-term answer would delay the current implementation</a:t>
            </a:r>
            <a:endParaRPr lang="en-US" sz="1170" dirty="0"/>
          </a:p>
          <a:p>
            <a:pPr marL="152400" indent="-1524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17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data may already exist in the platform and need reconciliation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E8F2EA"/>
          </a:solidFill>
          <a:ln w="12700">
            <a:solidFill>
              <a:srgbClr val="D3E5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36592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technical and commercial assessment can run alongside the TeamConnect migration. It should not hold up the near-term decision.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504688"/>
            <a:ext cx="11091672" cy="758952"/>
          </a:xfrm>
          <a:prstGeom prst="roundRect">
            <a:avLst>
              <a:gd name="adj" fmla="val 8434"/>
            </a:avLst>
          </a:prstGeom>
          <a:solidFill>
            <a:srgbClr val="1A5336"/>
          </a:solidFill>
          <a:ln w="12700">
            <a:solidFill>
              <a:srgbClr val="1A53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04688"/>
            <a:ext cx="103601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be the stronger long-term answer, but nothing evidences that yet, so it cannot carry the near-term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options side by side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891272" y="457200"/>
            <a:ext cx="3749040" cy="786384"/>
          </a:xfrm>
          <a:prstGeom prst="roundRect">
            <a:avLst>
              <a:gd name="adj" fmla="val 8140"/>
            </a:avLst>
          </a:prstGeom>
          <a:solidFill>
            <a:srgbClr val="E8F2EA"/>
          </a:solidFill>
          <a:ln w="12700">
            <a:solidFill>
              <a:srgbClr val="BFD9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74152" y="45720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Option B.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matter capability is bought, not built.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44752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2743200"/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9DC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iManage as matter system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9DC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TeamConnect + iManage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9DC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TyMetrix + iManage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3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Matter lifecycle and workflow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 and custom 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Intake, approvals, key dates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 dependent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spend and e-billing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core function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Documents, email, search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 (iManage)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 (iManage)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 (iManage)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matter reporting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Spans several systems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to the matter system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to the matter system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Azure middleware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under current design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Potentially reduced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Potentially reduced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licensed or available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iManage not yet implemented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Renewed, migration on track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Licensed, features disabled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Long-term support burden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Higher, custom owned by 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Lower, vendor owned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Lower, vendor owned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RFP flexibility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760720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DEEDE3"/>
          </a:solidFill>
          <a:ln w="12700">
            <a:solidFill>
              <a:srgbClr val="BFD9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742432"/>
            <a:ext cx="14685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Provided by the product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38958" y="5760720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F7E3DF"/>
          </a:solidFill>
          <a:ln w="12700">
            <a:solidFill>
              <a:srgbClr val="E3C4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49854" y="5742432"/>
            <a:ext cx="23756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must be built and supported by us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36362" y="5760720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F2F4F3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7258" y="5742432"/>
            <a:ext cx="19220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or equal across options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0716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comparison, not a procurement scorecard. Final platform selection should follow validated business requirements and vendor demonstrations.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EFFORT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architecture cost, not licence cost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TeamConnect looks like a saving until the rest of the architecture is priced. The iManage design still requires Azure middleware to reach TyMetrix and Exterro.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3959352"/>
                <a:gridCol w="3566160"/>
                <a:gridCol w="3566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9DC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iManage as matter system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9DC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TeamConnect + iManage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3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iManage implementation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Matter configuration and workflow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Significant, largely custom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Matter reporting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Potentially custom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middleware build and support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be reduced in scope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TyMetrix and Exterro integration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while separate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TeamConnect cloud migration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Remains in scope, already underway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TeamConnect licences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renewed, unused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renewed, used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 custom support burden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E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49240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DEEDE3"/>
          </a:solidFill>
          <a:ln w="12700">
            <a:solidFill>
              <a:srgbClr val="BFD9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5330952"/>
            <a:ext cx="22055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effort, covered by the product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75965" y="5349240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F7E3DF"/>
          </a:solidFill>
          <a:ln w="12700">
            <a:solidFill>
              <a:srgbClr val="E3C4B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86861" y="5330952"/>
            <a:ext cx="22055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higher effort or cost exposure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03290" y="5349240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F2F4F3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4186" y="5330952"/>
            <a:ext cx="1695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Broadly the same either way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9333"/>
            </a:avLst>
          </a:prstGeom>
          <a:solidFill>
            <a:srgbClr val="1A5336"/>
          </a:solidFill>
          <a:ln w="12700">
            <a:solidFill>
              <a:srgbClr val="1A533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66928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final decision: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pricing for both platforms is quote-based. Build a three-year total cost of ownership from the renewed TeamConnect contract, the current iManage quote, the Azure build and run estimate, and internal engineering effort.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each platform for what it is built to 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13385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matter record and the content that supports it stay in separate systems, joined by one integration with a defined scope.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206240" cy="2057400"/>
          </a:xfrm>
          <a:prstGeom prst="roundRect">
            <a:avLst>
              <a:gd name="adj" fmla="val 3111"/>
            </a:avLst>
          </a:prstGeom>
          <a:solidFill>
            <a:srgbClr val="1A5336"/>
          </a:solidFill>
          <a:ln w="12700">
            <a:solidFill>
              <a:srgbClr val="1A5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19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TeamConnect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 for matter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40864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intake, approval and assignment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Lifecycle, status and closure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dates, tasks and escalations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Budget, spend and outside counsel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reporting and dashboards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3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3480" y="2121408"/>
            <a:ext cx="2194560" cy="0"/>
          </a:xfrm>
          <a:prstGeom prst="line">
            <a:avLst/>
          </a:prstGeom>
          <a:noFill/>
          <a:ln w="25400">
            <a:solidFill>
              <a:srgbClr val="0B6B3A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892040" y="22860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ID linked to the iManage workspace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created when the matter opens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closure mirrored both ways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34072" y="1554480"/>
            <a:ext cx="4206240" cy="2057400"/>
          </a:xfrm>
          <a:prstGeom prst="roundRect">
            <a:avLst>
              <a:gd name="adj" fmla="val 3111"/>
            </a:avLst>
          </a:prstGeom>
          <a:solidFill>
            <a:srgbClr val="E8F2EA"/>
          </a:solidFill>
          <a:ln w="12700">
            <a:solidFill>
              <a:srgbClr val="BFD9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8392" y="1719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 Work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08392" y="20482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 for documents and email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08392" y="2340864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and email filing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and audit history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access and retention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and matter-based search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and Outlook experience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7307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TyMetrix and Exterro integrate to the matter record in TeamConnect, not to the document store. That keeps one owner for matter data and one owner for content.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408676" cy="2194560"/>
          </a:xfrm>
          <a:prstGeom prst="roundRect">
            <a:avLst>
              <a:gd name="adj" fmla="val 2917"/>
            </a:avLst>
          </a:prstGeom>
          <a:solidFill>
            <a:srgbClr val="E8F2EA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279392"/>
            <a:ext cx="4768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TERM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590288"/>
            <a:ext cx="47685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Reinstate TeamConnect as the matter platform and confirm the remaining migration scope and dates.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iManage as the document and email repository, with the TeamConnect DMS integration in scope from day one.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the Azure middleware build until the integration scope is confirmed against the TeamConnect design.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1636" y="4114800"/>
            <a:ext cx="5408676" cy="2194560"/>
          </a:xfrm>
          <a:prstGeom prst="roundRect">
            <a:avLst>
              <a:gd name="adj" fmla="val 2917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1676" y="4279392"/>
            <a:ext cx="4768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51676" y="4590288"/>
            <a:ext cx="47685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TyMetrix 360 entitlement, disabled matter modules, existing data and activation cost.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requirements-based RFP across TeamConnect, TyMetrix and other ELM platforms.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Re-test the architecture against the RFP outcome before any further custom build.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575304" cy="2606040"/>
          </a:xfrm>
          <a:prstGeom prst="roundRect">
            <a:avLst>
              <a:gd name="adj" fmla="val 2456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481328"/>
            <a:ext cx="384048" cy="384048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01168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separating matter management from documents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78892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 is implemented as the document and email repository. Matter data, workflow and reporting sit in a dedicated platform.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6824" y="1234440"/>
            <a:ext cx="3575304" cy="2606040"/>
          </a:xfrm>
          <a:prstGeom prst="roundRect">
            <a:avLst>
              <a:gd name="adj" fmla="val 2456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1481328"/>
            <a:ext cx="384048" cy="384048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01168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Reinstate TeamConnect for the current implementation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278892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already licensed, the cloud migration is back on track, and it supports iManage as its document management system.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65008" y="1234440"/>
            <a:ext cx="3575304" cy="2606040"/>
          </a:xfrm>
          <a:prstGeom prst="roundRect">
            <a:avLst>
              <a:gd name="adj" fmla="val 2456"/>
            </a:avLst>
          </a:prstGeom>
          <a:solidFill>
            <a:srgbClr val="EFF4F1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1481328"/>
            <a:ext cx="384048" cy="384048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7616" y="201168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TyMetrix assessment and a future RFP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57616" y="278892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what TyMetrix already provides, then select the long-term matter platform against validated requirements.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confirm before build starts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5408676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818888"/>
            <a:ext cx="146304" cy="146304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60704" y="4498848"/>
            <a:ext cx="46222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matter fields, workflows, approvals and reports the legal team actually requires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1636" y="4498848"/>
            <a:ext cx="5408676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7668" y="4818888"/>
            <a:ext cx="146304" cy="146304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26" name="Text 24"/>
          <p:cNvSpPr/>
          <p:nvPr/>
        </p:nvSpPr>
        <p:spPr>
          <a:xfrm>
            <a:off x="6743700" y="4498848"/>
            <a:ext cx="46222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TyMetrix 360 modules are licensed, which matter features are disabled, and what activation would cost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413248"/>
            <a:ext cx="5408676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733288"/>
            <a:ext cx="146304" cy="146304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60704" y="5413248"/>
            <a:ext cx="46222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TeamConnect migration effort and what is needed to reinstate the original scope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31636" y="5413248"/>
            <a:ext cx="5408676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87668" y="5733288"/>
            <a:ext cx="146304" cy="146304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32" name="Text 30"/>
          <p:cNvSpPr/>
          <p:nvPr/>
        </p:nvSpPr>
        <p:spPr>
          <a:xfrm>
            <a:off x="6743700" y="5413248"/>
            <a:ext cx="46222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Azure middleware is required in both architectures, and who owns it once it is live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Matter Management Architecture</dc:title>
  <dc:subject>PptxGenJS Presentation</dc:subject>
  <dc:creator>Technology</dc:creator>
  <cp:lastModifiedBy>Technology</cp:lastModifiedBy>
  <cp:revision>1</cp:revision>
  <dcterms:created xsi:type="dcterms:W3CDTF">2026-08-14T15:56:50Z</dcterms:created>
  <dcterms:modified xsi:type="dcterms:W3CDTF">2026-08-14T15:56:50Z</dcterms:modified>
</cp:coreProperties>
</file>