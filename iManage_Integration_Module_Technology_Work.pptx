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 builds the code</c:v>
                </c:pt>
              </c:strCache>
            </c:strRef>
          </c:tx>
          <c:spPr>
            <a:solidFill>
              <a:srgbClr val="008A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1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Testing &amp; UAT</c:v>
                  </c:pt>
                  <c:pt idx="1">
                    <c:v>Deployment</c:v>
                  </c:pt>
                  <c:pt idx="2">
                    <c:v>Code handover</c:v>
                  </c:pt>
                  <c:pt idx="3">
                    <c:v>Code build (on critical path)</c:v>
                  </c:pt>
                  <c:pt idx="4">
                    <c:v>Azure environment (on critical path)</c:v>
                  </c:pt>
                  <c:pt idx="5">
                    <c:v>Design &amp; discovery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5.5</c:v>
                </c:pt>
                <c:pt idx="1">
                  <c:v>2.5</c:v>
                </c:pt>
                <c:pt idx="2">
                  <c:v>0</c:v>
                </c:pt>
                <c:pt idx="3">
                  <c:v>0.5</c:v>
                </c:pt>
                <c:pt idx="4">
                  <c:v>8</c:v>
                </c:pt>
                <c:pt idx="5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Kroll builds and hands over</c:v>
                </c:pt>
              </c:strCache>
            </c:strRef>
          </c:tx>
          <c:spPr>
            <a:solidFill>
              <a:srgbClr val="1F4E5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1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Testing &amp; UAT</c:v>
                  </c:pt>
                  <c:pt idx="1">
                    <c:v>Deployment</c:v>
                  </c:pt>
                  <c:pt idx="2">
                    <c:v>Code handover</c:v>
                  </c:pt>
                  <c:pt idx="3">
                    <c:v>Code build (on critical path)</c:v>
                  </c:pt>
                  <c:pt idx="4">
                    <c:v>Azure environment (on critical path)</c:v>
                  </c:pt>
                  <c:pt idx="5">
                    <c:v>Design &amp; discovery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6.5</c:v>
                </c:pt>
                <c:pt idx="1">
                  <c:v>2.5</c:v>
                </c:pt>
                <c:pt idx="2">
                  <c:v>3</c:v>
                </c:pt>
                <c:pt idx="3">
                  <c:v>0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621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1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4EA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F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F6F68"/>
                    </a:solidFill>
                    <a:latin typeface="Calibri"/>
                  </a:rPr>
                  <a:t>Elapsed weeks on the critical path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F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16211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the work, the schedule impact and who writes the integration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whether this is too much: the same IAP, PID, security review and ARE deployment apply to a simpler design, so a design that cannot take the third and fourth downstream app means paying the environment runway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Decide on capability and long-term support, not on schedule. The end date barely moves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463040"/>
            <a:ext cx="6583680" cy="6583680"/>
          </a:xfrm>
          <a:prstGeom prst="roundRect">
            <a:avLst>
              <a:gd name="adj" fmla="val 6944"/>
            </a:avLst>
          </a:prstGeom>
          <a:solidFill>
            <a:srgbClr val="0A5738"/>
          </a:solidFill>
          <a:ln w="12700">
            <a:solidFill>
              <a:srgbClr val="0A57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3108960"/>
            <a:ext cx="4572000" cy="4572000"/>
          </a:xfrm>
          <a:prstGeom prst="roundRect">
            <a:avLst>
              <a:gd name="adj" fmla="val 10000"/>
            </a:avLst>
          </a:prstGeom>
          <a:solidFill>
            <a:srgbClr val="0D6B45"/>
          </a:solidFill>
          <a:ln w="12700">
            <a:solidFill>
              <a:srgbClr val="0D6B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822960" cy="6858000"/>
          </a:xfrm>
          <a:prstGeom prst="rect">
            <a:avLst/>
          </a:prstGeom>
          <a:solidFill>
            <a:srgbClr val="008A00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411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FD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SOLUTIONS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71600" y="2304288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iManage Integration Module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71600" y="321868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technology work, effort and timelines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4206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371600" y="47823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added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project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77640" y="4206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977640" y="47823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to build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Azure environment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0" y="4206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583680" y="47823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code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FD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an integration module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systems can move data on their own.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2286000" cy="1051560"/>
          </a:xfrm>
          <a:prstGeom prst="roundRect">
            <a:avLst>
              <a:gd name="adj" fmla="val 4348"/>
            </a:avLst>
          </a:prstGeom>
          <a:solidFill>
            <a:srgbClr val="00432A"/>
          </a:solidFill>
          <a:ln w="15875">
            <a:solidFill>
              <a:srgbClr val="00432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22860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iManage</a:t>
            </a:r>
            <a:endParaRPr lang="en-US" sz="1250" dirty="0"/>
          </a:p>
          <a:p>
            <a:pPr algn="ctr" indent="0" marL="0">
              <a:lnSpc>
                <a:spcPts val="1563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Matter system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60520" y="1874520"/>
            <a:ext cx="3200400" cy="1417320"/>
          </a:xfrm>
          <a:prstGeom prst="roundRect">
            <a:avLst>
              <a:gd name="adj" fmla="val 3226"/>
            </a:avLst>
          </a:prstGeom>
          <a:solidFill>
            <a:srgbClr val="008A00"/>
          </a:solidFill>
          <a:ln w="15875">
            <a:solidFill>
              <a:srgbClr val="008A0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60520" y="1874520"/>
            <a:ext cx="320040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TD-hosted</a:t>
            </a:r>
            <a:endParaRPr lang="en-US" sz="1300" dirty="0"/>
          </a:p>
          <a:p>
            <a:pPr algn="ctr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module</a:t>
            </a:r>
            <a:endParaRPr lang="en-US" sz="1300" dirty="0"/>
          </a:p>
          <a:p>
            <a:pPr algn="ctr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(Azure)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0" y="1417320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0" y="1417320"/>
            <a:ext cx="2743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0" y="2423160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0" y="2423160"/>
            <a:ext cx="2743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TyMetrix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0" y="3429000"/>
            <a:ext cx="27432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0" y="3429000"/>
            <a:ext cx="27432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downstream apps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35808" y="2578608"/>
            <a:ext cx="1078992" cy="0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880360" y="22311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every 2–5 min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06640" y="2377440"/>
            <a:ext cx="1234440" cy="-530352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406640" y="2578608"/>
            <a:ext cx="1234440" cy="274320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06640" y="2788920"/>
            <a:ext cx="1234440" cy="960120"/>
          </a:xfrm>
          <a:prstGeom prst="line">
            <a:avLst/>
          </a:prstGeom>
          <a:noFill/>
          <a:ln w="25400">
            <a:solidFill>
              <a:srgbClr val="C9D8CD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360920" y="13898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4434840"/>
            <a:ext cx="35295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event triggers and no ability to call outbound APIs. It exposes an endpoint that can be pinged.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79392" y="4434840"/>
            <a:ext cx="35295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07992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Exterro and TyMetrix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07992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send or request data. Both accept batch intake, but something has to assemble and deliver the batch.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55864" y="4434840"/>
            <a:ext cx="3529584" cy="1600200"/>
          </a:xfrm>
          <a:prstGeom prst="roundRect">
            <a:avLst>
              <a:gd name="adj" fmla="val 3429"/>
            </a:avLst>
          </a:prstGeom>
          <a:solidFill>
            <a:srgbClr val="EAF3EA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84464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320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84464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TD-hosted integration module is the only way matter data moves between the three systems.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Azure platform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 and Service Bus for the integration. Data Factory for the Team Connect migration.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83112" cy="2377440"/>
          </a:xfrm>
          <a:prstGeom prst="roundRect">
            <a:avLst>
              <a:gd name="adj" fmla="val 3077"/>
            </a:avLst>
          </a:prstGeom>
          <a:solidFill>
            <a:srgbClr val="F5FAF6"/>
          </a:solidFill>
          <a:ln w="12700">
            <a:solidFill>
              <a:srgbClr val="C9D8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824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103120"/>
            <a:ext cx="1508760" cy="777240"/>
          </a:xfrm>
          <a:prstGeom prst="roundRect">
            <a:avLst>
              <a:gd name="adj" fmla="val 5882"/>
            </a:avLst>
          </a:prstGeom>
          <a:solidFill>
            <a:srgbClr val="00432A"/>
          </a:solidFill>
          <a:ln w="15875">
            <a:solidFill>
              <a:srgbClr val="00432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103120"/>
            <a:ext cx="15087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2048256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008A00"/>
          </a:solidFill>
          <a:ln w="15875">
            <a:solidFill>
              <a:srgbClr val="008A0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2048256"/>
            <a:ext cx="17373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Function: poller (2–5 min)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06040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008A00"/>
          </a:solidFill>
          <a:ln w="15875">
            <a:solidFill>
              <a:srgbClr val="008A0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Mgmt: manual sync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2103120"/>
            <a:ext cx="1737360" cy="777240"/>
          </a:xfrm>
          <a:prstGeom prst="roundRect">
            <a:avLst>
              <a:gd name="adj" fmla="val 5882"/>
            </a:avLst>
          </a:prstGeom>
          <a:solidFill>
            <a:srgbClr val="008A00"/>
          </a:solidFill>
          <a:ln w="15875">
            <a:solidFill>
              <a:srgbClr val="008A0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103120"/>
            <a:ext cx="17373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Functions:</a:t>
            </a:r>
            <a:endParaRPr lang="en-US" sz="1050" dirty="0"/>
          </a:p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model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95160" y="2103120"/>
            <a:ext cx="1737360" cy="777240"/>
          </a:xfrm>
          <a:prstGeom prst="roundRect">
            <a:avLst>
              <a:gd name="adj" fmla="val 5882"/>
            </a:avLst>
          </a:prstGeom>
          <a:solidFill>
            <a:srgbClr val="00432A"/>
          </a:solidFill>
          <a:ln w="15875">
            <a:solidFill>
              <a:srgbClr val="00432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95160" y="2103120"/>
            <a:ext cx="17373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1050" dirty="0"/>
          </a:p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matter-events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0" y="1810512"/>
            <a:ext cx="2331720" cy="411480"/>
          </a:xfrm>
          <a:prstGeom prst="roundRect">
            <a:avLst>
              <a:gd name="adj" fmla="val 11111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0" y="1810512"/>
            <a:ext cx="23317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Exterro adapter  →  Exterro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0" y="2331720"/>
            <a:ext cx="2331720" cy="411480"/>
          </a:xfrm>
          <a:prstGeom prst="roundRect">
            <a:avLst>
              <a:gd name="adj" fmla="val 11111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TyMetrix adapter  →  TyMetrix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0" y="2852928"/>
            <a:ext cx="233172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0" y="2852928"/>
            <a:ext cx="23317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adapters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04288" y="2496312"/>
            <a:ext cx="365760" cy="0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453128" y="2496312"/>
            <a:ext cx="365760" cy="0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601968" y="2496312"/>
            <a:ext cx="365760" cy="0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50808" y="2331720"/>
            <a:ext cx="365760" cy="-320040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750808" y="2496312"/>
            <a:ext cx="365760" cy="45720"/>
          </a:xfrm>
          <a:prstGeom prst="line">
            <a:avLst/>
          </a:prstGeom>
          <a:noFill/>
          <a:ln w="25400">
            <a:solidFill>
              <a:srgbClr val="4C9E4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750808" y="2651760"/>
            <a:ext cx="365760" cy="402336"/>
          </a:xfrm>
          <a:prstGeom prst="line">
            <a:avLst/>
          </a:prstGeom>
          <a:noFill/>
          <a:ln w="25400">
            <a:solidFill>
              <a:srgbClr val="C9D8CD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31520" y="34290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services:  Azure SQL (integration state)  ·  Key Vault (secrets)  ·  Application Insights and Azure Monitor (monitoring)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4164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E4EEF2"/>
          </a:solidFill>
          <a:ln w="12700">
            <a:solidFill>
              <a:srgbClr val="C9D8C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1148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F4E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443484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77240" y="4434840"/>
            <a:ext cx="192024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Connect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(SQL / Oracle / blob)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15768" y="4773168"/>
            <a:ext cx="256032" cy="0"/>
          </a:xfrm>
          <a:prstGeom prst="line">
            <a:avLst/>
          </a:prstGeom>
          <a:noFill/>
          <a:ln w="25400">
            <a:solidFill>
              <a:srgbClr val="1F4E5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990088" y="443484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990088" y="4434840"/>
            <a:ext cx="192024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Data Factory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&amp; transform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28616" y="4773168"/>
            <a:ext cx="256032" cy="0"/>
          </a:xfrm>
          <a:prstGeom prst="line">
            <a:avLst/>
          </a:prstGeom>
          <a:noFill/>
          <a:ln w="25400">
            <a:solidFill>
              <a:srgbClr val="1F4E5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202936" y="443484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202936" y="4434840"/>
            <a:ext cx="192024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ADLS / Blob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→ CURATED → READY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141464" y="4773168"/>
            <a:ext cx="256032" cy="0"/>
          </a:xfrm>
          <a:prstGeom prst="line">
            <a:avLst/>
          </a:prstGeom>
          <a:noFill/>
          <a:ln w="25400">
            <a:solidFill>
              <a:srgbClr val="1F4E5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415784" y="443484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F4E5F"/>
          </a:solidFill>
          <a:ln w="15875">
            <a:solidFill>
              <a:srgbClr val="1F4E5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415784" y="4434840"/>
            <a:ext cx="192024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SQL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iManage staging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354312" y="4773168"/>
            <a:ext cx="256032" cy="0"/>
          </a:xfrm>
          <a:prstGeom prst="line">
            <a:avLst/>
          </a:prstGeom>
          <a:noFill/>
          <a:ln w="25400">
            <a:solidFill>
              <a:srgbClr val="1F4E5F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628632" y="443484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00432A"/>
          </a:solidFill>
          <a:ln w="15875">
            <a:solidFill>
              <a:srgbClr val="00432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628632" y="4434840"/>
            <a:ext cx="192024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iManage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waves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02920" y="5321808"/>
            <a:ext cx="3529584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04088" y="539496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Data Factory here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04088" y="5641848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2–5 minute poll is ~20,000 pipeline runs a month, most finding nothing, with runs overlapping whenever a downstream is slow. Data Factory retries activities, not records, so per-record status, retry and replay end up hand-built in SQL.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279392" y="5321808"/>
            <a:ext cx="3529584" cy="1078992"/>
          </a:xfrm>
          <a:prstGeom prst="roundRect">
            <a:avLst>
              <a:gd name="adj" fmla="val 5085"/>
            </a:avLst>
          </a:prstGeom>
          <a:solidFill>
            <a:srgbClr val="E4EEF2"/>
          </a:solidFill>
          <a:ln w="12700">
            <a:solidFill>
              <a:srgbClr val="E4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480560" y="539496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familiarity point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4480560" y="5641848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Factory is still the right tool for the migration, so that skill stays in use on this project. The gap is Azure Functions and C# capability for the integration — a resourcing decision, not a design one.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055864" y="5321808"/>
            <a:ext cx="3529584" cy="1078992"/>
          </a:xfrm>
          <a:prstGeom prst="roundRect">
            <a:avLst>
              <a:gd name="adj" fmla="val 5085"/>
            </a:avLst>
          </a:prstGeom>
          <a:solidFill>
            <a:srgbClr val="EAF3EA"/>
          </a:solidFill>
          <a:ln w="12700">
            <a:solidFill>
              <a:srgbClr val="EA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8257032" y="539496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for the MVP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8257032" y="5641848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Functions, Service Bus, Azure SQL, Key Vault and App Insights. Defer API Management unless manual sync from the iManage UI is needed at go-live.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STEPS  ·  1 OF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and environment setup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 both build options. Kroll is the iManage subject-matter expert throughout design.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11183112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2286000"/>
                <a:gridCol w="1234440"/>
                <a:gridCol w="2267712"/>
              </a:tblGrid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Elapsed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/ dependency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</a:tr>
              <a:tr h="32461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43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 AND DISCOVERY   (4–6 weeks)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integration scope and downstream requirements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BA + app teams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kickoff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iManage API discovery: endpoints, auth, rate limits, change detection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Kroll (SME) + 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1.5–3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Kroll SME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Field-level mapping: iManage to canonical model to Exterro / TyMetrix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+ Kroll + vendors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Scope, API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design: polling, watermark, idempotency, retry, replay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Architecture + Kroll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review and design sign-off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design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SOW / contract change with Kroll  (Kroll option only)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Sourcing + Legal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decision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43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AZURE ENVIRONMENT SETUP   (9–16 weeks · starts at week 1, alongside design and the build)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IAP submission, PID production, architecture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Infra + IA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Funded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CSP security review: Cloud, Network and Privacy teams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/ Network / Privacy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PID issued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profile onboarding, CIDR allocation, AD group provisioning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Network + IAM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passed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 requests and ARE deployment: PAT then PROD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+ 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 approved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Vault, managed identity, monitoring, connectivity proving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Infrastructure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wks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deployment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STEPS  ·  2 OF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Build, deploy, test and support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is the only part the vendor decision changes. Handover applies only if Kroll writes the code.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72768"/>
          <a:ext cx="11183112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468880"/>
                <a:gridCol w="1234440"/>
                <a:gridCol w="1627632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Elapsed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critical path?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</a:tr>
              <a:tr h="254203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43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 BUILD   (TD 6–8 weeks · Kroll 4–5 weeks · runs in parallel with the environment setup)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Repository, CI/CD pipeline and infrastructure-as-code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 (TD-owned either way)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iManage poller: watermark, pagination, throttling, change detection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or Kroll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Canonical matter model, normalizer and validation rules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or Kroll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Bus topic, subscriptions, dead-letter and retry policy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or Kroll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0.5–1 wk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Exterro adapter and TyMetrix adapter: mapping, API calls, retry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or Kroll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state store: status, idempotency, correlation, replay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or Kroll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1–1.5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instrumentation, dashboards and runbooks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1–1.5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320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 HANDOVER   (4–6 weeks elapsed · 2–4 weeks on the critical path · Kroll option only)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6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ownership, licensing and source code escrow 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Legal + Sourcing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transfer into TD repository, secrets moved to Key Vault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1.5–2.5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code review, SAST / DAST / SCA scanning and remediation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+ Security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code risk assessment and knowledge transfer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Risk  ·  Kroll to 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43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DEPLOY, TEST AND SUPPORT   (11–13 weeks · TD-owned in both options)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to PAT and PROD through ARE, with CAB approval and cutover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+ 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Testing: component, end-to-end with Exterro and TyMetrix, resilience, security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QA + vendors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UAT and business sign-off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+ 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Hypercare, runbooks and transition to the run team  (after go-live)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Dev + Run team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SETUP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environment: 2 to 4 months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at week 1, this runs alongside design and the code build. Every gate is the same whether TD or Kroll writes the code.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6420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6420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IAP · Infrastructure Architect assigned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66420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day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16712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5FAF6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6712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16712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and Cloud team produce the PID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216712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wks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7004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67004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67004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design review of the PID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67004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wks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17296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BEFD9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7296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17296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CSP review: Cloud, Network, Privacy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17296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 wks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67588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7588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67588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profile and subscription onboarding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367588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wks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17880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5FAF6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17880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417880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CIDR / subnet allocation, per environment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417880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days each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99632" y="166420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1072" y="166420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02552" y="166420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group provisioning for cloud infrastructure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543032" y="166420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wk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99632" y="216712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5FAF6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91072" y="216712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02552" y="216712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requests: PAT and PROD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543032" y="216712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5-day SLA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99632" y="267004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91072" y="267004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02552" y="267004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infrastructure deployment by ARE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43032" y="267004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 days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99632" y="317296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5FAF6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91072" y="317296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02552" y="317296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infrastructure deployment by ARE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43032" y="317296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 days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199632" y="367588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1072" y="367588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02552" y="367588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Vault, managed identity, secrets onboarding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543032" y="367588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1–1.5 wks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5486400" cy="429768"/>
          </a:xfrm>
          <a:prstGeom prst="roundRect">
            <a:avLst>
              <a:gd name="adj" fmla="val 10638"/>
            </a:avLst>
          </a:prstGeom>
          <a:solidFill>
            <a:srgbClr val="F5FAF6"/>
          </a:solidFill>
          <a:ln w="9525">
            <a:solidFill>
              <a:srgbClr val="C9D8C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91072" y="4178808"/>
            <a:ext cx="365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702552" y="417880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validation and connectivity proving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543032" y="4178808"/>
            <a:ext cx="1051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wks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2920" y="4892040"/>
            <a:ext cx="5440680" cy="1143000"/>
          </a:xfrm>
          <a:prstGeom prst="roundRect">
            <a:avLst>
              <a:gd name="adj" fmla="val 4800"/>
            </a:avLst>
          </a:prstGeom>
          <a:solidFill>
            <a:srgbClr val="EAF3EA"/>
          </a:solidFill>
          <a:ln w="12700">
            <a:solidFill>
              <a:srgbClr val="EA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77724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– 16 weeks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3200400" y="50292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plan, with 22 weeks as the downside if a review repeats. Because it starts at week 1, only 6–10 weeks of it sits on the critical path.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99632" y="48920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6473952" y="50109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the migration services in this PID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6473952" y="5303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Factory, ADLS/Blob and the Azure SQL staging database. Adding them after the PID is baselined costs 6–10 weeks of rework.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writes the integration code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covers the application code only. TD owns the infrastructure, the deployment and production support in both options.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8640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91640"/>
            <a:ext cx="5486400" cy="621792"/>
          </a:xfrm>
          <a:prstGeom prst="roundRect">
            <a:avLst>
              <a:gd name="adj" fmla="val 8824"/>
            </a:avLst>
          </a:prstGeom>
          <a:solidFill>
            <a:srgbClr val="008A00"/>
          </a:solidFill>
          <a:ln w="12700">
            <a:solidFill>
              <a:srgbClr val="008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7739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7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65960" y="17373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 builds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2487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03120" y="24871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weeks. Learning curve on the iManage API and on Azure Functions.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58952" y="31455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03120" y="314553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The code is written in TD's repository from the start.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38039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03120" y="38039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supports and extends code it wrote.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44622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risk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03120" y="44622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availability. Add 4–8 weeks if no one with Azure Functions and C# experience is free.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99632" y="1691640"/>
            <a:ext cx="548640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9632" y="1691640"/>
            <a:ext cx="5486400" cy="621792"/>
          </a:xfrm>
          <a:prstGeom prst="roundRect">
            <a:avLst>
              <a:gd name="adj" fmla="val 8824"/>
            </a:avLst>
          </a:prstGeom>
          <a:solidFill>
            <a:srgbClr val="1F4E5F"/>
          </a:solidFill>
          <a:ln w="12700">
            <a:solidFill>
              <a:srgbClr val="1F4E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5664" y="17739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7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662672" y="17373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Kroll builds and hands over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55664" y="24871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99832" y="24871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 weeks. Kroll knows the iManage API and has delivered on Azure.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55664" y="31455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99832" y="314553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 elapsed, 2–4 of them on the critical path. IP terms, code transfer, TD code review, scanning, knowledge transfer.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55664" y="38039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99832" y="38039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supports code it did not write.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55664" y="44622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risk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99832" y="44622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is serial and sits on the critical path, so it adds more than the build saves.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212080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F5FAF6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" y="52120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 builds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240280" y="52120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21 weeks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279392" y="5212080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F5FAF6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535424" y="52120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Kroll builds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16752" y="52120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26 weeks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55864" y="5212080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F5FAF6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311896" y="52120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93224" y="52120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+ 5 weeks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02920" y="59893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Kroll's two-week build advantage runs in parallel with the environment setup, so it does not shorten the project. The handover it creates does extend it.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impact by phase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Elapsed weeks on the critical path, using planning midpoints. Hypercare adds a further 4 weeks after go-live.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00200"/>
          <a:ext cx="7635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91640"/>
            <a:ext cx="3273552" cy="896112"/>
          </a:xfrm>
          <a:prstGeom prst="roundRect">
            <a:avLst>
              <a:gd name="adj" fmla="val 6122"/>
            </a:avLst>
          </a:prstGeom>
          <a:solidFill>
            <a:srgbClr val="F5FAF6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41080" y="18013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17–26 weeks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41080" y="21305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go-live if TD writes the code (4 to 6 months)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412480" y="2743200"/>
            <a:ext cx="3273552" cy="896112"/>
          </a:xfrm>
          <a:prstGeom prst="roundRect">
            <a:avLst>
              <a:gd name="adj" fmla="val 6122"/>
            </a:avLst>
          </a:prstGeom>
          <a:solidFill>
            <a:srgbClr val="F5FAF6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41080" y="28529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6–10 weeks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41080" y="31821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the environment setup that lands on the critical path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3794760"/>
            <a:ext cx="3273552" cy="896112"/>
          </a:xfrm>
          <a:prstGeom prst="roundRect">
            <a:avLst>
              <a:gd name="adj" fmla="val 6122"/>
            </a:avLst>
          </a:prstGeom>
          <a:solidFill>
            <a:srgbClr val="F5FAF6"/>
          </a:solidFill>
          <a:ln w="12700">
            <a:solidFill>
              <a:srgbClr val="C9D8C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641080" y="390448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9E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 weeks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641080" y="42336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development, the only part the decision changes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412480" y="4892040"/>
            <a:ext cx="3273552" cy="1280160"/>
          </a:xfrm>
          <a:prstGeom prst="roundRect">
            <a:avLst>
              <a:gd name="adj" fmla="val 4286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  <a:effectLst>
            <a:outerShdw sx="100000" sy="100000" kx="0" ky="0" algn="bl" rotWithShape="0" blurRad="101600" dist="25400" dir="5400000">
              <a:srgbClr val="9AA9A0">
                <a:alpha val="2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41080" y="4983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risks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41080" y="52578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TD developer free: add 4–8 wks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review repeats: add 3–6 wks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6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slips to 5 months: add 6 wks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decisions, side by side. Detail and step-level timings are in the two supporting workbooks.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1118311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017520"/>
                <a:gridCol w="3566160"/>
                <a:gridCol w="263347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not doing 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Functions + Service Bus, not Data Factory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2–5 minute poll with per-matter 'ready' flags needs per-record retry, dead-letter and replay. Data Factory branches share one run and one watermark, and it retries activities rather than records.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~20,000 pipeline runs a month, plus failure tracking, replay and per-downstream cursors maintained in SQL by TD.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writes the 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Co-development: Kroll writes it in TD's repository with TD engineers embedded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Gets Kroll's iManage API knowledge without a 4–6 week handover, and TD can support the code afterwards.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4–8 weeks of TD ramp-up, or 2–4 weeks of handover on the critical path.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and 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owns the Azure environment, pipeline, deployment and production 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module runs in TD's tenancy. Kroll building in their own Azure removes none of the TD gates.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applicable — this holds in every option.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 API Management unless manual sync from the iManage UI is needed at go-live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else in the MVP is needed for retry, replay and a second downstream system.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weeks of build plus an extra design and security review cycle.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staging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Data Factory, ADLS/Blob and Azure SQL staging in the initial PID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are then provisioned in the same ARE deployment as the integration platform.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6–10 weeks of PID rework, a second security review and an ARE redeployment.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4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 the IAP now and name the TD developers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2–4 month environment runway starts at IAP submission, not at design sign-off.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32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week of delay moves the end date by a week.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035040"/>
            <a:ext cx="11183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 today:  who writes the code  ·  are the migration services in the PID  ·  which developers are named  ·  is manual sync in scope for go-live  ·  when is the IAP submitted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Integration Module  |  Technology Solutions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iManage Integration Module - Additional Technology Work</dc:title>
  <dc:subject>PptxGenJS Presentation</dc:subject>
  <dc:creator>Technology Solutions</dc:creator>
  <cp:lastModifiedBy>Technology Solutions</cp:lastModifiedBy>
  <cp:revision>1</cp:revision>
  <dcterms:created xsi:type="dcterms:W3CDTF">2026-08-09T14:04:49Z</dcterms:created>
  <dcterms:modified xsi:type="dcterms:W3CDTF">2026-08-09T14:04:49Z</dcterms:modified>
</cp:coreProperties>
</file>