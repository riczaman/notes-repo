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answers two questions for the AVP: what does a colleague go through today to get vendor spend approved, and what does the consolidated USF flow replace it with. Current-state facts are taken from the EMS team's own workflow diagrams and the consolidated rulebook, not inferred.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the EMS team's own workflow diagram 01 and Consolidated Rulebook v3 tab 4. The 22 steps and the numbering are theirs. Lanes 2 and 4 are drawn identically on purpose - that is the point: the same six titled approvers, in the same order, meet twice on the same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MVP1 does not remove approval levels - those come from expense policy and the Financial Approval Matrix, not from the tool. What it removes is the duplicated data entry, the offline Excel package, the re-keying and the lack of visibility.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leadership asks why the approvals cannot be cut - they come from expense policy and the Financial Approval Matrix. Changing them is a policy decision owned by Expense Oversight and Finance, not a build decision. What we can and do remove is everything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so nobody leaves the room thinking MVP1 solves the approval burden. Every Critical row is on the delivery critical path - the routing engine cannot be finished without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5336"/>
        </a:solidFill>
      </p:bgPr>
    </p:bg>
    <p:spTree>
      <p:nvGrpSpPr>
        <p:cNvPr id="1" name=""/>
        <p:cNvGrpSpPr/>
        <p:nvPr/>
      </p:nvGrpSpPr>
      <p:grpSpPr>
        <a:xfrm>
          <a:off x="0" y="0"/>
          <a:ext cx="0" cy="0"/>
          <a:chOff x="0" y="0"/>
          <a:chExt cx="0" cy="0"/>
        </a:xfrm>
      </p:grpSpPr>
      <p:pic>
        <p:nvPicPr>
          <p:cNvPr id="2" name="Image 0" descr="title_bg.jpg">    </p:cNvPr>
          <p:cNvPicPr>
            <a:picLocks noChangeAspect="1"/>
          </p:cNvPicPr>
          <p:nvPr/>
        </p:nvPicPr>
        <p:blipFill>
          <a:blip r:embed="rId1"/>
          <a:srcRect l="0" r="0" t="0" b="0"/>
          <a:stretch/>
        </p:blipFill>
        <p:spPr>
          <a:xfrm>
            <a:off x="6492240" y="0"/>
            <a:ext cx="5696712" cy="6858000"/>
          </a:xfrm>
          <a:prstGeom prst="rect">
            <a:avLst/>
          </a:prstGeom>
        </p:spPr>
      </p:pic>
      <p:sp>
        <p:nvSpPr>
          <p:cNvPr id="3" name="Shape 0"/>
          <p:cNvSpPr/>
          <p:nvPr/>
        </p:nvSpPr>
        <p:spPr>
          <a:xfrm>
            <a:off x="0" y="0"/>
            <a:ext cx="6492240" cy="6858000"/>
          </a:xfrm>
          <a:prstGeom prst="rect">
            <a:avLst/>
          </a:prstGeom>
          <a:solidFill>
            <a:srgbClr val="1A5336"/>
          </a:solidFill>
          <a:ln w="12700">
            <a:solidFill>
              <a:srgbClr val="1A5336"/>
            </a:solidFill>
            <a:prstDash val="solid"/>
          </a:ln>
        </p:spPr>
      </p:sp>
      <p:sp>
        <p:nvSpPr>
          <p:cNvPr id="4" name="Text 1"/>
          <p:cNvSpPr/>
          <p:nvPr/>
        </p:nvSpPr>
        <p:spPr>
          <a:xfrm>
            <a:off x="777240" y="1417320"/>
            <a:ext cx="5303520" cy="237744"/>
          </a:xfrm>
          <a:prstGeom prst="rect">
            <a:avLst/>
          </a:prstGeom>
          <a:noFill/>
          <a:ln/>
        </p:spPr>
        <p:txBody>
          <a:bodyPr wrap="square" lIns="0" tIns="0" rIns="0" bIns="0" rtlCol="0" anchor="ctr"/>
          <a:lstStyle/>
          <a:p>
            <a:pPr indent="0" marL="0">
              <a:buNone/>
            </a:pPr>
            <a:r>
              <a:rPr lang="en-US" sz="1000" b="1" spc="200" kern="0" dirty="0">
                <a:solidFill>
                  <a:srgbClr val="7FC79C"/>
                </a:solidFill>
                <a:latin typeface="Arial" pitchFamily="34" charset="0"/>
                <a:ea typeface="Arial" pitchFamily="34" charset="-122"/>
                <a:cs typeface="Arial" pitchFamily="34" charset="-120"/>
              </a:rPr>
              <a:t>GTS PROCUREMENT TECHNOLOGY</a:t>
            </a:r>
            <a:endParaRPr lang="en-US" sz="1000" dirty="0"/>
          </a:p>
        </p:txBody>
      </p:sp>
      <p:sp>
        <p:nvSpPr>
          <p:cNvPr id="5" name="Text 2"/>
          <p:cNvSpPr/>
          <p:nvPr/>
        </p:nvSpPr>
        <p:spPr>
          <a:xfrm>
            <a:off x="777240" y="1828800"/>
            <a:ext cx="5394960" cy="1554480"/>
          </a:xfrm>
          <a:prstGeom prst="rect">
            <a:avLst/>
          </a:prstGeom>
          <a:noFill/>
          <a:ln/>
        </p:spPr>
        <p:txBody>
          <a:bodyPr wrap="square" lIns="0" tIns="0" rIns="0" bIns="0" rtlCol="0" anchor="ctr"/>
          <a:lstStyle/>
          <a:p>
            <a:pPr indent="0" marL="0">
              <a:lnSpc>
                <a:spcPct val="95000"/>
              </a:lnSpc>
              <a:buNone/>
            </a:pPr>
            <a:r>
              <a:rPr lang="en-US" sz="4200" b="1" dirty="0">
                <a:solidFill>
                  <a:srgbClr val="FFFFFF"/>
                </a:solidFill>
                <a:latin typeface="Arial" pitchFamily="34" charset="0"/>
                <a:ea typeface="Arial" pitchFamily="34" charset="-122"/>
                <a:cs typeface="Arial" pitchFamily="34" charset="-120"/>
              </a:rPr>
              <a:t>One intake.</a:t>
            </a:r>
            <a:endParaRPr lang="en-US" sz="4200" dirty="0"/>
          </a:p>
          <a:p>
            <a:pPr indent="0" marL="0">
              <a:lnSpc>
                <a:spcPct val="95000"/>
              </a:lnSpc>
              <a:buNone/>
            </a:pPr>
            <a:r>
              <a:rPr lang="en-US" sz="4200" b="1" dirty="0">
                <a:solidFill>
                  <a:srgbClr val="FFFFFF"/>
                </a:solidFill>
                <a:latin typeface="Arial" pitchFamily="34" charset="0"/>
                <a:ea typeface="Arial" pitchFamily="34" charset="-122"/>
                <a:cs typeface="Arial" pitchFamily="34" charset="-120"/>
              </a:rPr>
              <a:t>One journey.</a:t>
            </a:r>
            <a:endParaRPr lang="en-US" sz="4200" dirty="0"/>
          </a:p>
        </p:txBody>
      </p:sp>
      <p:sp>
        <p:nvSpPr>
          <p:cNvPr id="6" name="Text 3"/>
          <p:cNvSpPr/>
          <p:nvPr/>
        </p:nvSpPr>
        <p:spPr>
          <a:xfrm>
            <a:off x="777240" y="3520440"/>
            <a:ext cx="5120640" cy="868680"/>
          </a:xfrm>
          <a:prstGeom prst="rect">
            <a:avLst/>
          </a:prstGeom>
          <a:noFill/>
          <a:ln/>
        </p:spPr>
        <p:txBody>
          <a:bodyPr wrap="square" lIns="0" tIns="0" rIns="0" bIns="0" rtlCol="0" anchor="ctr"/>
          <a:lstStyle/>
          <a:p>
            <a:pPr indent="0" marL="0">
              <a:lnSpc>
                <a:spcPct val="105000"/>
              </a:lnSpc>
              <a:buNone/>
            </a:pPr>
            <a:r>
              <a:rPr lang="en-US" sz="1300" dirty="0">
                <a:solidFill>
                  <a:srgbClr val="CFE4D8"/>
                </a:solidFill>
                <a:latin typeface="Arial" pitchFamily="34" charset="0"/>
                <a:ea typeface="Arial" pitchFamily="34" charset="-122"/>
                <a:cs typeface="Arial" pitchFamily="34" charset="-120"/>
              </a:rPr>
              <a:t>Consolidating GTS Vendor Expense - EMS triage, Pipeline, Management Consulting and SPID - into the USF unified intake.</a:t>
            </a:r>
            <a:endParaRPr lang="en-US" sz="1300" dirty="0"/>
          </a:p>
        </p:txBody>
      </p:sp>
      <p:sp>
        <p:nvSpPr>
          <p:cNvPr id="7" name="Shape 4"/>
          <p:cNvSpPr/>
          <p:nvPr/>
        </p:nvSpPr>
        <p:spPr>
          <a:xfrm>
            <a:off x="777240" y="4572000"/>
            <a:ext cx="5120640" cy="786384"/>
          </a:xfrm>
          <a:prstGeom prst="roundRect">
            <a:avLst>
              <a:gd name="adj" fmla="val 5814"/>
            </a:avLst>
          </a:prstGeom>
          <a:solidFill>
            <a:srgbClr val="14432C"/>
          </a:solidFill>
          <a:ln w="9525">
            <a:solidFill>
              <a:srgbClr val="2C6B49"/>
            </a:solidFill>
            <a:prstDash val="solid"/>
          </a:ln>
        </p:spPr>
      </p:sp>
      <p:sp>
        <p:nvSpPr>
          <p:cNvPr id="8" name="Text 5"/>
          <p:cNvSpPr/>
          <p:nvPr/>
        </p:nvSpPr>
        <p:spPr>
          <a:xfrm>
            <a:off x="960120" y="4626864"/>
            <a:ext cx="4754880" cy="676656"/>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Arial" pitchFamily="34" charset="0"/>
                <a:ea typeface="Arial" pitchFamily="34" charset="-122"/>
                <a:cs typeface="Arial" pitchFamily="34" charset="-120"/>
              </a:rPr>
              <a:t>MVP1  -  Vendor Expense</a:t>
            </a:r>
            <a:endParaRPr lang="en-US" sz="1150" dirty="0"/>
          </a:p>
          <a:p>
            <a:pPr indent="0" marL="0">
              <a:lnSpc>
                <a:spcPct val="100000"/>
              </a:lnSpc>
              <a:buNone/>
            </a:pPr>
            <a:r>
              <a:rPr lang="en-US" sz="1000" dirty="0">
                <a:solidFill>
                  <a:srgbClr val="9FD3B4"/>
                </a:solidFill>
                <a:latin typeface="Arial" pitchFamily="34" charset="0"/>
                <a:ea typeface="Arial" pitchFamily="34" charset="-122"/>
                <a:cs typeface="Arial" pitchFamily="34" charset="-120"/>
              </a:rPr>
              <a:t>Production deployment  October 23, 2026</a:t>
            </a:r>
            <a:endParaRPr lang="en-US" sz="1150" dirty="0"/>
          </a:p>
        </p:txBody>
      </p:sp>
      <p:sp>
        <p:nvSpPr>
          <p:cNvPr id="9" name="Text 6"/>
          <p:cNvSpPr/>
          <p:nvPr/>
        </p:nvSpPr>
        <p:spPr>
          <a:xfrm>
            <a:off x="777240" y="5669280"/>
            <a:ext cx="5120640" cy="237744"/>
          </a:xfrm>
          <a:prstGeom prst="rect">
            <a:avLst/>
          </a:prstGeom>
          <a:noFill/>
          <a:ln/>
        </p:spPr>
        <p:txBody>
          <a:bodyPr wrap="square" lIns="0" tIns="0" rIns="0" bIns="0" rtlCol="0" anchor="ctr"/>
          <a:lstStyle/>
          <a:p>
            <a:pPr indent="0" marL="0">
              <a:buNone/>
            </a:pPr>
            <a:r>
              <a:rPr lang="en-US" sz="950" dirty="0">
                <a:solidFill>
                  <a:srgbClr val="8FB3A0"/>
                </a:solidFill>
                <a:latin typeface="Arial" pitchFamily="34" charset="0"/>
                <a:ea typeface="Arial" pitchFamily="34" charset="-122"/>
                <a:cs typeface="Arial" pitchFamily="34" charset="-120"/>
              </a:rPr>
              <a:t>Executive review  -  August 2026</a:t>
            </a:r>
            <a:endParaRPr lang="en-US" sz="950" dirty="0"/>
          </a:p>
        </p:txBody>
      </p:sp>
      <p:sp>
        <p:nvSpPr>
          <p:cNvPr id="10" name="Text 7"/>
          <p:cNvSpPr/>
          <p:nvPr/>
        </p:nvSpPr>
        <p:spPr>
          <a:xfrm>
            <a:off x="777240" y="6455664"/>
            <a:ext cx="2743200" cy="237744"/>
          </a:xfrm>
          <a:prstGeom prst="rect">
            <a:avLst/>
          </a:prstGeom>
          <a:noFill/>
          <a:ln/>
        </p:spPr>
        <p:txBody>
          <a:bodyPr wrap="square" lIns="0" tIns="0" rIns="0" bIns="0" rtlCol="0" anchor="ctr"/>
          <a:lstStyle/>
          <a:p>
            <a:pPr indent="0" marL="0">
              <a:buNone/>
            </a:pPr>
            <a:r>
              <a:rPr lang="en-US" sz="800" dirty="0">
                <a:solidFill>
                  <a:srgbClr val="6E9B83"/>
                </a:solidFill>
                <a:latin typeface="Arial" pitchFamily="34" charset="0"/>
                <a:ea typeface="Arial" pitchFamily="34" charset="-122"/>
                <a:cs typeface="Arial" pitchFamily="34" charset="-120"/>
              </a:rPr>
              <a:t>Internal / Interne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11480" y="237744"/>
            <a:ext cx="11365992" cy="201168"/>
          </a:xfrm>
          <a:prstGeom prst="rect">
            <a:avLst/>
          </a:prstGeom>
          <a:noFill/>
          <a:ln/>
        </p:spPr>
        <p:txBody>
          <a:bodyPr wrap="square" lIns="0" tIns="0" rIns="0" bIns="0" rtlCol="0" anchor="ctr"/>
          <a:lstStyle/>
          <a:p>
            <a:pPr indent="0" marL="0">
              <a:buNone/>
            </a:pPr>
            <a:r>
              <a:rPr lang="en-US" sz="950" b="1" spc="160" kern="0" dirty="0">
                <a:solidFill>
                  <a:srgbClr val="008A00"/>
                </a:solidFill>
                <a:latin typeface="Arial" pitchFamily="34" charset="0"/>
                <a:ea typeface="Arial" pitchFamily="34" charset="-122"/>
                <a:cs typeface="Arial" pitchFamily="34" charset="-120"/>
              </a:rPr>
              <a:t>GTS  -  VENDOR EXPENSE OVER $100K</a:t>
            </a:r>
            <a:endParaRPr lang="en-US" sz="950" dirty="0"/>
          </a:p>
        </p:txBody>
      </p:sp>
      <p:sp>
        <p:nvSpPr>
          <p:cNvPr id="3" name="Text 1"/>
          <p:cNvSpPr/>
          <p:nvPr/>
        </p:nvSpPr>
        <p:spPr>
          <a:xfrm>
            <a:off x="411480" y="420624"/>
            <a:ext cx="11365992" cy="475488"/>
          </a:xfrm>
          <a:prstGeom prst="rect">
            <a:avLst/>
          </a:prstGeom>
          <a:noFill/>
          <a:ln/>
        </p:spPr>
        <p:txBody>
          <a:bodyPr wrap="square" lIns="0" tIns="0" rIns="0" bIns="0" rtlCol="0" anchor="ctr"/>
          <a:lstStyle/>
          <a:p>
            <a:pPr indent="0" marL="0">
              <a:buNone/>
            </a:pPr>
            <a:r>
              <a:rPr lang="en-US" sz="2500" b="1" dirty="0">
                <a:solidFill>
                  <a:srgbClr val="1A5336"/>
                </a:solidFill>
                <a:latin typeface="Arial" pitchFamily="34" charset="0"/>
                <a:ea typeface="Arial" pitchFamily="34" charset="-122"/>
                <a:cs typeface="Arial" pitchFamily="34" charset="-120"/>
              </a:rPr>
              <a:t>Current EMS Vendor Expense flow</a:t>
            </a:r>
            <a:endParaRPr lang="en-US" sz="2500" dirty="0"/>
          </a:p>
        </p:txBody>
      </p:sp>
      <p:sp>
        <p:nvSpPr>
          <p:cNvPr id="4" name="Text 2"/>
          <p:cNvSpPr/>
          <p:nvPr/>
        </p:nvSpPr>
        <p:spPr>
          <a:xfrm>
            <a:off x="411480" y="896112"/>
            <a:ext cx="11365992" cy="237744"/>
          </a:xfrm>
          <a:prstGeom prst="rect">
            <a:avLst/>
          </a:prstGeom>
          <a:noFill/>
          <a:ln/>
        </p:spPr>
        <p:txBody>
          <a:bodyPr wrap="square" lIns="0" tIns="0" rIns="0" bIns="0" rtlCol="0" anchor="ctr"/>
          <a:lstStyle/>
          <a:p>
            <a:pPr indent="0" marL="0">
              <a:buNone/>
            </a:pPr>
            <a:r>
              <a:rPr lang="en-US" sz="1150" i="1" dirty="0">
                <a:solidFill>
                  <a:srgbClr val="1E2522"/>
                </a:solidFill>
                <a:latin typeface="Arial" pitchFamily="34" charset="0"/>
                <a:ea typeface="Arial" pitchFamily="34" charset="-122"/>
                <a:cs typeface="Arial" pitchFamily="34" charset="-120"/>
              </a:rPr>
              <a:t>How a colleague gets vendor spend approved today, from the EMS front door through to a signed contract.</a:t>
            </a:r>
            <a:endParaRPr lang="en-US" sz="1150" dirty="0"/>
          </a:p>
        </p:txBody>
      </p:sp>
      <p:sp>
        <p:nvSpPr>
          <p:cNvPr id="5" name="Text 3"/>
          <p:cNvSpPr/>
          <p:nvPr/>
        </p:nvSpPr>
        <p:spPr>
          <a:xfrm>
            <a:off x="411480" y="1298448"/>
            <a:ext cx="2035454" cy="347472"/>
          </a:xfrm>
          <a:prstGeom prst="rect">
            <a:avLst/>
          </a:prstGeom>
          <a:noFill/>
          <a:ln/>
        </p:spPr>
        <p:txBody>
          <a:bodyPr wrap="square" lIns="0" tIns="0" rIns="0" bIns="0" rtlCol="0" anchor="b"/>
          <a:lstStyle/>
          <a:p>
            <a:pPr indent="0" marL="0">
              <a:buNone/>
            </a:pPr>
            <a:r>
              <a:rPr lang="en-US" sz="2700" b="1" dirty="0">
                <a:solidFill>
                  <a:srgbClr val="1A5336"/>
                </a:solidFill>
                <a:latin typeface="Arial" pitchFamily="34" charset="0"/>
                <a:ea typeface="Arial" pitchFamily="34" charset="-122"/>
                <a:cs typeface="Arial" pitchFamily="34" charset="-120"/>
              </a:rPr>
              <a:t>22</a:t>
            </a:r>
            <a:pPr indent="0" marL="0">
              <a:buNone/>
            </a:pPr>
            <a:r>
              <a:rPr lang="en-US" sz="1150" b="1" dirty="0">
                <a:solidFill>
                  <a:srgbClr val="2E6B4F"/>
                </a:solidFill>
                <a:latin typeface="Arial" pitchFamily="34" charset="0"/>
                <a:ea typeface="Arial" pitchFamily="34" charset="-122"/>
                <a:cs typeface="Arial" pitchFamily="34" charset="-120"/>
              </a:rPr>
              <a:t>  steps</a:t>
            </a:r>
            <a:endParaRPr lang="en-US" sz="2700" dirty="0"/>
          </a:p>
        </p:txBody>
      </p:sp>
      <p:sp>
        <p:nvSpPr>
          <p:cNvPr id="6" name="Text 4"/>
          <p:cNvSpPr/>
          <p:nvPr/>
        </p:nvSpPr>
        <p:spPr>
          <a:xfrm>
            <a:off x="411480" y="1664208"/>
            <a:ext cx="2035454" cy="402336"/>
          </a:xfrm>
          <a:prstGeom prst="rect">
            <a:avLst/>
          </a:prstGeom>
          <a:noFill/>
          <a:ln/>
        </p:spPr>
        <p:txBody>
          <a:bodyPr wrap="square" lIns="0" tIns="0" rIns="0" bIns="0" rtlCol="0" anchor="t"/>
          <a:lstStyle/>
          <a:p>
            <a:pPr indent="0" marL="0">
              <a:lnSpc>
                <a:spcPct val="100000"/>
              </a:lnSpc>
              <a:buNone/>
            </a:pPr>
            <a:r>
              <a:rPr lang="en-US" sz="850" dirty="0">
                <a:solidFill>
                  <a:srgbClr val="1E2522"/>
                </a:solidFill>
                <a:latin typeface="Arial" pitchFamily="34" charset="0"/>
                <a:ea typeface="Arial" pitchFamily="34" charset="-122"/>
                <a:cs typeface="Arial" pitchFamily="34" charset="-120"/>
              </a:rPr>
              <a:t>documented by the EMS team, from intake to signed contract</a:t>
            </a:r>
            <a:endParaRPr lang="en-US" sz="850" dirty="0"/>
          </a:p>
        </p:txBody>
      </p:sp>
      <p:sp>
        <p:nvSpPr>
          <p:cNvPr id="7" name="Text 5"/>
          <p:cNvSpPr/>
          <p:nvPr/>
        </p:nvSpPr>
        <p:spPr>
          <a:xfrm>
            <a:off x="2684678" y="1298448"/>
            <a:ext cx="2035454" cy="347472"/>
          </a:xfrm>
          <a:prstGeom prst="rect">
            <a:avLst/>
          </a:prstGeom>
          <a:noFill/>
          <a:ln/>
        </p:spPr>
        <p:txBody>
          <a:bodyPr wrap="square" lIns="0" tIns="0" rIns="0" bIns="0" rtlCol="0" anchor="b"/>
          <a:lstStyle/>
          <a:p>
            <a:pPr indent="0" marL="0">
              <a:buNone/>
            </a:pPr>
            <a:r>
              <a:rPr lang="en-US" sz="2700" b="1" dirty="0">
                <a:solidFill>
                  <a:srgbClr val="1A5336"/>
                </a:solidFill>
                <a:latin typeface="Arial" pitchFamily="34" charset="0"/>
                <a:ea typeface="Arial" pitchFamily="34" charset="-122"/>
                <a:cs typeface="Arial" pitchFamily="34" charset="-120"/>
              </a:rPr>
              <a:t>12</a:t>
            </a:r>
            <a:pPr indent="0" marL="0">
              <a:buNone/>
            </a:pPr>
            <a:r>
              <a:rPr lang="en-US" sz="1150" b="1" dirty="0">
                <a:solidFill>
                  <a:srgbClr val="2E6B4F"/>
                </a:solidFill>
                <a:latin typeface="Arial" pitchFamily="34" charset="0"/>
                <a:ea typeface="Arial" pitchFamily="34" charset="-122"/>
                <a:cs typeface="Arial" pitchFamily="34" charset="-120"/>
              </a:rPr>
              <a:t>  approval meetings</a:t>
            </a:r>
            <a:endParaRPr lang="en-US" sz="2700" dirty="0"/>
          </a:p>
        </p:txBody>
      </p:sp>
      <p:sp>
        <p:nvSpPr>
          <p:cNvPr id="8" name="Text 6"/>
          <p:cNvSpPr/>
          <p:nvPr/>
        </p:nvSpPr>
        <p:spPr>
          <a:xfrm>
            <a:off x="2684678" y="1664208"/>
            <a:ext cx="2035454" cy="402336"/>
          </a:xfrm>
          <a:prstGeom prst="rect">
            <a:avLst/>
          </a:prstGeom>
          <a:noFill/>
          <a:ln/>
        </p:spPr>
        <p:txBody>
          <a:bodyPr wrap="square" lIns="0" tIns="0" rIns="0" bIns="0" rtlCol="0" anchor="t"/>
          <a:lstStyle/>
          <a:p>
            <a:pPr indent="0" marL="0">
              <a:lnSpc>
                <a:spcPct val="100000"/>
              </a:lnSpc>
              <a:buNone/>
            </a:pPr>
            <a:r>
              <a:rPr lang="en-US" sz="850" dirty="0">
                <a:solidFill>
                  <a:srgbClr val="1E2522"/>
                </a:solidFill>
                <a:latin typeface="Arial" pitchFamily="34" charset="0"/>
                <a:ea typeface="Arial" pitchFamily="34" charset="-122"/>
                <a:cs typeface="Arial" pitchFamily="34" charset="-120"/>
              </a:rPr>
              <a:t>6 agenda meetings for Pipeline, then the same 6 again for SPID</a:t>
            </a:r>
            <a:endParaRPr lang="en-US" sz="850" dirty="0"/>
          </a:p>
        </p:txBody>
      </p:sp>
      <p:sp>
        <p:nvSpPr>
          <p:cNvPr id="9" name="Text 7"/>
          <p:cNvSpPr/>
          <p:nvPr/>
        </p:nvSpPr>
        <p:spPr>
          <a:xfrm>
            <a:off x="4957877" y="1298448"/>
            <a:ext cx="2035454" cy="347472"/>
          </a:xfrm>
          <a:prstGeom prst="rect">
            <a:avLst/>
          </a:prstGeom>
          <a:noFill/>
          <a:ln/>
        </p:spPr>
        <p:txBody>
          <a:bodyPr wrap="square" lIns="0" tIns="0" rIns="0" bIns="0" rtlCol="0" anchor="b"/>
          <a:lstStyle/>
          <a:p>
            <a:pPr indent="0" marL="0">
              <a:buNone/>
            </a:pPr>
            <a:r>
              <a:rPr lang="en-US" sz="2700" b="1" dirty="0">
                <a:solidFill>
                  <a:srgbClr val="1A5336"/>
                </a:solidFill>
                <a:latin typeface="Arial" pitchFamily="34" charset="0"/>
                <a:ea typeface="Arial" pitchFamily="34" charset="-122"/>
                <a:cs typeface="Arial" pitchFamily="34" charset="-120"/>
              </a:rPr>
              <a:t>4</a:t>
            </a:r>
            <a:pPr indent="0" marL="0">
              <a:buNone/>
            </a:pPr>
            <a:r>
              <a:rPr lang="en-US" sz="1150" b="1" dirty="0">
                <a:solidFill>
                  <a:srgbClr val="2E6B4F"/>
                </a:solidFill>
                <a:latin typeface="Arial" pitchFamily="34" charset="0"/>
                <a:ea typeface="Arial" pitchFamily="34" charset="-122"/>
                <a:cs typeface="Arial" pitchFamily="34" charset="-120"/>
              </a:rPr>
              <a:t>  systems</a:t>
            </a:r>
            <a:endParaRPr lang="en-US" sz="2700" dirty="0"/>
          </a:p>
        </p:txBody>
      </p:sp>
      <p:sp>
        <p:nvSpPr>
          <p:cNvPr id="10" name="Text 8"/>
          <p:cNvSpPr/>
          <p:nvPr/>
        </p:nvSpPr>
        <p:spPr>
          <a:xfrm>
            <a:off x="4957877" y="1664208"/>
            <a:ext cx="2035454" cy="402336"/>
          </a:xfrm>
          <a:prstGeom prst="rect">
            <a:avLst/>
          </a:prstGeom>
          <a:noFill/>
          <a:ln/>
        </p:spPr>
        <p:txBody>
          <a:bodyPr wrap="square" lIns="0" tIns="0" rIns="0" bIns="0" rtlCol="0" anchor="t"/>
          <a:lstStyle/>
          <a:p>
            <a:pPr indent="0" marL="0">
              <a:lnSpc>
                <a:spcPct val="100000"/>
              </a:lnSpc>
              <a:buNone/>
            </a:pPr>
            <a:r>
              <a:rPr lang="en-US" sz="850" dirty="0">
                <a:solidFill>
                  <a:srgbClr val="1E2522"/>
                </a:solidFill>
                <a:latin typeface="Arial" pitchFamily="34" charset="0"/>
                <a:ea typeface="Arial" pitchFamily="34" charset="-122"/>
                <a:cs typeface="Arial" pitchFamily="34" charset="-120"/>
              </a:rPr>
              <a:t>EMS Power App, an offline Excel template, Ariba, and the SPID Power App</a:t>
            </a:r>
            <a:endParaRPr lang="en-US" sz="850" dirty="0"/>
          </a:p>
        </p:txBody>
      </p:sp>
      <p:sp>
        <p:nvSpPr>
          <p:cNvPr id="11" name="Text 9"/>
          <p:cNvSpPr/>
          <p:nvPr/>
        </p:nvSpPr>
        <p:spPr>
          <a:xfrm>
            <a:off x="7231075" y="1298448"/>
            <a:ext cx="2035454" cy="347472"/>
          </a:xfrm>
          <a:prstGeom prst="rect">
            <a:avLst/>
          </a:prstGeom>
          <a:noFill/>
          <a:ln/>
        </p:spPr>
        <p:txBody>
          <a:bodyPr wrap="square" lIns="0" tIns="0" rIns="0" bIns="0" rtlCol="0" anchor="b"/>
          <a:lstStyle/>
          <a:p>
            <a:pPr indent="0" marL="0">
              <a:buNone/>
            </a:pPr>
            <a:r>
              <a:rPr lang="en-US" sz="2700" b="1" dirty="0">
                <a:solidFill>
                  <a:srgbClr val="1A5336"/>
                </a:solidFill>
                <a:latin typeface="Arial" pitchFamily="34" charset="0"/>
                <a:ea typeface="Arial" pitchFamily="34" charset="-122"/>
                <a:cs typeface="Arial" pitchFamily="34" charset="-120"/>
              </a:rPr>
              <a:t>2</a:t>
            </a:r>
            <a:pPr indent="0" marL="0">
              <a:buNone/>
            </a:pPr>
            <a:r>
              <a:rPr lang="en-US" sz="1150" b="1" dirty="0">
                <a:solidFill>
                  <a:srgbClr val="2E6B4F"/>
                </a:solidFill>
                <a:latin typeface="Arial" pitchFamily="34" charset="0"/>
                <a:ea typeface="Arial" pitchFamily="34" charset="-122"/>
                <a:cs typeface="Arial" pitchFamily="34" charset="-120"/>
              </a:rPr>
              <a:t>  re-entries</a:t>
            </a:r>
            <a:endParaRPr lang="en-US" sz="2700" dirty="0"/>
          </a:p>
        </p:txBody>
      </p:sp>
      <p:sp>
        <p:nvSpPr>
          <p:cNvPr id="12" name="Text 10"/>
          <p:cNvSpPr/>
          <p:nvPr/>
        </p:nvSpPr>
        <p:spPr>
          <a:xfrm>
            <a:off x="7231075" y="1664208"/>
            <a:ext cx="2035454" cy="402336"/>
          </a:xfrm>
          <a:prstGeom prst="rect">
            <a:avLst/>
          </a:prstGeom>
          <a:noFill/>
          <a:ln/>
        </p:spPr>
        <p:txBody>
          <a:bodyPr wrap="square" lIns="0" tIns="0" rIns="0" bIns="0" rtlCol="0" anchor="t"/>
          <a:lstStyle/>
          <a:p>
            <a:pPr indent="0" marL="0">
              <a:lnSpc>
                <a:spcPct val="100000"/>
              </a:lnSpc>
              <a:buNone/>
            </a:pPr>
            <a:r>
              <a:rPr lang="en-US" sz="850" dirty="0">
                <a:solidFill>
                  <a:srgbClr val="1E2522"/>
                </a:solidFill>
                <a:latin typeface="Arial" pitchFamily="34" charset="0"/>
                <a:ea typeface="Arial" pitchFamily="34" charset="-122"/>
                <a:cs typeface="Arial" pitchFamily="34" charset="-120"/>
              </a:rPr>
              <a:t>the user must re-key the Pipeline # and Ariba SR # to get back into EMS</a:t>
            </a:r>
            <a:endParaRPr lang="en-US" sz="850" dirty="0"/>
          </a:p>
        </p:txBody>
      </p:sp>
      <p:sp>
        <p:nvSpPr>
          <p:cNvPr id="13" name="Text 11"/>
          <p:cNvSpPr/>
          <p:nvPr/>
        </p:nvSpPr>
        <p:spPr>
          <a:xfrm>
            <a:off x="9504274" y="1298448"/>
            <a:ext cx="2035454" cy="347472"/>
          </a:xfrm>
          <a:prstGeom prst="rect">
            <a:avLst/>
          </a:prstGeom>
          <a:noFill/>
          <a:ln/>
        </p:spPr>
        <p:txBody>
          <a:bodyPr wrap="square" lIns="0" tIns="0" rIns="0" bIns="0" rtlCol="0" anchor="b"/>
          <a:lstStyle/>
          <a:p>
            <a:pPr indent="0" marL="0">
              <a:buNone/>
            </a:pPr>
            <a:r>
              <a:rPr lang="en-US" sz="2700" b="1" dirty="0">
                <a:solidFill>
                  <a:srgbClr val="1A5336"/>
                </a:solidFill>
                <a:latin typeface="Arial" pitchFamily="34" charset="0"/>
                <a:ea typeface="Arial" pitchFamily="34" charset="-122"/>
                <a:cs typeface="Arial" pitchFamily="34" charset="-120"/>
              </a:rPr>
              <a:t>90</a:t>
            </a:r>
            <a:pPr indent="0" marL="0">
              <a:buNone/>
            </a:pPr>
            <a:r>
              <a:rPr lang="en-US" sz="1150" b="1" dirty="0">
                <a:solidFill>
                  <a:srgbClr val="2E6B4F"/>
                </a:solidFill>
                <a:latin typeface="Arial" pitchFamily="34" charset="0"/>
                <a:ea typeface="Arial" pitchFamily="34" charset="-122"/>
                <a:cs typeface="Arial" pitchFamily="34" charset="-120"/>
              </a:rPr>
              <a:t>  days</a:t>
            </a:r>
            <a:endParaRPr lang="en-US" sz="2700" dirty="0"/>
          </a:p>
        </p:txBody>
      </p:sp>
      <p:sp>
        <p:nvSpPr>
          <p:cNvPr id="14" name="Text 12"/>
          <p:cNvSpPr/>
          <p:nvPr/>
        </p:nvSpPr>
        <p:spPr>
          <a:xfrm>
            <a:off x="9504274" y="1664208"/>
            <a:ext cx="2035454" cy="402336"/>
          </a:xfrm>
          <a:prstGeom prst="rect">
            <a:avLst/>
          </a:prstGeom>
          <a:noFill/>
          <a:ln/>
        </p:spPr>
        <p:txBody>
          <a:bodyPr wrap="square" lIns="0" tIns="0" rIns="0" bIns="0" rtlCol="0" anchor="t"/>
          <a:lstStyle/>
          <a:p>
            <a:pPr indent="0" marL="0">
              <a:lnSpc>
                <a:spcPct val="100000"/>
              </a:lnSpc>
              <a:buNone/>
            </a:pPr>
            <a:r>
              <a:rPr lang="en-US" sz="850" dirty="0">
                <a:solidFill>
                  <a:srgbClr val="1E2522"/>
                </a:solidFill>
                <a:latin typeface="Arial" pitchFamily="34" charset="0"/>
                <a:ea typeface="Arial" pitchFamily="34" charset="-122"/>
                <a:cs typeface="Arial" pitchFamily="34" charset="-120"/>
              </a:rPr>
              <a:t>minimum Pipeline lead time before the procurement engagement date</a:t>
            </a:r>
            <a:endParaRPr lang="en-US" sz="850" dirty="0"/>
          </a:p>
        </p:txBody>
      </p:sp>
      <p:sp>
        <p:nvSpPr>
          <p:cNvPr id="15" name="Shape 13"/>
          <p:cNvSpPr/>
          <p:nvPr/>
        </p:nvSpPr>
        <p:spPr>
          <a:xfrm>
            <a:off x="411480" y="2249424"/>
            <a:ext cx="11365992" cy="0"/>
          </a:xfrm>
          <a:prstGeom prst="line">
            <a:avLst/>
          </a:prstGeom>
          <a:noFill/>
          <a:ln w="12700">
            <a:solidFill>
              <a:srgbClr val="DCE6E0"/>
            </a:solidFill>
            <a:prstDash val="solid"/>
          </a:ln>
        </p:spPr>
      </p:sp>
      <p:sp>
        <p:nvSpPr>
          <p:cNvPr id="16" name="Shape 14"/>
          <p:cNvSpPr/>
          <p:nvPr/>
        </p:nvSpPr>
        <p:spPr>
          <a:xfrm>
            <a:off x="411480" y="5559552"/>
            <a:ext cx="11365992" cy="0"/>
          </a:xfrm>
          <a:prstGeom prst="line">
            <a:avLst/>
          </a:prstGeom>
          <a:noFill/>
          <a:ln w="12700">
            <a:solidFill>
              <a:srgbClr val="DCE6E0"/>
            </a:solidFill>
            <a:prstDash val="solid"/>
          </a:ln>
        </p:spPr>
      </p:sp>
      <p:sp>
        <p:nvSpPr>
          <p:cNvPr id="17" name="Shape 15"/>
          <p:cNvSpPr/>
          <p:nvPr/>
        </p:nvSpPr>
        <p:spPr>
          <a:xfrm>
            <a:off x="411480" y="2395728"/>
            <a:ext cx="1481328" cy="603504"/>
          </a:xfrm>
          <a:prstGeom prst="roundRect">
            <a:avLst>
              <a:gd name="adj" fmla="val 15152"/>
            </a:avLst>
          </a:prstGeom>
          <a:solidFill>
            <a:srgbClr val="1A5336"/>
          </a:solidFill>
          <a:ln w="12700">
            <a:solidFill>
              <a:srgbClr val="1A5336"/>
            </a:solidFill>
            <a:prstDash val="solid"/>
          </a:ln>
        </p:spPr>
      </p:sp>
      <p:sp>
        <p:nvSpPr>
          <p:cNvPr id="18" name="Text 16"/>
          <p:cNvSpPr/>
          <p:nvPr/>
        </p:nvSpPr>
        <p:spPr>
          <a:xfrm>
            <a:off x="539496" y="2450592"/>
            <a:ext cx="1243584" cy="493776"/>
          </a:xfrm>
          <a:prstGeom prst="rect">
            <a:avLst/>
          </a:prstGeom>
          <a:noFill/>
          <a:ln/>
        </p:spPr>
        <p:txBody>
          <a:bodyPr wrap="square" lIns="0" tIns="0" rIns="0" bIns="0" rtlCol="0" anchor="ctr"/>
          <a:lstStyle/>
          <a:p>
            <a:pPr algn="l" indent="0" marL="0">
              <a:lnSpc>
                <a:spcPct val="100000"/>
              </a:lnSpc>
              <a:buNone/>
            </a:pPr>
            <a:r>
              <a:rPr lang="en-US" sz="950" b="1" dirty="0">
                <a:solidFill>
                  <a:srgbClr val="FFFFFF"/>
                </a:solidFill>
                <a:latin typeface="Arial" pitchFamily="34" charset="0"/>
                <a:ea typeface="Arial" pitchFamily="34" charset="-122"/>
                <a:cs typeface="Arial" pitchFamily="34" charset="-120"/>
              </a:rPr>
              <a:t>1   Intake &amp; triage</a:t>
            </a:r>
            <a:endParaRPr lang="en-US" sz="950" dirty="0"/>
          </a:p>
          <a:p>
            <a:pPr algn="l" indent="0" marL="0">
              <a:lnSpc>
                <a:spcPct val="100000"/>
              </a:lnSpc>
              <a:buNone/>
            </a:pPr>
            <a:r>
              <a:rPr lang="en-US" sz="720" dirty="0">
                <a:solidFill>
                  <a:srgbClr val="9FD3B4"/>
                </a:solidFill>
                <a:latin typeface="Arial" pitchFamily="34" charset="0"/>
                <a:ea typeface="Arial" pitchFamily="34" charset="-122"/>
                <a:cs typeface="Arial" pitchFamily="34" charset="-120"/>
              </a:rPr>
              <a:t>EMS SharePoint + Power App</a:t>
            </a:r>
            <a:endParaRPr lang="en-US" sz="950" dirty="0"/>
          </a:p>
        </p:txBody>
      </p:sp>
      <p:sp>
        <p:nvSpPr>
          <p:cNvPr id="19" name="Shape 17"/>
          <p:cNvSpPr/>
          <p:nvPr/>
        </p:nvSpPr>
        <p:spPr>
          <a:xfrm>
            <a:off x="2093976" y="2395728"/>
            <a:ext cx="2187702" cy="603504"/>
          </a:xfrm>
          <a:prstGeom prst="roundRect">
            <a:avLst>
              <a:gd name="adj" fmla="val 15152"/>
            </a:avLst>
          </a:prstGeom>
          <a:solidFill>
            <a:srgbClr val="F2F7F4"/>
          </a:solidFill>
          <a:ln w="9525">
            <a:solidFill>
              <a:srgbClr val="CFDFD6"/>
            </a:solidFill>
            <a:prstDash val="solid"/>
          </a:ln>
        </p:spPr>
      </p:sp>
      <p:sp>
        <p:nvSpPr>
          <p:cNvPr id="20" name="Text 18"/>
          <p:cNvSpPr/>
          <p:nvPr/>
        </p:nvSpPr>
        <p:spPr>
          <a:xfrm>
            <a:off x="2176272" y="2441448"/>
            <a:ext cx="2023110" cy="512064"/>
          </a:xfrm>
          <a:prstGeom prst="rect">
            <a:avLst/>
          </a:prstGeom>
          <a:noFill/>
          <a:ln/>
        </p:spPr>
        <p:txBody>
          <a:bodyPr wrap="square" lIns="0" tIns="0" rIns="0" bIns="0" rtlCol="0" anchor="ctr"/>
          <a:lstStyle/>
          <a:p>
            <a:pPr algn="ctr" indent="0" marL="0">
              <a:lnSpc>
                <a:spcPct val="95000"/>
              </a:lnSpc>
              <a:buNone/>
            </a:pPr>
            <a:r>
              <a:rPr lang="en-US" sz="700" b="1" dirty="0">
                <a:solidFill>
                  <a:srgbClr val="008A00"/>
                </a:solidFill>
                <a:latin typeface="Arial" pitchFamily="34" charset="0"/>
                <a:ea typeface="Arial" pitchFamily="34" charset="-122"/>
                <a:cs typeface="Arial" pitchFamily="34" charset="-120"/>
              </a:rPr>
              <a:t>Step 1</a:t>
            </a:r>
            <a:endParaRPr lang="en-US" sz="700" dirty="0"/>
          </a:p>
          <a:p>
            <a:pPr algn="ctr" indent="0" marL="0">
              <a:lnSpc>
                <a:spcPct val="95000"/>
              </a:lnSpc>
              <a:buNone/>
            </a:pPr>
            <a:r>
              <a:rPr lang="en-US" sz="920" b="1" dirty="0">
                <a:solidFill>
                  <a:srgbClr val="1E2522"/>
                </a:solidFill>
                <a:latin typeface="Arial" pitchFamily="34" charset="0"/>
                <a:ea typeface="Arial" pitchFamily="34" charset="-122"/>
                <a:cs typeface="Arial" pitchFamily="34" charset="-120"/>
              </a:rPr>
              <a:t>EMS SharePoint front door</a:t>
            </a:r>
            <a:endParaRPr lang="en-US" sz="700" dirty="0"/>
          </a:p>
          <a:p>
            <a:pPr algn="ctr" indent="0" marL="0">
              <a:lnSpc>
                <a:spcPct val="95000"/>
              </a:lnSpc>
              <a:buNone/>
            </a:pPr>
            <a:r>
              <a:rPr lang="en-US" sz="730" dirty="0">
                <a:solidFill>
                  <a:srgbClr val="1E2522"/>
                </a:solidFill>
                <a:latin typeface="Arial" pitchFamily="34" charset="0"/>
                <a:ea typeface="Arial" pitchFamily="34" charset="-122"/>
                <a:cs typeface="Arial" pitchFamily="34" charset="-120"/>
              </a:rPr>
              <a:t>GTS Expense Management System</a:t>
            </a:r>
            <a:endParaRPr lang="en-US" sz="700" dirty="0"/>
          </a:p>
        </p:txBody>
      </p:sp>
      <p:sp>
        <p:nvSpPr>
          <p:cNvPr id="21" name="Shape 19"/>
          <p:cNvSpPr/>
          <p:nvPr/>
        </p:nvSpPr>
        <p:spPr>
          <a:xfrm>
            <a:off x="4354830" y="2642616"/>
            <a:ext cx="164592" cy="109728"/>
          </a:xfrm>
          <a:prstGeom prst="rightArrow">
            <a:avLst/>
          </a:prstGeom>
          <a:solidFill>
            <a:srgbClr val="9CBFAC"/>
          </a:solidFill>
          <a:ln w="12700">
            <a:solidFill>
              <a:srgbClr val="9CBFAC"/>
            </a:solidFill>
            <a:prstDash val="solid"/>
          </a:ln>
        </p:spPr>
      </p:sp>
      <p:sp>
        <p:nvSpPr>
          <p:cNvPr id="22" name="Shape 20"/>
          <p:cNvSpPr/>
          <p:nvPr/>
        </p:nvSpPr>
        <p:spPr>
          <a:xfrm>
            <a:off x="4592574" y="2395728"/>
            <a:ext cx="2187702" cy="603504"/>
          </a:xfrm>
          <a:prstGeom prst="roundRect">
            <a:avLst>
              <a:gd name="adj" fmla="val 15152"/>
            </a:avLst>
          </a:prstGeom>
          <a:solidFill>
            <a:srgbClr val="F2F7F4"/>
          </a:solidFill>
          <a:ln w="9525">
            <a:solidFill>
              <a:srgbClr val="CFDFD6"/>
            </a:solidFill>
            <a:prstDash val="solid"/>
          </a:ln>
        </p:spPr>
      </p:sp>
      <p:sp>
        <p:nvSpPr>
          <p:cNvPr id="23" name="Text 21"/>
          <p:cNvSpPr/>
          <p:nvPr/>
        </p:nvSpPr>
        <p:spPr>
          <a:xfrm>
            <a:off x="4674870" y="2441448"/>
            <a:ext cx="2023110" cy="512064"/>
          </a:xfrm>
          <a:prstGeom prst="rect">
            <a:avLst/>
          </a:prstGeom>
          <a:noFill/>
          <a:ln/>
        </p:spPr>
        <p:txBody>
          <a:bodyPr wrap="square" lIns="0" tIns="0" rIns="0" bIns="0" rtlCol="0" anchor="ctr"/>
          <a:lstStyle/>
          <a:p>
            <a:pPr algn="ctr" indent="0" marL="0">
              <a:lnSpc>
                <a:spcPct val="95000"/>
              </a:lnSpc>
              <a:buNone/>
            </a:pPr>
            <a:r>
              <a:rPr lang="en-US" sz="700" b="1" dirty="0">
                <a:solidFill>
                  <a:srgbClr val="008A00"/>
                </a:solidFill>
                <a:latin typeface="Arial" pitchFamily="34" charset="0"/>
                <a:ea typeface="Arial" pitchFamily="34" charset="-122"/>
                <a:cs typeface="Arial" pitchFamily="34" charset="-120"/>
              </a:rPr>
              <a:t>Step 1</a:t>
            </a:r>
            <a:endParaRPr lang="en-US" sz="700" dirty="0"/>
          </a:p>
          <a:p>
            <a:pPr algn="ctr" indent="0" marL="0">
              <a:lnSpc>
                <a:spcPct val="95000"/>
              </a:lnSpc>
              <a:buNone/>
            </a:pPr>
            <a:r>
              <a:rPr lang="en-US" sz="920" b="1" dirty="0">
                <a:solidFill>
                  <a:srgbClr val="1E2522"/>
                </a:solidFill>
                <a:latin typeface="Arial" pitchFamily="34" charset="0"/>
                <a:ea typeface="Arial" pitchFamily="34" charset="-122"/>
                <a:cs typeface="Arial" pitchFamily="34" charset="-120"/>
              </a:rPr>
              <a:t>Power App triage</a:t>
            </a:r>
            <a:endParaRPr lang="en-US" sz="700" dirty="0"/>
          </a:p>
          <a:p>
            <a:pPr algn="ctr" indent="0" marL="0">
              <a:lnSpc>
                <a:spcPct val="95000"/>
              </a:lnSpc>
              <a:buNone/>
            </a:pPr>
            <a:r>
              <a:rPr lang="en-US" sz="730" dirty="0">
                <a:solidFill>
                  <a:srgbClr val="1E2522"/>
                </a:solidFill>
                <a:latin typeface="Arial" pitchFamily="34" charset="0"/>
                <a:ea typeface="Arial" pitchFamily="34" charset="-122"/>
                <a:cs typeface="Arial" pitchFamily="34" charset="-120"/>
              </a:rPr>
              <a:t>Five request types; Vendor Expense selected</a:t>
            </a:r>
            <a:endParaRPr lang="en-US" sz="700" dirty="0"/>
          </a:p>
        </p:txBody>
      </p:sp>
      <p:sp>
        <p:nvSpPr>
          <p:cNvPr id="24" name="Shape 22"/>
          <p:cNvSpPr/>
          <p:nvPr/>
        </p:nvSpPr>
        <p:spPr>
          <a:xfrm>
            <a:off x="6853428" y="2642616"/>
            <a:ext cx="164592" cy="109728"/>
          </a:xfrm>
          <a:prstGeom prst="rightArrow">
            <a:avLst/>
          </a:prstGeom>
          <a:solidFill>
            <a:srgbClr val="9CBFAC"/>
          </a:solidFill>
          <a:ln w="12700">
            <a:solidFill>
              <a:srgbClr val="9CBFAC"/>
            </a:solidFill>
            <a:prstDash val="solid"/>
          </a:ln>
        </p:spPr>
      </p:sp>
      <p:sp>
        <p:nvSpPr>
          <p:cNvPr id="25" name="Shape 23"/>
          <p:cNvSpPr/>
          <p:nvPr/>
        </p:nvSpPr>
        <p:spPr>
          <a:xfrm>
            <a:off x="7091172" y="2395728"/>
            <a:ext cx="2187702" cy="603504"/>
          </a:xfrm>
          <a:prstGeom prst="roundRect">
            <a:avLst>
              <a:gd name="adj" fmla="val 15152"/>
            </a:avLst>
          </a:prstGeom>
          <a:solidFill>
            <a:srgbClr val="F2F7F4"/>
          </a:solidFill>
          <a:ln w="9525">
            <a:solidFill>
              <a:srgbClr val="CFDFD6"/>
            </a:solidFill>
            <a:prstDash val="solid"/>
          </a:ln>
        </p:spPr>
      </p:sp>
      <p:sp>
        <p:nvSpPr>
          <p:cNvPr id="26" name="Text 24"/>
          <p:cNvSpPr/>
          <p:nvPr/>
        </p:nvSpPr>
        <p:spPr>
          <a:xfrm>
            <a:off x="7173468" y="2441448"/>
            <a:ext cx="2023110" cy="512064"/>
          </a:xfrm>
          <a:prstGeom prst="rect">
            <a:avLst/>
          </a:prstGeom>
          <a:noFill/>
          <a:ln/>
        </p:spPr>
        <p:txBody>
          <a:bodyPr wrap="square" lIns="0" tIns="0" rIns="0" bIns="0" rtlCol="0" anchor="ctr"/>
          <a:lstStyle/>
          <a:p>
            <a:pPr algn="ctr" indent="0" marL="0">
              <a:lnSpc>
                <a:spcPct val="95000"/>
              </a:lnSpc>
              <a:buNone/>
            </a:pPr>
            <a:r>
              <a:rPr lang="en-US" sz="700" b="1" dirty="0">
                <a:solidFill>
                  <a:srgbClr val="008A00"/>
                </a:solidFill>
                <a:latin typeface="Arial" pitchFamily="34" charset="0"/>
                <a:ea typeface="Arial" pitchFamily="34" charset="-122"/>
                <a:cs typeface="Arial" pitchFamily="34" charset="-120"/>
              </a:rPr>
              <a:t>Step 1</a:t>
            </a:r>
            <a:endParaRPr lang="en-US" sz="700" dirty="0"/>
          </a:p>
          <a:p>
            <a:pPr algn="ctr" indent="0" marL="0">
              <a:lnSpc>
                <a:spcPct val="95000"/>
              </a:lnSpc>
              <a:buNone/>
            </a:pPr>
            <a:r>
              <a:rPr lang="en-US" sz="920" b="1" dirty="0">
                <a:solidFill>
                  <a:srgbClr val="1E2522"/>
                </a:solidFill>
                <a:latin typeface="Arial" pitchFamily="34" charset="0"/>
                <a:ea typeface="Arial" pitchFamily="34" charset="-122"/>
                <a:cs typeface="Arial" pitchFamily="34" charset="-120"/>
              </a:rPr>
              <a:t>Spend gate: over $100K</a:t>
            </a:r>
            <a:endParaRPr lang="en-US" sz="700" dirty="0"/>
          </a:p>
          <a:p>
            <a:pPr algn="ctr" indent="0" marL="0">
              <a:lnSpc>
                <a:spcPct val="95000"/>
              </a:lnSpc>
              <a:buNone/>
            </a:pPr>
            <a:r>
              <a:rPr lang="en-US" sz="730" dirty="0">
                <a:solidFill>
                  <a:srgbClr val="1E2522"/>
                </a:solidFill>
                <a:latin typeface="Arial" pitchFamily="34" charset="0"/>
                <a:ea typeface="Arial" pitchFamily="34" charset="-122"/>
                <a:cs typeface="Arial" pitchFamily="34" charset="-120"/>
              </a:rPr>
              <a:t>Pipeline approved already? enter the PL#</a:t>
            </a:r>
            <a:endParaRPr lang="en-US" sz="700" dirty="0"/>
          </a:p>
        </p:txBody>
      </p:sp>
      <p:sp>
        <p:nvSpPr>
          <p:cNvPr id="27" name="Shape 25"/>
          <p:cNvSpPr/>
          <p:nvPr/>
        </p:nvSpPr>
        <p:spPr>
          <a:xfrm>
            <a:off x="9352026" y="2642616"/>
            <a:ext cx="164592" cy="109728"/>
          </a:xfrm>
          <a:prstGeom prst="rightArrow">
            <a:avLst/>
          </a:prstGeom>
          <a:solidFill>
            <a:srgbClr val="9CBFAC"/>
          </a:solidFill>
          <a:ln w="12700">
            <a:solidFill>
              <a:srgbClr val="9CBFAC"/>
            </a:solidFill>
            <a:prstDash val="solid"/>
          </a:ln>
        </p:spPr>
      </p:sp>
      <p:sp>
        <p:nvSpPr>
          <p:cNvPr id="28" name="Shape 26"/>
          <p:cNvSpPr/>
          <p:nvPr/>
        </p:nvSpPr>
        <p:spPr>
          <a:xfrm>
            <a:off x="9589770" y="2395728"/>
            <a:ext cx="2187702" cy="603504"/>
          </a:xfrm>
          <a:prstGeom prst="roundRect">
            <a:avLst>
              <a:gd name="adj" fmla="val 15152"/>
            </a:avLst>
          </a:prstGeom>
          <a:solidFill>
            <a:srgbClr val="F2F7F4"/>
          </a:solidFill>
          <a:ln w="9525">
            <a:solidFill>
              <a:srgbClr val="CFDFD6"/>
            </a:solidFill>
            <a:prstDash val="solid"/>
          </a:ln>
        </p:spPr>
      </p:sp>
      <p:sp>
        <p:nvSpPr>
          <p:cNvPr id="29" name="Text 27"/>
          <p:cNvSpPr/>
          <p:nvPr/>
        </p:nvSpPr>
        <p:spPr>
          <a:xfrm>
            <a:off x="9672066" y="2441448"/>
            <a:ext cx="2023110" cy="512064"/>
          </a:xfrm>
          <a:prstGeom prst="rect">
            <a:avLst/>
          </a:prstGeom>
          <a:noFill/>
          <a:ln/>
        </p:spPr>
        <p:txBody>
          <a:bodyPr wrap="square" lIns="0" tIns="0" rIns="0" bIns="0" rtlCol="0" anchor="ctr"/>
          <a:lstStyle/>
          <a:p>
            <a:pPr algn="ctr" indent="0" marL="0">
              <a:lnSpc>
                <a:spcPct val="95000"/>
              </a:lnSpc>
              <a:buNone/>
            </a:pPr>
            <a:r>
              <a:rPr lang="en-US" sz="700" b="1" dirty="0">
                <a:solidFill>
                  <a:srgbClr val="008A00"/>
                </a:solidFill>
                <a:latin typeface="Arial" pitchFamily="34" charset="0"/>
                <a:ea typeface="Arial" pitchFamily="34" charset="-122"/>
                <a:cs typeface="Arial" pitchFamily="34" charset="-120"/>
              </a:rPr>
              <a:t>Step 2</a:t>
            </a:r>
            <a:endParaRPr lang="en-US" sz="700" dirty="0"/>
          </a:p>
          <a:p>
            <a:pPr algn="ctr" indent="0" marL="0">
              <a:lnSpc>
                <a:spcPct val="95000"/>
              </a:lnSpc>
              <a:buNone/>
            </a:pPr>
            <a:r>
              <a:rPr lang="en-US" sz="920" b="1" dirty="0">
                <a:solidFill>
                  <a:srgbClr val="1E2522"/>
                </a:solidFill>
                <a:latin typeface="Arial" pitchFamily="34" charset="0"/>
                <a:ea typeface="Arial" pitchFamily="34" charset="-122"/>
                <a:cs typeface="Arial" pitchFamily="34" charset="-120"/>
              </a:rPr>
              <a:t>Pipeline Vendor Intake</a:t>
            </a:r>
            <a:endParaRPr lang="en-US" sz="700" dirty="0"/>
          </a:p>
          <a:p>
            <a:pPr algn="ctr" indent="0" marL="0">
              <a:lnSpc>
                <a:spcPct val="95000"/>
              </a:lnSpc>
              <a:buNone/>
            </a:pPr>
            <a:r>
              <a:rPr lang="en-US" sz="730" dirty="0">
                <a:solidFill>
                  <a:srgbClr val="1E2522"/>
                </a:solidFill>
                <a:latin typeface="Arial" pitchFamily="34" charset="0"/>
                <a:ea typeface="Arial" pitchFamily="34" charset="-122"/>
                <a:cs typeface="Arial" pitchFamily="34" charset="-120"/>
              </a:rPr>
              <a:t>Business case, vendor, spend, resources</a:t>
            </a:r>
            <a:endParaRPr lang="en-US" sz="700" dirty="0"/>
          </a:p>
        </p:txBody>
      </p:sp>
      <p:sp>
        <p:nvSpPr>
          <p:cNvPr id="30" name="Shape 28"/>
          <p:cNvSpPr/>
          <p:nvPr/>
        </p:nvSpPr>
        <p:spPr>
          <a:xfrm>
            <a:off x="11274552" y="2999232"/>
            <a:ext cx="0" cy="100584"/>
          </a:xfrm>
          <a:prstGeom prst="line">
            <a:avLst/>
          </a:prstGeom>
          <a:noFill/>
          <a:ln w="12700">
            <a:solidFill>
              <a:srgbClr val="B4CFC0"/>
            </a:solidFill>
            <a:prstDash val="solid"/>
          </a:ln>
        </p:spPr>
      </p:sp>
      <p:sp>
        <p:nvSpPr>
          <p:cNvPr id="31" name="Shape 29"/>
          <p:cNvSpPr/>
          <p:nvPr/>
        </p:nvSpPr>
        <p:spPr>
          <a:xfrm>
            <a:off x="2596896" y="3099816"/>
            <a:ext cx="8677656" cy="0"/>
          </a:xfrm>
          <a:prstGeom prst="line">
            <a:avLst/>
          </a:prstGeom>
          <a:noFill/>
          <a:ln w="12700">
            <a:solidFill>
              <a:srgbClr val="B4CFC0"/>
            </a:solidFill>
            <a:prstDash val="solid"/>
          </a:ln>
        </p:spPr>
      </p:sp>
      <p:sp>
        <p:nvSpPr>
          <p:cNvPr id="32" name="Shape 30"/>
          <p:cNvSpPr/>
          <p:nvPr/>
        </p:nvSpPr>
        <p:spPr>
          <a:xfrm>
            <a:off x="2596896" y="3099816"/>
            <a:ext cx="0" cy="100584"/>
          </a:xfrm>
          <a:prstGeom prst="line">
            <a:avLst/>
          </a:prstGeom>
          <a:noFill/>
          <a:ln w="12700">
            <a:solidFill>
              <a:srgbClr val="B4CFC0"/>
            </a:solidFill>
            <a:prstDash val="solid"/>
            <a:tailEnd type="triangle"/>
          </a:ln>
        </p:spPr>
      </p:sp>
      <p:sp>
        <p:nvSpPr>
          <p:cNvPr id="33" name="Shape 31"/>
          <p:cNvSpPr/>
          <p:nvPr/>
        </p:nvSpPr>
        <p:spPr>
          <a:xfrm>
            <a:off x="411480" y="3200400"/>
            <a:ext cx="1481328" cy="603504"/>
          </a:xfrm>
          <a:prstGeom prst="roundRect">
            <a:avLst>
              <a:gd name="adj" fmla="val 15152"/>
            </a:avLst>
          </a:prstGeom>
          <a:solidFill>
            <a:srgbClr val="1A5336"/>
          </a:solidFill>
          <a:ln w="12700">
            <a:solidFill>
              <a:srgbClr val="1A5336"/>
            </a:solidFill>
            <a:prstDash val="solid"/>
          </a:ln>
        </p:spPr>
      </p:sp>
      <p:sp>
        <p:nvSpPr>
          <p:cNvPr id="34" name="Text 32"/>
          <p:cNvSpPr/>
          <p:nvPr/>
        </p:nvSpPr>
        <p:spPr>
          <a:xfrm>
            <a:off x="539496" y="3255264"/>
            <a:ext cx="1243584" cy="493776"/>
          </a:xfrm>
          <a:prstGeom prst="rect">
            <a:avLst/>
          </a:prstGeom>
          <a:noFill/>
          <a:ln/>
        </p:spPr>
        <p:txBody>
          <a:bodyPr wrap="square" lIns="0" tIns="0" rIns="0" bIns="0" rtlCol="0" anchor="ctr"/>
          <a:lstStyle/>
          <a:p>
            <a:pPr algn="l" indent="0" marL="0">
              <a:lnSpc>
                <a:spcPct val="100000"/>
              </a:lnSpc>
              <a:buNone/>
            </a:pPr>
            <a:r>
              <a:rPr lang="en-US" sz="950" b="1" dirty="0">
                <a:solidFill>
                  <a:srgbClr val="FFFFFF"/>
                </a:solidFill>
                <a:latin typeface="Arial" pitchFamily="34" charset="0"/>
                <a:ea typeface="Arial" pitchFamily="34" charset="-122"/>
                <a:cs typeface="Arial" pitchFamily="34" charset="-120"/>
              </a:rPr>
              <a:t>2   Pipeline approval</a:t>
            </a:r>
            <a:endParaRPr lang="en-US" sz="950" dirty="0"/>
          </a:p>
          <a:p>
            <a:pPr algn="l" indent="0" marL="0">
              <a:lnSpc>
                <a:spcPct val="100000"/>
              </a:lnSpc>
              <a:buNone/>
            </a:pPr>
            <a:r>
              <a:rPr lang="en-US" sz="720" dirty="0">
                <a:solidFill>
                  <a:srgbClr val="9FD3B4"/>
                </a:solidFill>
                <a:latin typeface="Arial" pitchFamily="34" charset="0"/>
                <a:ea typeface="Arial" pitchFamily="34" charset="-122"/>
                <a:cs typeface="Arial" pitchFamily="34" charset="-120"/>
              </a:rPr>
              <a:t>Agenda + meeting each level</a:t>
            </a:r>
            <a:endParaRPr lang="en-US" sz="950" dirty="0"/>
          </a:p>
        </p:txBody>
      </p:sp>
      <p:sp>
        <p:nvSpPr>
          <p:cNvPr id="35" name="Shape 33"/>
          <p:cNvSpPr/>
          <p:nvPr/>
        </p:nvSpPr>
        <p:spPr>
          <a:xfrm>
            <a:off x="2093976" y="3200400"/>
            <a:ext cx="932688" cy="603504"/>
          </a:xfrm>
          <a:prstGeom prst="roundRect">
            <a:avLst>
              <a:gd name="adj" fmla="val 21212"/>
            </a:avLst>
          </a:prstGeom>
          <a:solidFill>
            <a:srgbClr val="E4EFE9"/>
          </a:solidFill>
          <a:ln w="9525">
            <a:solidFill>
              <a:srgbClr val="C4D8CC"/>
            </a:solidFill>
            <a:prstDash val="solid"/>
          </a:ln>
        </p:spPr>
      </p:sp>
      <p:sp>
        <p:nvSpPr>
          <p:cNvPr id="36" name="Text 34"/>
          <p:cNvSpPr/>
          <p:nvPr/>
        </p:nvSpPr>
        <p:spPr>
          <a:xfrm>
            <a:off x="2130552" y="3246120"/>
            <a:ext cx="859536" cy="512064"/>
          </a:xfrm>
          <a:prstGeom prst="rect">
            <a:avLst/>
          </a:prstGeom>
          <a:noFill/>
          <a:ln/>
        </p:spPr>
        <p:txBody>
          <a:bodyPr wrap="square" lIns="0" tIns="0" rIns="0" bIns="0" rtlCol="0" anchor="ctr"/>
          <a:lstStyle/>
          <a:p>
            <a:pPr algn="ctr" indent="0" marL="0">
              <a:lnSpc>
                <a:spcPct val="95000"/>
              </a:lnSpc>
              <a:buNone/>
            </a:pPr>
            <a:r>
              <a:rPr lang="en-US" sz="680" b="1" dirty="0">
                <a:solidFill>
                  <a:srgbClr val="008A00"/>
                </a:solidFill>
                <a:latin typeface="Arial" pitchFamily="34" charset="0"/>
                <a:ea typeface="Arial" pitchFamily="34" charset="-122"/>
                <a:cs typeface="Arial" pitchFamily="34" charset="-120"/>
              </a:rPr>
              <a:t>Step 3</a:t>
            </a:r>
            <a:endParaRPr lang="en-US" sz="680" dirty="0"/>
          </a:p>
          <a:p>
            <a:pPr algn="ctr" indent="0" marL="0">
              <a:lnSpc>
                <a:spcPct val="95000"/>
              </a:lnSpc>
              <a:buNone/>
            </a:pPr>
            <a:r>
              <a:rPr lang="en-US" sz="1000" b="1" dirty="0">
                <a:solidFill>
                  <a:srgbClr val="1E2522"/>
                </a:solidFill>
                <a:latin typeface="Arial" pitchFamily="34" charset="0"/>
                <a:ea typeface="Arial" pitchFamily="34" charset="-122"/>
                <a:cs typeface="Arial" pitchFamily="34" charset="-120"/>
              </a:rPr>
              <a:t>VP</a:t>
            </a:r>
            <a:endParaRPr lang="en-US" sz="680" dirty="0"/>
          </a:p>
        </p:txBody>
      </p:sp>
      <p:sp>
        <p:nvSpPr>
          <p:cNvPr id="37" name="Shape 35"/>
          <p:cNvSpPr/>
          <p:nvPr/>
        </p:nvSpPr>
        <p:spPr>
          <a:xfrm>
            <a:off x="3076956" y="3447288"/>
            <a:ext cx="118872" cy="109728"/>
          </a:xfrm>
          <a:prstGeom prst="rightArrow">
            <a:avLst/>
          </a:prstGeom>
          <a:solidFill>
            <a:srgbClr val="9CBFAC"/>
          </a:solidFill>
          <a:ln w="12700">
            <a:solidFill>
              <a:srgbClr val="9CBFAC"/>
            </a:solidFill>
            <a:prstDash val="solid"/>
          </a:ln>
        </p:spPr>
      </p:sp>
      <p:sp>
        <p:nvSpPr>
          <p:cNvPr id="38" name="Shape 36"/>
          <p:cNvSpPr/>
          <p:nvPr/>
        </p:nvSpPr>
        <p:spPr>
          <a:xfrm>
            <a:off x="3246120" y="3200400"/>
            <a:ext cx="932688" cy="603504"/>
          </a:xfrm>
          <a:prstGeom prst="roundRect">
            <a:avLst>
              <a:gd name="adj" fmla="val 21212"/>
            </a:avLst>
          </a:prstGeom>
          <a:solidFill>
            <a:srgbClr val="E4EFE9"/>
          </a:solidFill>
          <a:ln w="9525">
            <a:solidFill>
              <a:srgbClr val="C4D8CC"/>
            </a:solidFill>
            <a:prstDash val="solid"/>
          </a:ln>
        </p:spPr>
      </p:sp>
      <p:sp>
        <p:nvSpPr>
          <p:cNvPr id="39" name="Text 37"/>
          <p:cNvSpPr/>
          <p:nvPr/>
        </p:nvSpPr>
        <p:spPr>
          <a:xfrm>
            <a:off x="3282696" y="3246120"/>
            <a:ext cx="859536" cy="512064"/>
          </a:xfrm>
          <a:prstGeom prst="rect">
            <a:avLst/>
          </a:prstGeom>
          <a:noFill/>
          <a:ln/>
        </p:spPr>
        <p:txBody>
          <a:bodyPr wrap="square" lIns="0" tIns="0" rIns="0" bIns="0" rtlCol="0" anchor="ctr"/>
          <a:lstStyle/>
          <a:p>
            <a:pPr algn="ctr" indent="0" marL="0">
              <a:lnSpc>
                <a:spcPct val="95000"/>
              </a:lnSpc>
              <a:buNone/>
            </a:pPr>
            <a:r>
              <a:rPr lang="en-US" sz="680" b="1" dirty="0">
                <a:solidFill>
                  <a:srgbClr val="008A00"/>
                </a:solidFill>
                <a:latin typeface="Arial" pitchFamily="34" charset="0"/>
                <a:ea typeface="Arial" pitchFamily="34" charset="-122"/>
                <a:cs typeface="Arial" pitchFamily="34" charset="-120"/>
              </a:rPr>
              <a:t>Step 4</a:t>
            </a:r>
            <a:endParaRPr lang="en-US" sz="680" dirty="0"/>
          </a:p>
          <a:p>
            <a:pPr algn="ctr" indent="0" marL="0">
              <a:lnSpc>
                <a:spcPct val="95000"/>
              </a:lnSpc>
              <a:buNone/>
            </a:pPr>
            <a:r>
              <a:rPr lang="en-US" sz="1000" b="1" dirty="0">
                <a:solidFill>
                  <a:srgbClr val="1E2522"/>
                </a:solidFill>
                <a:latin typeface="Arial" pitchFamily="34" charset="0"/>
                <a:ea typeface="Arial" pitchFamily="34" charset="-122"/>
                <a:cs typeface="Arial" pitchFamily="34" charset="-120"/>
              </a:rPr>
              <a:t>SVP</a:t>
            </a:r>
            <a:endParaRPr lang="en-US" sz="680" dirty="0"/>
          </a:p>
        </p:txBody>
      </p:sp>
      <p:sp>
        <p:nvSpPr>
          <p:cNvPr id="40" name="Shape 38"/>
          <p:cNvSpPr/>
          <p:nvPr/>
        </p:nvSpPr>
        <p:spPr>
          <a:xfrm>
            <a:off x="4229100" y="3447288"/>
            <a:ext cx="118872" cy="109728"/>
          </a:xfrm>
          <a:prstGeom prst="rightArrow">
            <a:avLst/>
          </a:prstGeom>
          <a:solidFill>
            <a:srgbClr val="9CBFAC"/>
          </a:solidFill>
          <a:ln w="12700">
            <a:solidFill>
              <a:srgbClr val="9CBFAC"/>
            </a:solidFill>
            <a:prstDash val="solid"/>
          </a:ln>
        </p:spPr>
      </p:sp>
      <p:sp>
        <p:nvSpPr>
          <p:cNvPr id="41" name="Shape 39"/>
          <p:cNvSpPr/>
          <p:nvPr/>
        </p:nvSpPr>
        <p:spPr>
          <a:xfrm>
            <a:off x="4398264" y="3200400"/>
            <a:ext cx="932688" cy="603504"/>
          </a:xfrm>
          <a:prstGeom prst="roundRect">
            <a:avLst>
              <a:gd name="adj" fmla="val 21212"/>
            </a:avLst>
          </a:prstGeom>
          <a:solidFill>
            <a:srgbClr val="E4EFE9"/>
          </a:solidFill>
          <a:ln w="9525">
            <a:solidFill>
              <a:srgbClr val="C4D8CC"/>
            </a:solidFill>
            <a:prstDash val="solid"/>
          </a:ln>
        </p:spPr>
      </p:sp>
      <p:sp>
        <p:nvSpPr>
          <p:cNvPr id="42" name="Text 40"/>
          <p:cNvSpPr/>
          <p:nvPr/>
        </p:nvSpPr>
        <p:spPr>
          <a:xfrm>
            <a:off x="4434840" y="3246120"/>
            <a:ext cx="859536" cy="512064"/>
          </a:xfrm>
          <a:prstGeom prst="rect">
            <a:avLst/>
          </a:prstGeom>
          <a:noFill/>
          <a:ln/>
        </p:spPr>
        <p:txBody>
          <a:bodyPr wrap="square" lIns="0" tIns="0" rIns="0" bIns="0" rtlCol="0" anchor="ctr"/>
          <a:lstStyle/>
          <a:p>
            <a:pPr algn="ctr" indent="0" marL="0">
              <a:lnSpc>
                <a:spcPct val="95000"/>
              </a:lnSpc>
              <a:buNone/>
            </a:pPr>
            <a:r>
              <a:rPr lang="en-US" sz="680" b="1" dirty="0">
                <a:solidFill>
                  <a:srgbClr val="008A00"/>
                </a:solidFill>
                <a:latin typeface="Arial" pitchFamily="34" charset="0"/>
                <a:ea typeface="Arial" pitchFamily="34" charset="-122"/>
                <a:cs typeface="Arial" pitchFamily="34" charset="-120"/>
              </a:rPr>
              <a:t>Step 5</a:t>
            </a:r>
            <a:endParaRPr lang="en-US" sz="680" dirty="0"/>
          </a:p>
          <a:p>
            <a:pPr algn="ctr" indent="0" marL="0">
              <a:lnSpc>
                <a:spcPct val="95000"/>
              </a:lnSpc>
              <a:buNone/>
            </a:pPr>
            <a:r>
              <a:rPr lang="en-US" sz="1000" b="1" dirty="0">
                <a:solidFill>
                  <a:srgbClr val="1E2522"/>
                </a:solidFill>
                <a:latin typeface="Arial" pitchFamily="34" charset="0"/>
                <a:ea typeface="Arial" pitchFamily="34" charset="-122"/>
                <a:cs typeface="Arial" pitchFamily="34" charset="-120"/>
              </a:rPr>
              <a:t>EVP</a:t>
            </a:r>
            <a:endParaRPr lang="en-US" sz="680" dirty="0"/>
          </a:p>
        </p:txBody>
      </p:sp>
      <p:sp>
        <p:nvSpPr>
          <p:cNvPr id="43" name="Shape 41"/>
          <p:cNvSpPr/>
          <p:nvPr/>
        </p:nvSpPr>
        <p:spPr>
          <a:xfrm>
            <a:off x="5381244" y="3447288"/>
            <a:ext cx="118872" cy="109728"/>
          </a:xfrm>
          <a:prstGeom prst="rightArrow">
            <a:avLst/>
          </a:prstGeom>
          <a:solidFill>
            <a:srgbClr val="9CBFAC"/>
          </a:solidFill>
          <a:ln w="12700">
            <a:solidFill>
              <a:srgbClr val="9CBFAC"/>
            </a:solidFill>
            <a:prstDash val="solid"/>
          </a:ln>
        </p:spPr>
      </p:sp>
      <p:sp>
        <p:nvSpPr>
          <p:cNvPr id="44" name="Shape 42"/>
          <p:cNvSpPr/>
          <p:nvPr/>
        </p:nvSpPr>
        <p:spPr>
          <a:xfrm>
            <a:off x="5550408" y="3200400"/>
            <a:ext cx="932688" cy="603504"/>
          </a:xfrm>
          <a:prstGeom prst="roundRect">
            <a:avLst>
              <a:gd name="adj" fmla="val 21212"/>
            </a:avLst>
          </a:prstGeom>
          <a:solidFill>
            <a:srgbClr val="E4EFE9"/>
          </a:solidFill>
          <a:ln w="9525">
            <a:solidFill>
              <a:srgbClr val="C4D8CC"/>
            </a:solidFill>
            <a:prstDash val="solid"/>
          </a:ln>
        </p:spPr>
      </p:sp>
      <p:sp>
        <p:nvSpPr>
          <p:cNvPr id="45" name="Text 43"/>
          <p:cNvSpPr/>
          <p:nvPr/>
        </p:nvSpPr>
        <p:spPr>
          <a:xfrm>
            <a:off x="5586984" y="3246120"/>
            <a:ext cx="859536" cy="512064"/>
          </a:xfrm>
          <a:prstGeom prst="rect">
            <a:avLst/>
          </a:prstGeom>
          <a:noFill/>
          <a:ln/>
        </p:spPr>
        <p:txBody>
          <a:bodyPr wrap="square" lIns="0" tIns="0" rIns="0" bIns="0" rtlCol="0" anchor="ctr"/>
          <a:lstStyle/>
          <a:p>
            <a:pPr algn="ctr" indent="0" marL="0">
              <a:lnSpc>
                <a:spcPct val="95000"/>
              </a:lnSpc>
              <a:buNone/>
            </a:pPr>
            <a:r>
              <a:rPr lang="en-US" sz="680" b="1" dirty="0">
                <a:solidFill>
                  <a:srgbClr val="008A00"/>
                </a:solidFill>
                <a:latin typeface="Arial" pitchFamily="34" charset="0"/>
                <a:ea typeface="Arial" pitchFamily="34" charset="-122"/>
                <a:cs typeface="Arial" pitchFamily="34" charset="-120"/>
              </a:rPr>
              <a:t>Step 6</a:t>
            </a:r>
            <a:endParaRPr lang="en-US" sz="680" dirty="0"/>
          </a:p>
          <a:p>
            <a:pPr algn="ctr" indent="0" marL="0">
              <a:lnSpc>
                <a:spcPct val="95000"/>
              </a:lnSpc>
              <a:buNone/>
            </a:pPr>
            <a:r>
              <a:rPr lang="en-US" sz="1000" b="1" dirty="0">
                <a:solidFill>
                  <a:srgbClr val="1E2522"/>
                </a:solidFill>
                <a:latin typeface="Arial" pitchFamily="34" charset="0"/>
                <a:ea typeface="Arial" pitchFamily="34" charset="-122"/>
                <a:cs typeface="Arial" pitchFamily="34" charset="-120"/>
              </a:rPr>
              <a:t>FinAVP</a:t>
            </a:r>
            <a:endParaRPr lang="en-US" sz="680" dirty="0"/>
          </a:p>
        </p:txBody>
      </p:sp>
      <p:sp>
        <p:nvSpPr>
          <p:cNvPr id="46" name="Shape 44"/>
          <p:cNvSpPr/>
          <p:nvPr/>
        </p:nvSpPr>
        <p:spPr>
          <a:xfrm>
            <a:off x="6533388" y="3447288"/>
            <a:ext cx="118872" cy="109728"/>
          </a:xfrm>
          <a:prstGeom prst="rightArrow">
            <a:avLst/>
          </a:prstGeom>
          <a:solidFill>
            <a:srgbClr val="9CBFAC"/>
          </a:solidFill>
          <a:ln w="12700">
            <a:solidFill>
              <a:srgbClr val="9CBFAC"/>
            </a:solidFill>
            <a:prstDash val="solid"/>
          </a:ln>
        </p:spPr>
      </p:sp>
      <p:sp>
        <p:nvSpPr>
          <p:cNvPr id="47" name="Shape 45"/>
          <p:cNvSpPr/>
          <p:nvPr/>
        </p:nvSpPr>
        <p:spPr>
          <a:xfrm>
            <a:off x="6702552" y="3200400"/>
            <a:ext cx="932688" cy="603504"/>
          </a:xfrm>
          <a:prstGeom prst="roundRect">
            <a:avLst>
              <a:gd name="adj" fmla="val 21212"/>
            </a:avLst>
          </a:prstGeom>
          <a:solidFill>
            <a:srgbClr val="E4EFE9"/>
          </a:solidFill>
          <a:ln w="9525">
            <a:solidFill>
              <a:srgbClr val="C4D8CC"/>
            </a:solidFill>
            <a:prstDash val="solid"/>
          </a:ln>
        </p:spPr>
      </p:sp>
      <p:sp>
        <p:nvSpPr>
          <p:cNvPr id="48" name="Text 46"/>
          <p:cNvSpPr/>
          <p:nvPr/>
        </p:nvSpPr>
        <p:spPr>
          <a:xfrm>
            <a:off x="6739128" y="3246120"/>
            <a:ext cx="859536" cy="512064"/>
          </a:xfrm>
          <a:prstGeom prst="rect">
            <a:avLst/>
          </a:prstGeom>
          <a:noFill/>
          <a:ln/>
        </p:spPr>
        <p:txBody>
          <a:bodyPr wrap="square" lIns="0" tIns="0" rIns="0" bIns="0" rtlCol="0" anchor="ctr"/>
          <a:lstStyle/>
          <a:p>
            <a:pPr algn="ctr" indent="0" marL="0">
              <a:lnSpc>
                <a:spcPct val="95000"/>
              </a:lnSpc>
              <a:buNone/>
            </a:pPr>
            <a:r>
              <a:rPr lang="en-US" sz="680" b="1" dirty="0">
                <a:solidFill>
                  <a:srgbClr val="008A00"/>
                </a:solidFill>
                <a:latin typeface="Arial" pitchFamily="34" charset="0"/>
                <a:ea typeface="Arial" pitchFamily="34" charset="-122"/>
                <a:cs typeface="Arial" pitchFamily="34" charset="-120"/>
              </a:rPr>
              <a:t>Step 7</a:t>
            </a:r>
            <a:endParaRPr lang="en-US" sz="680" dirty="0"/>
          </a:p>
          <a:p>
            <a:pPr algn="ctr" indent="0" marL="0">
              <a:lnSpc>
                <a:spcPct val="95000"/>
              </a:lnSpc>
              <a:buNone/>
            </a:pPr>
            <a:r>
              <a:rPr lang="en-US" sz="1000" b="1" dirty="0">
                <a:solidFill>
                  <a:srgbClr val="1E2522"/>
                </a:solidFill>
                <a:latin typeface="Arial" pitchFamily="34" charset="0"/>
                <a:ea typeface="Arial" pitchFamily="34" charset="-122"/>
                <a:cs typeface="Arial" pitchFamily="34" charset="-120"/>
              </a:rPr>
              <a:t>ERC</a:t>
            </a:r>
            <a:endParaRPr lang="en-US" sz="680" dirty="0"/>
          </a:p>
        </p:txBody>
      </p:sp>
      <p:sp>
        <p:nvSpPr>
          <p:cNvPr id="49" name="Shape 47"/>
          <p:cNvSpPr/>
          <p:nvPr/>
        </p:nvSpPr>
        <p:spPr>
          <a:xfrm>
            <a:off x="7685532" y="3447288"/>
            <a:ext cx="118872" cy="109728"/>
          </a:xfrm>
          <a:prstGeom prst="rightArrow">
            <a:avLst/>
          </a:prstGeom>
          <a:solidFill>
            <a:srgbClr val="9CBFAC"/>
          </a:solidFill>
          <a:ln w="12700">
            <a:solidFill>
              <a:srgbClr val="9CBFAC"/>
            </a:solidFill>
            <a:prstDash val="solid"/>
          </a:ln>
        </p:spPr>
      </p:sp>
      <p:sp>
        <p:nvSpPr>
          <p:cNvPr id="50" name="Shape 48"/>
          <p:cNvSpPr/>
          <p:nvPr/>
        </p:nvSpPr>
        <p:spPr>
          <a:xfrm>
            <a:off x="7854696" y="3200400"/>
            <a:ext cx="932688" cy="603504"/>
          </a:xfrm>
          <a:prstGeom prst="roundRect">
            <a:avLst>
              <a:gd name="adj" fmla="val 21212"/>
            </a:avLst>
          </a:prstGeom>
          <a:solidFill>
            <a:srgbClr val="E4EFE9"/>
          </a:solidFill>
          <a:ln w="9525">
            <a:solidFill>
              <a:srgbClr val="C4D8CC"/>
            </a:solidFill>
            <a:prstDash val="solid"/>
          </a:ln>
        </p:spPr>
      </p:sp>
      <p:sp>
        <p:nvSpPr>
          <p:cNvPr id="51" name="Text 49"/>
          <p:cNvSpPr/>
          <p:nvPr/>
        </p:nvSpPr>
        <p:spPr>
          <a:xfrm>
            <a:off x="7891272" y="3246120"/>
            <a:ext cx="859536" cy="512064"/>
          </a:xfrm>
          <a:prstGeom prst="rect">
            <a:avLst/>
          </a:prstGeom>
          <a:noFill/>
          <a:ln/>
        </p:spPr>
        <p:txBody>
          <a:bodyPr wrap="square" lIns="0" tIns="0" rIns="0" bIns="0" rtlCol="0" anchor="ctr"/>
          <a:lstStyle/>
          <a:p>
            <a:pPr algn="ctr" indent="0" marL="0">
              <a:lnSpc>
                <a:spcPct val="95000"/>
              </a:lnSpc>
              <a:buNone/>
            </a:pPr>
            <a:r>
              <a:rPr lang="en-US" sz="680" b="1" dirty="0">
                <a:solidFill>
                  <a:srgbClr val="008A00"/>
                </a:solidFill>
                <a:latin typeface="Arial" pitchFamily="34" charset="0"/>
                <a:ea typeface="Arial" pitchFamily="34" charset="-122"/>
                <a:cs typeface="Arial" pitchFamily="34" charset="-120"/>
              </a:rPr>
              <a:t>Step 8</a:t>
            </a:r>
            <a:endParaRPr lang="en-US" sz="680" dirty="0"/>
          </a:p>
          <a:p>
            <a:pPr algn="ctr" indent="0" marL="0">
              <a:lnSpc>
                <a:spcPct val="95000"/>
              </a:lnSpc>
              <a:buNone/>
            </a:pPr>
            <a:r>
              <a:rPr lang="en-US" sz="1000" b="1" dirty="0">
                <a:solidFill>
                  <a:srgbClr val="1E2522"/>
                </a:solidFill>
                <a:latin typeface="Arial" pitchFamily="34" charset="0"/>
                <a:ea typeface="Arial" pitchFamily="34" charset="-122"/>
                <a:cs typeface="Arial" pitchFamily="34" charset="-120"/>
              </a:rPr>
              <a:t>SEVP</a:t>
            </a:r>
            <a:endParaRPr lang="en-US" sz="680" dirty="0"/>
          </a:p>
        </p:txBody>
      </p:sp>
      <p:sp>
        <p:nvSpPr>
          <p:cNvPr id="52" name="Shape 50"/>
          <p:cNvSpPr/>
          <p:nvPr/>
        </p:nvSpPr>
        <p:spPr>
          <a:xfrm>
            <a:off x="8837676" y="3447288"/>
            <a:ext cx="118872" cy="109728"/>
          </a:xfrm>
          <a:prstGeom prst="rightArrow">
            <a:avLst/>
          </a:prstGeom>
          <a:solidFill>
            <a:srgbClr val="9CBFAC"/>
          </a:solidFill>
          <a:ln w="12700">
            <a:solidFill>
              <a:srgbClr val="9CBFAC"/>
            </a:solidFill>
            <a:prstDash val="solid"/>
          </a:ln>
        </p:spPr>
      </p:sp>
      <p:sp>
        <p:nvSpPr>
          <p:cNvPr id="53" name="Shape 51"/>
          <p:cNvSpPr/>
          <p:nvPr/>
        </p:nvSpPr>
        <p:spPr>
          <a:xfrm>
            <a:off x="9006840" y="3200400"/>
            <a:ext cx="2770632" cy="603504"/>
          </a:xfrm>
          <a:prstGeom prst="roundRect">
            <a:avLst>
              <a:gd name="adj" fmla="val 15152"/>
            </a:avLst>
          </a:prstGeom>
          <a:solidFill>
            <a:srgbClr val="1A5336"/>
          </a:solidFill>
          <a:ln w="9525">
            <a:solidFill>
              <a:srgbClr val="1A5336"/>
            </a:solidFill>
            <a:prstDash val="solid"/>
          </a:ln>
        </p:spPr>
      </p:sp>
      <p:sp>
        <p:nvSpPr>
          <p:cNvPr id="54" name="Text 52"/>
          <p:cNvSpPr/>
          <p:nvPr/>
        </p:nvSpPr>
        <p:spPr>
          <a:xfrm>
            <a:off x="9089136" y="3246120"/>
            <a:ext cx="2606040" cy="512064"/>
          </a:xfrm>
          <a:prstGeom prst="rect">
            <a:avLst/>
          </a:prstGeom>
          <a:noFill/>
          <a:ln/>
        </p:spPr>
        <p:txBody>
          <a:bodyPr wrap="square" lIns="0" tIns="0" rIns="0" bIns="0" rtlCol="0" anchor="ctr"/>
          <a:lstStyle/>
          <a:p>
            <a:pPr algn="ctr" indent="0" marL="0">
              <a:lnSpc>
                <a:spcPct val="95000"/>
              </a:lnSpc>
              <a:buNone/>
            </a:pPr>
            <a:r>
              <a:rPr lang="en-US" sz="700" b="1" dirty="0">
                <a:solidFill>
                  <a:srgbClr val="8FCBA8"/>
                </a:solidFill>
                <a:latin typeface="Arial" pitchFamily="34" charset="0"/>
                <a:ea typeface="Arial" pitchFamily="34" charset="-122"/>
                <a:cs typeface="Arial" pitchFamily="34" charset="-120"/>
              </a:rPr>
              <a:t>Step 9</a:t>
            </a:r>
            <a:endParaRPr lang="en-US" sz="700" dirty="0"/>
          </a:p>
          <a:p>
            <a:pPr algn="ctr" indent="0" marL="0">
              <a:lnSpc>
                <a:spcPct val="95000"/>
              </a:lnSpc>
              <a:buNone/>
            </a:pPr>
            <a:r>
              <a:rPr lang="en-US" sz="920" b="1" dirty="0">
                <a:solidFill>
                  <a:srgbClr val="FFFFFF"/>
                </a:solidFill>
                <a:latin typeface="Arial" pitchFamily="34" charset="0"/>
                <a:ea typeface="Arial" pitchFamily="34" charset="-122"/>
                <a:cs typeface="Arial" pitchFamily="34" charset="-120"/>
              </a:rPr>
              <a:t>Pipeline closed</a:t>
            </a:r>
            <a:endParaRPr lang="en-US" sz="700" dirty="0"/>
          </a:p>
          <a:p>
            <a:pPr algn="ctr" indent="0" marL="0">
              <a:lnSpc>
                <a:spcPct val="95000"/>
              </a:lnSpc>
              <a:buNone/>
            </a:pPr>
            <a:r>
              <a:rPr lang="en-US" sz="730" dirty="0">
                <a:solidFill>
                  <a:srgbClr val="C2DCCE"/>
                </a:solidFill>
                <a:latin typeface="Arial" pitchFamily="34" charset="0"/>
                <a:ea typeface="Arial" pitchFamily="34" charset="-122"/>
                <a:cs typeface="Arial" pitchFamily="34" charset="-120"/>
              </a:rPr>
              <a:t>This is NOT approval to execute the contract</a:t>
            </a:r>
            <a:endParaRPr lang="en-US" sz="700" dirty="0"/>
          </a:p>
        </p:txBody>
      </p:sp>
      <p:sp>
        <p:nvSpPr>
          <p:cNvPr id="55" name="Shape 53"/>
          <p:cNvSpPr/>
          <p:nvPr/>
        </p:nvSpPr>
        <p:spPr>
          <a:xfrm>
            <a:off x="11274552" y="3803904"/>
            <a:ext cx="0" cy="100584"/>
          </a:xfrm>
          <a:prstGeom prst="line">
            <a:avLst/>
          </a:prstGeom>
          <a:noFill/>
          <a:ln w="12700">
            <a:solidFill>
              <a:srgbClr val="B4CFC0"/>
            </a:solidFill>
            <a:prstDash val="solid"/>
          </a:ln>
        </p:spPr>
      </p:sp>
      <p:sp>
        <p:nvSpPr>
          <p:cNvPr id="56" name="Shape 54"/>
          <p:cNvSpPr/>
          <p:nvPr/>
        </p:nvSpPr>
        <p:spPr>
          <a:xfrm>
            <a:off x="2596896" y="3904488"/>
            <a:ext cx="8677656" cy="0"/>
          </a:xfrm>
          <a:prstGeom prst="line">
            <a:avLst/>
          </a:prstGeom>
          <a:noFill/>
          <a:ln w="12700">
            <a:solidFill>
              <a:srgbClr val="B4CFC0"/>
            </a:solidFill>
            <a:prstDash val="solid"/>
          </a:ln>
        </p:spPr>
      </p:sp>
      <p:sp>
        <p:nvSpPr>
          <p:cNvPr id="57" name="Shape 55"/>
          <p:cNvSpPr/>
          <p:nvPr/>
        </p:nvSpPr>
        <p:spPr>
          <a:xfrm>
            <a:off x="2596896" y="3904488"/>
            <a:ext cx="0" cy="100584"/>
          </a:xfrm>
          <a:prstGeom prst="line">
            <a:avLst/>
          </a:prstGeom>
          <a:noFill/>
          <a:ln w="12700">
            <a:solidFill>
              <a:srgbClr val="B4CFC0"/>
            </a:solidFill>
            <a:prstDash val="solid"/>
            <a:tailEnd type="triangle"/>
          </a:ln>
        </p:spPr>
      </p:sp>
      <p:sp>
        <p:nvSpPr>
          <p:cNvPr id="58" name="Shape 56"/>
          <p:cNvSpPr/>
          <p:nvPr/>
        </p:nvSpPr>
        <p:spPr>
          <a:xfrm>
            <a:off x="411480" y="4005072"/>
            <a:ext cx="1481328" cy="603504"/>
          </a:xfrm>
          <a:prstGeom prst="roundRect">
            <a:avLst>
              <a:gd name="adj" fmla="val 15152"/>
            </a:avLst>
          </a:prstGeom>
          <a:solidFill>
            <a:srgbClr val="1A5336"/>
          </a:solidFill>
          <a:ln w="12700">
            <a:solidFill>
              <a:srgbClr val="1A5336"/>
            </a:solidFill>
            <a:prstDash val="solid"/>
          </a:ln>
        </p:spPr>
      </p:sp>
      <p:sp>
        <p:nvSpPr>
          <p:cNvPr id="59" name="Text 57"/>
          <p:cNvSpPr/>
          <p:nvPr/>
        </p:nvSpPr>
        <p:spPr>
          <a:xfrm>
            <a:off x="539496" y="4059936"/>
            <a:ext cx="1243584" cy="493776"/>
          </a:xfrm>
          <a:prstGeom prst="rect">
            <a:avLst/>
          </a:prstGeom>
          <a:noFill/>
          <a:ln/>
        </p:spPr>
        <p:txBody>
          <a:bodyPr wrap="square" lIns="0" tIns="0" rIns="0" bIns="0" rtlCol="0" anchor="ctr"/>
          <a:lstStyle/>
          <a:p>
            <a:pPr algn="l" indent="0" marL="0">
              <a:lnSpc>
                <a:spcPct val="100000"/>
              </a:lnSpc>
              <a:buNone/>
            </a:pPr>
            <a:r>
              <a:rPr lang="en-US" sz="950" b="1" dirty="0">
                <a:solidFill>
                  <a:srgbClr val="FFFFFF"/>
                </a:solidFill>
                <a:latin typeface="Arial" pitchFamily="34" charset="0"/>
                <a:ea typeface="Arial" pitchFamily="34" charset="-122"/>
                <a:cs typeface="Arial" pitchFamily="34" charset="-120"/>
              </a:rPr>
              <a:t>3   Offline &amp; re-entry</a:t>
            </a:r>
            <a:endParaRPr lang="en-US" sz="950" dirty="0"/>
          </a:p>
          <a:p>
            <a:pPr algn="l" indent="0" marL="0">
              <a:lnSpc>
                <a:spcPct val="100000"/>
              </a:lnSpc>
              <a:buNone/>
            </a:pPr>
            <a:r>
              <a:rPr lang="en-US" sz="720" dirty="0">
                <a:solidFill>
                  <a:srgbClr val="9FD3B4"/>
                </a:solidFill>
                <a:latin typeface="Arial" pitchFamily="34" charset="0"/>
                <a:ea typeface="Arial" pitchFamily="34" charset="-122"/>
                <a:cs typeface="Arial" pitchFamily="34" charset="-120"/>
              </a:rPr>
              <a:t>Outside EMS entirely</a:t>
            </a:r>
            <a:endParaRPr lang="en-US" sz="950" dirty="0"/>
          </a:p>
        </p:txBody>
      </p:sp>
      <p:sp>
        <p:nvSpPr>
          <p:cNvPr id="60" name="Shape 58"/>
          <p:cNvSpPr/>
          <p:nvPr/>
        </p:nvSpPr>
        <p:spPr>
          <a:xfrm>
            <a:off x="2093976" y="4005072"/>
            <a:ext cx="2187702" cy="603504"/>
          </a:xfrm>
          <a:prstGeom prst="roundRect">
            <a:avLst>
              <a:gd name="adj" fmla="val 15152"/>
            </a:avLst>
          </a:prstGeom>
          <a:solidFill>
            <a:srgbClr val="FDF4E6"/>
          </a:solidFill>
          <a:ln w="9525">
            <a:solidFill>
              <a:srgbClr val="EBD9BC"/>
            </a:solidFill>
            <a:prstDash val="solid"/>
          </a:ln>
        </p:spPr>
      </p:sp>
      <p:sp>
        <p:nvSpPr>
          <p:cNvPr id="61" name="Text 59"/>
          <p:cNvSpPr/>
          <p:nvPr/>
        </p:nvSpPr>
        <p:spPr>
          <a:xfrm>
            <a:off x="2176272" y="4050792"/>
            <a:ext cx="2023110" cy="512064"/>
          </a:xfrm>
          <a:prstGeom prst="rect">
            <a:avLst/>
          </a:prstGeom>
          <a:noFill/>
          <a:ln/>
        </p:spPr>
        <p:txBody>
          <a:bodyPr wrap="square" lIns="0" tIns="0" rIns="0" bIns="0" rtlCol="0" anchor="ctr"/>
          <a:lstStyle/>
          <a:p>
            <a:pPr algn="ctr" indent="0" marL="0">
              <a:lnSpc>
                <a:spcPct val="95000"/>
              </a:lnSpc>
              <a:buNone/>
            </a:pPr>
            <a:r>
              <a:rPr lang="en-US" sz="700" b="1" dirty="0">
                <a:solidFill>
                  <a:srgbClr val="9C5A00"/>
                </a:solidFill>
                <a:latin typeface="Arial" pitchFamily="34" charset="0"/>
                <a:ea typeface="Arial" pitchFamily="34" charset="-122"/>
                <a:cs typeface="Arial" pitchFamily="34" charset="-120"/>
              </a:rPr>
              <a:t>Step 10</a:t>
            </a:r>
            <a:endParaRPr lang="en-US" sz="700" dirty="0"/>
          </a:p>
          <a:p>
            <a:pPr algn="ctr" indent="0" marL="0">
              <a:lnSpc>
                <a:spcPct val="95000"/>
              </a:lnSpc>
              <a:buNone/>
            </a:pPr>
            <a:r>
              <a:rPr lang="en-US" sz="920" b="1" dirty="0">
                <a:solidFill>
                  <a:srgbClr val="1E2522"/>
                </a:solidFill>
                <a:latin typeface="Arial" pitchFamily="34" charset="0"/>
                <a:ea typeface="Arial" pitchFamily="34" charset="-122"/>
                <a:cs typeface="Arial" pitchFamily="34" charset="-120"/>
              </a:rPr>
              <a:t>Management Consulting template</a:t>
            </a:r>
            <a:endParaRPr lang="en-US" sz="700" dirty="0"/>
          </a:p>
          <a:p>
            <a:pPr algn="ctr" indent="0" marL="0">
              <a:lnSpc>
                <a:spcPct val="95000"/>
              </a:lnSpc>
              <a:buNone/>
            </a:pPr>
            <a:r>
              <a:rPr lang="en-US" sz="730" dirty="0">
                <a:solidFill>
                  <a:srgbClr val="1E2522"/>
                </a:solidFill>
                <a:latin typeface="Arial" pitchFamily="34" charset="0"/>
                <a:ea typeface="Arial" pitchFamily="34" charset="-122"/>
                <a:cs typeface="Arial" pitchFamily="34" charset="-120"/>
              </a:rPr>
              <a:t>Offline Excel, completed outside EMS</a:t>
            </a:r>
            <a:endParaRPr lang="en-US" sz="700" dirty="0"/>
          </a:p>
        </p:txBody>
      </p:sp>
      <p:sp>
        <p:nvSpPr>
          <p:cNvPr id="62" name="Shape 60"/>
          <p:cNvSpPr/>
          <p:nvPr/>
        </p:nvSpPr>
        <p:spPr>
          <a:xfrm>
            <a:off x="4354830" y="4251960"/>
            <a:ext cx="164592" cy="109728"/>
          </a:xfrm>
          <a:prstGeom prst="rightArrow">
            <a:avLst/>
          </a:prstGeom>
          <a:solidFill>
            <a:srgbClr val="9CBFAC"/>
          </a:solidFill>
          <a:ln w="12700">
            <a:solidFill>
              <a:srgbClr val="9CBFAC"/>
            </a:solidFill>
            <a:prstDash val="solid"/>
          </a:ln>
        </p:spPr>
      </p:sp>
      <p:sp>
        <p:nvSpPr>
          <p:cNvPr id="63" name="Shape 61"/>
          <p:cNvSpPr/>
          <p:nvPr/>
        </p:nvSpPr>
        <p:spPr>
          <a:xfrm>
            <a:off x="4592574" y="4005072"/>
            <a:ext cx="2187702" cy="603504"/>
          </a:xfrm>
          <a:prstGeom prst="roundRect">
            <a:avLst>
              <a:gd name="adj" fmla="val 15152"/>
            </a:avLst>
          </a:prstGeom>
          <a:solidFill>
            <a:srgbClr val="FDF4E6"/>
          </a:solidFill>
          <a:ln w="9525">
            <a:solidFill>
              <a:srgbClr val="EBD9BC"/>
            </a:solidFill>
            <a:prstDash val="solid"/>
          </a:ln>
        </p:spPr>
      </p:sp>
      <p:sp>
        <p:nvSpPr>
          <p:cNvPr id="64" name="Text 62"/>
          <p:cNvSpPr/>
          <p:nvPr/>
        </p:nvSpPr>
        <p:spPr>
          <a:xfrm>
            <a:off x="4674870" y="4050792"/>
            <a:ext cx="2023110" cy="512064"/>
          </a:xfrm>
          <a:prstGeom prst="rect">
            <a:avLst/>
          </a:prstGeom>
          <a:noFill/>
          <a:ln/>
        </p:spPr>
        <p:txBody>
          <a:bodyPr wrap="square" lIns="0" tIns="0" rIns="0" bIns="0" rtlCol="0" anchor="ctr"/>
          <a:lstStyle/>
          <a:p>
            <a:pPr algn="ctr" indent="0" marL="0">
              <a:lnSpc>
                <a:spcPct val="95000"/>
              </a:lnSpc>
              <a:buNone/>
            </a:pPr>
            <a:r>
              <a:rPr lang="en-US" sz="700" b="1" dirty="0">
                <a:solidFill>
                  <a:srgbClr val="9C5A00"/>
                </a:solidFill>
                <a:latin typeface="Arial" pitchFamily="34" charset="0"/>
                <a:ea typeface="Arial" pitchFamily="34" charset="-122"/>
                <a:cs typeface="Arial" pitchFamily="34" charset="-120"/>
              </a:rPr>
              <a:t>Step 11</a:t>
            </a:r>
            <a:endParaRPr lang="en-US" sz="700" dirty="0"/>
          </a:p>
          <a:p>
            <a:pPr algn="ctr" indent="0" marL="0">
              <a:lnSpc>
                <a:spcPct val="95000"/>
              </a:lnSpc>
              <a:buNone/>
            </a:pPr>
            <a:r>
              <a:rPr lang="en-US" sz="920" b="1" dirty="0">
                <a:solidFill>
                  <a:srgbClr val="1E2522"/>
                </a:solidFill>
                <a:latin typeface="Arial" pitchFamily="34" charset="0"/>
                <a:ea typeface="Arial" pitchFamily="34" charset="-122"/>
                <a:cs typeface="Arial" pitchFamily="34" charset="-120"/>
              </a:rPr>
              <a:t>Upload template + SEVP email to the SR</a:t>
            </a:r>
            <a:endParaRPr lang="en-US" sz="700" dirty="0"/>
          </a:p>
          <a:p>
            <a:pPr algn="ctr" indent="0" marL="0">
              <a:lnSpc>
                <a:spcPct val="95000"/>
              </a:lnSpc>
              <a:buNone/>
            </a:pPr>
            <a:r>
              <a:rPr lang="en-US" sz="730" dirty="0">
                <a:solidFill>
                  <a:srgbClr val="1E2522"/>
                </a:solidFill>
                <a:latin typeface="Arial" pitchFamily="34" charset="0"/>
                <a:ea typeface="Arial" pitchFamily="34" charset="-122"/>
                <a:cs typeface="Arial" pitchFamily="34" charset="-120"/>
              </a:rPr>
              <a:t>Hard 2-day SLA. Creates the SR in Ariba</a:t>
            </a:r>
            <a:endParaRPr lang="en-US" sz="700" dirty="0"/>
          </a:p>
        </p:txBody>
      </p:sp>
      <p:sp>
        <p:nvSpPr>
          <p:cNvPr id="65" name="Shape 63"/>
          <p:cNvSpPr/>
          <p:nvPr/>
        </p:nvSpPr>
        <p:spPr>
          <a:xfrm>
            <a:off x="6853428" y="4251960"/>
            <a:ext cx="164592" cy="109728"/>
          </a:xfrm>
          <a:prstGeom prst="rightArrow">
            <a:avLst/>
          </a:prstGeom>
          <a:solidFill>
            <a:srgbClr val="9CBFAC"/>
          </a:solidFill>
          <a:ln w="12700">
            <a:solidFill>
              <a:srgbClr val="9CBFAC"/>
            </a:solidFill>
            <a:prstDash val="solid"/>
          </a:ln>
        </p:spPr>
      </p:sp>
      <p:sp>
        <p:nvSpPr>
          <p:cNvPr id="66" name="Shape 64"/>
          <p:cNvSpPr/>
          <p:nvPr/>
        </p:nvSpPr>
        <p:spPr>
          <a:xfrm>
            <a:off x="7091172" y="4005072"/>
            <a:ext cx="2187702" cy="603504"/>
          </a:xfrm>
          <a:prstGeom prst="roundRect">
            <a:avLst>
              <a:gd name="adj" fmla="val 15152"/>
            </a:avLst>
          </a:prstGeom>
          <a:solidFill>
            <a:srgbClr val="FDF4E6"/>
          </a:solidFill>
          <a:ln w="9525">
            <a:solidFill>
              <a:srgbClr val="EBD9BC"/>
            </a:solidFill>
            <a:prstDash val="solid"/>
          </a:ln>
        </p:spPr>
      </p:sp>
      <p:sp>
        <p:nvSpPr>
          <p:cNvPr id="67" name="Text 65"/>
          <p:cNvSpPr/>
          <p:nvPr/>
        </p:nvSpPr>
        <p:spPr>
          <a:xfrm>
            <a:off x="7173468" y="4050792"/>
            <a:ext cx="2023110" cy="512064"/>
          </a:xfrm>
          <a:prstGeom prst="rect">
            <a:avLst/>
          </a:prstGeom>
          <a:noFill/>
          <a:ln/>
        </p:spPr>
        <p:txBody>
          <a:bodyPr wrap="square" lIns="0" tIns="0" rIns="0" bIns="0" rtlCol="0" anchor="ctr"/>
          <a:lstStyle/>
          <a:p>
            <a:pPr algn="ctr" indent="0" marL="0">
              <a:lnSpc>
                <a:spcPct val="95000"/>
              </a:lnSpc>
              <a:buNone/>
            </a:pPr>
            <a:r>
              <a:rPr lang="en-US" sz="700" b="1" dirty="0">
                <a:solidFill>
                  <a:srgbClr val="9C5A00"/>
                </a:solidFill>
                <a:latin typeface="Arial" pitchFamily="34" charset="0"/>
                <a:ea typeface="Arial" pitchFamily="34" charset="-122"/>
                <a:cs typeface="Arial" pitchFamily="34" charset="-120"/>
              </a:rPr>
              <a:t>Step 12</a:t>
            </a:r>
            <a:endParaRPr lang="en-US" sz="700" dirty="0"/>
          </a:p>
          <a:p>
            <a:pPr algn="ctr" indent="0" marL="0">
              <a:lnSpc>
                <a:spcPct val="95000"/>
              </a:lnSpc>
              <a:buNone/>
            </a:pPr>
            <a:r>
              <a:rPr lang="en-US" sz="920" b="1" dirty="0">
                <a:solidFill>
                  <a:srgbClr val="1E2522"/>
                </a:solidFill>
                <a:latin typeface="Arial" pitchFamily="34" charset="0"/>
                <a:ea typeface="Arial" pitchFamily="34" charset="-122"/>
                <a:cs typeface="Arial" pitchFamily="34" charset="-120"/>
              </a:rPr>
              <a:t>Procurement / SSG process</a:t>
            </a:r>
            <a:endParaRPr lang="en-US" sz="700" dirty="0"/>
          </a:p>
          <a:p>
            <a:pPr algn="ctr" indent="0" marL="0">
              <a:lnSpc>
                <a:spcPct val="95000"/>
              </a:lnSpc>
              <a:buNone/>
            </a:pPr>
            <a:r>
              <a:rPr lang="en-US" sz="730" dirty="0">
                <a:solidFill>
                  <a:srgbClr val="1E2522"/>
                </a:solidFill>
                <a:latin typeface="Arial" pitchFamily="34" charset="0"/>
                <a:ea typeface="Arial" pitchFamily="34" charset="-122"/>
                <a:cs typeface="Arial" pitchFamily="34" charset="-120"/>
              </a:rPr>
              <a:t>Runs outside EMS</a:t>
            </a:r>
            <a:endParaRPr lang="en-US" sz="700" dirty="0"/>
          </a:p>
        </p:txBody>
      </p:sp>
      <p:sp>
        <p:nvSpPr>
          <p:cNvPr id="68" name="Shape 66"/>
          <p:cNvSpPr/>
          <p:nvPr/>
        </p:nvSpPr>
        <p:spPr>
          <a:xfrm>
            <a:off x="9352026" y="4251960"/>
            <a:ext cx="164592" cy="109728"/>
          </a:xfrm>
          <a:prstGeom prst="rightArrow">
            <a:avLst/>
          </a:prstGeom>
          <a:solidFill>
            <a:srgbClr val="9CBFAC"/>
          </a:solidFill>
          <a:ln w="12700">
            <a:solidFill>
              <a:srgbClr val="9CBFAC"/>
            </a:solidFill>
            <a:prstDash val="solid"/>
          </a:ln>
        </p:spPr>
      </p:sp>
      <p:sp>
        <p:nvSpPr>
          <p:cNvPr id="69" name="Shape 67"/>
          <p:cNvSpPr/>
          <p:nvPr/>
        </p:nvSpPr>
        <p:spPr>
          <a:xfrm>
            <a:off x="9589770" y="4005072"/>
            <a:ext cx="2187702" cy="603504"/>
          </a:xfrm>
          <a:prstGeom prst="roundRect">
            <a:avLst>
              <a:gd name="adj" fmla="val 15152"/>
            </a:avLst>
          </a:prstGeom>
          <a:solidFill>
            <a:srgbClr val="FDF4E6"/>
          </a:solidFill>
          <a:ln w="9525">
            <a:solidFill>
              <a:srgbClr val="EBD9BC"/>
            </a:solidFill>
            <a:prstDash val="solid"/>
          </a:ln>
        </p:spPr>
      </p:sp>
      <p:sp>
        <p:nvSpPr>
          <p:cNvPr id="70" name="Text 68"/>
          <p:cNvSpPr/>
          <p:nvPr/>
        </p:nvSpPr>
        <p:spPr>
          <a:xfrm>
            <a:off x="9672066" y="4050792"/>
            <a:ext cx="2023110" cy="512064"/>
          </a:xfrm>
          <a:prstGeom prst="rect">
            <a:avLst/>
          </a:prstGeom>
          <a:noFill/>
          <a:ln/>
        </p:spPr>
        <p:txBody>
          <a:bodyPr wrap="square" lIns="0" tIns="0" rIns="0" bIns="0" rtlCol="0" anchor="ctr"/>
          <a:lstStyle/>
          <a:p>
            <a:pPr algn="ctr" indent="0" marL="0">
              <a:lnSpc>
                <a:spcPct val="95000"/>
              </a:lnSpc>
              <a:buNone/>
            </a:pPr>
            <a:r>
              <a:rPr lang="en-US" sz="700" b="1" dirty="0">
                <a:solidFill>
                  <a:srgbClr val="9C5A00"/>
                </a:solidFill>
                <a:latin typeface="Arial" pitchFamily="34" charset="0"/>
                <a:ea typeface="Arial" pitchFamily="34" charset="-122"/>
                <a:cs typeface="Arial" pitchFamily="34" charset="-120"/>
              </a:rPr>
              <a:t>Step 13</a:t>
            </a:r>
            <a:endParaRPr lang="en-US" sz="700" dirty="0"/>
          </a:p>
          <a:p>
            <a:pPr algn="ctr" indent="0" marL="0">
              <a:lnSpc>
                <a:spcPct val="95000"/>
              </a:lnSpc>
              <a:buNone/>
            </a:pPr>
            <a:r>
              <a:rPr lang="en-US" sz="920" b="1" dirty="0">
                <a:solidFill>
                  <a:srgbClr val="1E2522"/>
                </a:solidFill>
                <a:latin typeface="Arial" pitchFamily="34" charset="0"/>
                <a:ea typeface="Arial" pitchFamily="34" charset="-122"/>
                <a:cs typeface="Arial" pitchFamily="34" charset="-120"/>
              </a:rPr>
              <a:t>Re-enter EMS: key PL# and SR#</a:t>
            </a:r>
            <a:endParaRPr lang="en-US" sz="700" dirty="0"/>
          </a:p>
          <a:p>
            <a:pPr algn="ctr" indent="0" marL="0">
              <a:lnSpc>
                <a:spcPct val="95000"/>
              </a:lnSpc>
              <a:buNone/>
            </a:pPr>
            <a:r>
              <a:rPr lang="en-US" sz="730" dirty="0">
                <a:solidFill>
                  <a:srgbClr val="1E2522"/>
                </a:solidFill>
                <a:latin typeface="Arial" pitchFamily="34" charset="0"/>
                <a:ea typeface="Arial" pitchFamily="34" charset="-122"/>
                <a:cs typeface="Arial" pitchFamily="34" charset="-120"/>
              </a:rPr>
              <a:t>Manual re-keying to link the records</a:t>
            </a:r>
            <a:endParaRPr lang="en-US" sz="700" dirty="0"/>
          </a:p>
        </p:txBody>
      </p:sp>
      <p:sp>
        <p:nvSpPr>
          <p:cNvPr id="71" name="Shape 69"/>
          <p:cNvSpPr/>
          <p:nvPr/>
        </p:nvSpPr>
        <p:spPr>
          <a:xfrm>
            <a:off x="11274552" y="4608576"/>
            <a:ext cx="0" cy="100584"/>
          </a:xfrm>
          <a:prstGeom prst="line">
            <a:avLst/>
          </a:prstGeom>
          <a:noFill/>
          <a:ln w="12700">
            <a:solidFill>
              <a:srgbClr val="B4CFC0"/>
            </a:solidFill>
            <a:prstDash val="solid"/>
          </a:ln>
        </p:spPr>
      </p:sp>
      <p:sp>
        <p:nvSpPr>
          <p:cNvPr id="72" name="Shape 70"/>
          <p:cNvSpPr/>
          <p:nvPr/>
        </p:nvSpPr>
        <p:spPr>
          <a:xfrm>
            <a:off x="2596896" y="4709160"/>
            <a:ext cx="8677656" cy="0"/>
          </a:xfrm>
          <a:prstGeom prst="line">
            <a:avLst/>
          </a:prstGeom>
          <a:noFill/>
          <a:ln w="12700">
            <a:solidFill>
              <a:srgbClr val="B4CFC0"/>
            </a:solidFill>
            <a:prstDash val="solid"/>
          </a:ln>
        </p:spPr>
      </p:sp>
      <p:sp>
        <p:nvSpPr>
          <p:cNvPr id="73" name="Shape 71"/>
          <p:cNvSpPr/>
          <p:nvPr/>
        </p:nvSpPr>
        <p:spPr>
          <a:xfrm>
            <a:off x="2596896" y="4709160"/>
            <a:ext cx="0" cy="100584"/>
          </a:xfrm>
          <a:prstGeom prst="line">
            <a:avLst/>
          </a:prstGeom>
          <a:noFill/>
          <a:ln w="12700">
            <a:solidFill>
              <a:srgbClr val="B4CFC0"/>
            </a:solidFill>
            <a:prstDash val="solid"/>
            <a:tailEnd type="triangle"/>
          </a:ln>
        </p:spPr>
      </p:sp>
      <p:sp>
        <p:nvSpPr>
          <p:cNvPr id="74" name="Shape 72"/>
          <p:cNvSpPr/>
          <p:nvPr/>
        </p:nvSpPr>
        <p:spPr>
          <a:xfrm>
            <a:off x="411480" y="4809744"/>
            <a:ext cx="1481328" cy="603504"/>
          </a:xfrm>
          <a:prstGeom prst="roundRect">
            <a:avLst>
              <a:gd name="adj" fmla="val 15152"/>
            </a:avLst>
          </a:prstGeom>
          <a:solidFill>
            <a:srgbClr val="1A5336"/>
          </a:solidFill>
          <a:ln w="12700">
            <a:solidFill>
              <a:srgbClr val="1A5336"/>
            </a:solidFill>
            <a:prstDash val="solid"/>
          </a:ln>
        </p:spPr>
      </p:sp>
      <p:sp>
        <p:nvSpPr>
          <p:cNvPr id="75" name="Text 73"/>
          <p:cNvSpPr/>
          <p:nvPr/>
        </p:nvSpPr>
        <p:spPr>
          <a:xfrm>
            <a:off x="539496" y="4864608"/>
            <a:ext cx="1243584" cy="493776"/>
          </a:xfrm>
          <a:prstGeom prst="rect">
            <a:avLst/>
          </a:prstGeom>
          <a:noFill/>
          <a:ln/>
        </p:spPr>
        <p:txBody>
          <a:bodyPr wrap="square" lIns="0" tIns="0" rIns="0" bIns="0" rtlCol="0" anchor="ctr"/>
          <a:lstStyle/>
          <a:p>
            <a:pPr algn="l" indent="0" marL="0">
              <a:lnSpc>
                <a:spcPct val="100000"/>
              </a:lnSpc>
              <a:buNone/>
            </a:pPr>
            <a:r>
              <a:rPr lang="en-US" sz="950" b="1" dirty="0">
                <a:solidFill>
                  <a:srgbClr val="FFFFFF"/>
                </a:solidFill>
                <a:latin typeface="Arial" pitchFamily="34" charset="0"/>
                <a:ea typeface="Arial" pitchFamily="34" charset="-122"/>
                <a:cs typeface="Arial" pitchFamily="34" charset="-120"/>
              </a:rPr>
              <a:t>4   SPID approval</a:t>
            </a:r>
            <a:endParaRPr lang="en-US" sz="950" dirty="0"/>
          </a:p>
          <a:p>
            <a:pPr algn="l" indent="0" marL="0">
              <a:lnSpc>
                <a:spcPct val="100000"/>
              </a:lnSpc>
              <a:buNone/>
            </a:pPr>
            <a:r>
              <a:rPr lang="en-US" sz="720" dirty="0">
                <a:solidFill>
                  <a:srgbClr val="9FD3B4"/>
                </a:solidFill>
                <a:latin typeface="Arial" pitchFamily="34" charset="0"/>
                <a:ea typeface="Arial" pitchFamily="34" charset="-122"/>
                <a:cs typeface="Arial" pitchFamily="34" charset="-120"/>
              </a:rPr>
              <a:t>Separate Power App, 6 levels</a:t>
            </a:r>
            <a:endParaRPr lang="en-US" sz="950" dirty="0"/>
          </a:p>
        </p:txBody>
      </p:sp>
      <p:sp>
        <p:nvSpPr>
          <p:cNvPr id="76" name="Shape 74"/>
          <p:cNvSpPr/>
          <p:nvPr/>
        </p:nvSpPr>
        <p:spPr>
          <a:xfrm>
            <a:off x="2093976" y="4809744"/>
            <a:ext cx="932688" cy="603504"/>
          </a:xfrm>
          <a:prstGeom prst="roundRect">
            <a:avLst>
              <a:gd name="adj" fmla="val 21212"/>
            </a:avLst>
          </a:prstGeom>
          <a:solidFill>
            <a:srgbClr val="E4EFE9"/>
          </a:solidFill>
          <a:ln w="9525">
            <a:solidFill>
              <a:srgbClr val="C4D8CC"/>
            </a:solidFill>
            <a:prstDash val="solid"/>
          </a:ln>
        </p:spPr>
      </p:sp>
      <p:sp>
        <p:nvSpPr>
          <p:cNvPr id="77" name="Text 75"/>
          <p:cNvSpPr/>
          <p:nvPr/>
        </p:nvSpPr>
        <p:spPr>
          <a:xfrm>
            <a:off x="2130552" y="4855464"/>
            <a:ext cx="859536" cy="512064"/>
          </a:xfrm>
          <a:prstGeom prst="rect">
            <a:avLst/>
          </a:prstGeom>
          <a:noFill/>
          <a:ln/>
        </p:spPr>
        <p:txBody>
          <a:bodyPr wrap="square" lIns="0" tIns="0" rIns="0" bIns="0" rtlCol="0" anchor="ctr"/>
          <a:lstStyle/>
          <a:p>
            <a:pPr algn="ctr" indent="0" marL="0">
              <a:lnSpc>
                <a:spcPct val="95000"/>
              </a:lnSpc>
              <a:buNone/>
            </a:pPr>
            <a:r>
              <a:rPr lang="en-US" sz="680" b="1" dirty="0">
                <a:solidFill>
                  <a:srgbClr val="008A00"/>
                </a:solidFill>
                <a:latin typeface="Arial" pitchFamily="34" charset="0"/>
                <a:ea typeface="Arial" pitchFamily="34" charset="-122"/>
                <a:cs typeface="Arial" pitchFamily="34" charset="-120"/>
              </a:rPr>
              <a:t>Step 15</a:t>
            </a:r>
            <a:endParaRPr lang="en-US" sz="680" dirty="0"/>
          </a:p>
          <a:p>
            <a:pPr algn="ctr" indent="0" marL="0">
              <a:lnSpc>
                <a:spcPct val="95000"/>
              </a:lnSpc>
              <a:buNone/>
            </a:pPr>
            <a:r>
              <a:rPr lang="en-US" sz="1000" b="1" dirty="0">
                <a:solidFill>
                  <a:srgbClr val="1E2522"/>
                </a:solidFill>
                <a:latin typeface="Arial" pitchFamily="34" charset="0"/>
                <a:ea typeface="Arial" pitchFamily="34" charset="-122"/>
                <a:cs typeface="Arial" pitchFamily="34" charset="-120"/>
              </a:rPr>
              <a:t>VP</a:t>
            </a:r>
            <a:endParaRPr lang="en-US" sz="680" dirty="0"/>
          </a:p>
        </p:txBody>
      </p:sp>
      <p:sp>
        <p:nvSpPr>
          <p:cNvPr id="78" name="Shape 76"/>
          <p:cNvSpPr/>
          <p:nvPr/>
        </p:nvSpPr>
        <p:spPr>
          <a:xfrm>
            <a:off x="3076956" y="5056632"/>
            <a:ext cx="118872" cy="109728"/>
          </a:xfrm>
          <a:prstGeom prst="rightArrow">
            <a:avLst/>
          </a:prstGeom>
          <a:solidFill>
            <a:srgbClr val="9CBFAC"/>
          </a:solidFill>
          <a:ln w="12700">
            <a:solidFill>
              <a:srgbClr val="9CBFAC"/>
            </a:solidFill>
            <a:prstDash val="solid"/>
          </a:ln>
        </p:spPr>
      </p:sp>
      <p:sp>
        <p:nvSpPr>
          <p:cNvPr id="79" name="Shape 77"/>
          <p:cNvSpPr/>
          <p:nvPr/>
        </p:nvSpPr>
        <p:spPr>
          <a:xfrm>
            <a:off x="3246120" y="4809744"/>
            <a:ext cx="932688" cy="603504"/>
          </a:xfrm>
          <a:prstGeom prst="roundRect">
            <a:avLst>
              <a:gd name="adj" fmla="val 21212"/>
            </a:avLst>
          </a:prstGeom>
          <a:solidFill>
            <a:srgbClr val="E4EFE9"/>
          </a:solidFill>
          <a:ln w="9525">
            <a:solidFill>
              <a:srgbClr val="C4D8CC"/>
            </a:solidFill>
            <a:prstDash val="solid"/>
          </a:ln>
        </p:spPr>
      </p:sp>
      <p:sp>
        <p:nvSpPr>
          <p:cNvPr id="80" name="Text 78"/>
          <p:cNvSpPr/>
          <p:nvPr/>
        </p:nvSpPr>
        <p:spPr>
          <a:xfrm>
            <a:off x="3282696" y="4855464"/>
            <a:ext cx="859536" cy="512064"/>
          </a:xfrm>
          <a:prstGeom prst="rect">
            <a:avLst/>
          </a:prstGeom>
          <a:noFill/>
          <a:ln/>
        </p:spPr>
        <p:txBody>
          <a:bodyPr wrap="square" lIns="0" tIns="0" rIns="0" bIns="0" rtlCol="0" anchor="ctr"/>
          <a:lstStyle/>
          <a:p>
            <a:pPr algn="ctr" indent="0" marL="0">
              <a:lnSpc>
                <a:spcPct val="95000"/>
              </a:lnSpc>
              <a:buNone/>
            </a:pPr>
            <a:r>
              <a:rPr lang="en-US" sz="680" b="1" dirty="0">
                <a:solidFill>
                  <a:srgbClr val="008A00"/>
                </a:solidFill>
                <a:latin typeface="Arial" pitchFamily="34" charset="0"/>
                <a:ea typeface="Arial" pitchFamily="34" charset="-122"/>
                <a:cs typeface="Arial" pitchFamily="34" charset="-120"/>
              </a:rPr>
              <a:t>Step 16</a:t>
            </a:r>
            <a:endParaRPr lang="en-US" sz="680" dirty="0"/>
          </a:p>
          <a:p>
            <a:pPr algn="ctr" indent="0" marL="0">
              <a:lnSpc>
                <a:spcPct val="95000"/>
              </a:lnSpc>
              <a:buNone/>
            </a:pPr>
            <a:r>
              <a:rPr lang="en-US" sz="1000" b="1" dirty="0">
                <a:solidFill>
                  <a:srgbClr val="1E2522"/>
                </a:solidFill>
                <a:latin typeface="Arial" pitchFamily="34" charset="0"/>
                <a:ea typeface="Arial" pitchFamily="34" charset="-122"/>
                <a:cs typeface="Arial" pitchFamily="34" charset="-120"/>
              </a:rPr>
              <a:t>SVP</a:t>
            </a:r>
            <a:endParaRPr lang="en-US" sz="680" dirty="0"/>
          </a:p>
        </p:txBody>
      </p:sp>
      <p:sp>
        <p:nvSpPr>
          <p:cNvPr id="81" name="Shape 79"/>
          <p:cNvSpPr/>
          <p:nvPr/>
        </p:nvSpPr>
        <p:spPr>
          <a:xfrm>
            <a:off x="4229100" y="5056632"/>
            <a:ext cx="118872" cy="109728"/>
          </a:xfrm>
          <a:prstGeom prst="rightArrow">
            <a:avLst/>
          </a:prstGeom>
          <a:solidFill>
            <a:srgbClr val="9CBFAC"/>
          </a:solidFill>
          <a:ln w="12700">
            <a:solidFill>
              <a:srgbClr val="9CBFAC"/>
            </a:solidFill>
            <a:prstDash val="solid"/>
          </a:ln>
        </p:spPr>
      </p:sp>
      <p:sp>
        <p:nvSpPr>
          <p:cNvPr id="82" name="Shape 80"/>
          <p:cNvSpPr/>
          <p:nvPr/>
        </p:nvSpPr>
        <p:spPr>
          <a:xfrm>
            <a:off x="4398264" y="4809744"/>
            <a:ext cx="932688" cy="603504"/>
          </a:xfrm>
          <a:prstGeom prst="roundRect">
            <a:avLst>
              <a:gd name="adj" fmla="val 21212"/>
            </a:avLst>
          </a:prstGeom>
          <a:solidFill>
            <a:srgbClr val="E4EFE9"/>
          </a:solidFill>
          <a:ln w="9525">
            <a:solidFill>
              <a:srgbClr val="C4D8CC"/>
            </a:solidFill>
            <a:prstDash val="solid"/>
          </a:ln>
        </p:spPr>
      </p:sp>
      <p:sp>
        <p:nvSpPr>
          <p:cNvPr id="83" name="Text 81"/>
          <p:cNvSpPr/>
          <p:nvPr/>
        </p:nvSpPr>
        <p:spPr>
          <a:xfrm>
            <a:off x="4434840" y="4855464"/>
            <a:ext cx="859536" cy="512064"/>
          </a:xfrm>
          <a:prstGeom prst="rect">
            <a:avLst/>
          </a:prstGeom>
          <a:noFill/>
          <a:ln/>
        </p:spPr>
        <p:txBody>
          <a:bodyPr wrap="square" lIns="0" tIns="0" rIns="0" bIns="0" rtlCol="0" anchor="ctr"/>
          <a:lstStyle/>
          <a:p>
            <a:pPr algn="ctr" indent="0" marL="0">
              <a:lnSpc>
                <a:spcPct val="95000"/>
              </a:lnSpc>
              <a:buNone/>
            </a:pPr>
            <a:r>
              <a:rPr lang="en-US" sz="680" b="1" dirty="0">
                <a:solidFill>
                  <a:srgbClr val="008A00"/>
                </a:solidFill>
                <a:latin typeface="Arial" pitchFamily="34" charset="0"/>
                <a:ea typeface="Arial" pitchFamily="34" charset="-122"/>
                <a:cs typeface="Arial" pitchFamily="34" charset="-120"/>
              </a:rPr>
              <a:t>Step 17</a:t>
            </a:r>
            <a:endParaRPr lang="en-US" sz="680" dirty="0"/>
          </a:p>
          <a:p>
            <a:pPr algn="ctr" indent="0" marL="0">
              <a:lnSpc>
                <a:spcPct val="95000"/>
              </a:lnSpc>
              <a:buNone/>
            </a:pPr>
            <a:r>
              <a:rPr lang="en-US" sz="1000" b="1" dirty="0">
                <a:solidFill>
                  <a:srgbClr val="1E2522"/>
                </a:solidFill>
                <a:latin typeface="Arial" pitchFamily="34" charset="0"/>
                <a:ea typeface="Arial" pitchFamily="34" charset="-122"/>
                <a:cs typeface="Arial" pitchFamily="34" charset="-120"/>
              </a:rPr>
              <a:t>EVP</a:t>
            </a:r>
            <a:endParaRPr lang="en-US" sz="680" dirty="0"/>
          </a:p>
        </p:txBody>
      </p:sp>
      <p:sp>
        <p:nvSpPr>
          <p:cNvPr id="84" name="Shape 82"/>
          <p:cNvSpPr/>
          <p:nvPr/>
        </p:nvSpPr>
        <p:spPr>
          <a:xfrm>
            <a:off x="5381244" y="5056632"/>
            <a:ext cx="118872" cy="109728"/>
          </a:xfrm>
          <a:prstGeom prst="rightArrow">
            <a:avLst/>
          </a:prstGeom>
          <a:solidFill>
            <a:srgbClr val="9CBFAC"/>
          </a:solidFill>
          <a:ln w="12700">
            <a:solidFill>
              <a:srgbClr val="9CBFAC"/>
            </a:solidFill>
            <a:prstDash val="solid"/>
          </a:ln>
        </p:spPr>
      </p:sp>
      <p:sp>
        <p:nvSpPr>
          <p:cNvPr id="85" name="Shape 83"/>
          <p:cNvSpPr/>
          <p:nvPr/>
        </p:nvSpPr>
        <p:spPr>
          <a:xfrm>
            <a:off x="5550408" y="4809744"/>
            <a:ext cx="932688" cy="603504"/>
          </a:xfrm>
          <a:prstGeom prst="roundRect">
            <a:avLst>
              <a:gd name="adj" fmla="val 21212"/>
            </a:avLst>
          </a:prstGeom>
          <a:solidFill>
            <a:srgbClr val="E4EFE9"/>
          </a:solidFill>
          <a:ln w="9525">
            <a:solidFill>
              <a:srgbClr val="C4D8CC"/>
            </a:solidFill>
            <a:prstDash val="solid"/>
          </a:ln>
        </p:spPr>
      </p:sp>
      <p:sp>
        <p:nvSpPr>
          <p:cNvPr id="86" name="Text 84"/>
          <p:cNvSpPr/>
          <p:nvPr/>
        </p:nvSpPr>
        <p:spPr>
          <a:xfrm>
            <a:off x="5586984" y="4855464"/>
            <a:ext cx="859536" cy="512064"/>
          </a:xfrm>
          <a:prstGeom prst="rect">
            <a:avLst/>
          </a:prstGeom>
          <a:noFill/>
          <a:ln/>
        </p:spPr>
        <p:txBody>
          <a:bodyPr wrap="square" lIns="0" tIns="0" rIns="0" bIns="0" rtlCol="0" anchor="ctr"/>
          <a:lstStyle/>
          <a:p>
            <a:pPr algn="ctr" indent="0" marL="0">
              <a:lnSpc>
                <a:spcPct val="95000"/>
              </a:lnSpc>
              <a:buNone/>
            </a:pPr>
            <a:r>
              <a:rPr lang="en-US" sz="680" b="1" dirty="0">
                <a:solidFill>
                  <a:srgbClr val="008A00"/>
                </a:solidFill>
                <a:latin typeface="Arial" pitchFamily="34" charset="0"/>
                <a:ea typeface="Arial" pitchFamily="34" charset="-122"/>
                <a:cs typeface="Arial" pitchFamily="34" charset="-120"/>
              </a:rPr>
              <a:t>Step 18</a:t>
            </a:r>
            <a:endParaRPr lang="en-US" sz="680" dirty="0"/>
          </a:p>
          <a:p>
            <a:pPr algn="ctr" indent="0" marL="0">
              <a:lnSpc>
                <a:spcPct val="95000"/>
              </a:lnSpc>
              <a:buNone/>
            </a:pPr>
            <a:r>
              <a:rPr lang="en-US" sz="1000" b="1" dirty="0">
                <a:solidFill>
                  <a:srgbClr val="1E2522"/>
                </a:solidFill>
                <a:latin typeface="Arial" pitchFamily="34" charset="0"/>
                <a:ea typeface="Arial" pitchFamily="34" charset="-122"/>
                <a:cs typeface="Arial" pitchFamily="34" charset="-120"/>
              </a:rPr>
              <a:t>FinAVP</a:t>
            </a:r>
            <a:endParaRPr lang="en-US" sz="680" dirty="0"/>
          </a:p>
        </p:txBody>
      </p:sp>
      <p:sp>
        <p:nvSpPr>
          <p:cNvPr id="87" name="Shape 85"/>
          <p:cNvSpPr/>
          <p:nvPr/>
        </p:nvSpPr>
        <p:spPr>
          <a:xfrm>
            <a:off x="6533388" y="5056632"/>
            <a:ext cx="118872" cy="109728"/>
          </a:xfrm>
          <a:prstGeom prst="rightArrow">
            <a:avLst/>
          </a:prstGeom>
          <a:solidFill>
            <a:srgbClr val="9CBFAC"/>
          </a:solidFill>
          <a:ln w="12700">
            <a:solidFill>
              <a:srgbClr val="9CBFAC"/>
            </a:solidFill>
            <a:prstDash val="solid"/>
          </a:ln>
        </p:spPr>
      </p:sp>
      <p:sp>
        <p:nvSpPr>
          <p:cNvPr id="88" name="Shape 86"/>
          <p:cNvSpPr/>
          <p:nvPr/>
        </p:nvSpPr>
        <p:spPr>
          <a:xfrm>
            <a:off x="6702552" y="4809744"/>
            <a:ext cx="932688" cy="603504"/>
          </a:xfrm>
          <a:prstGeom prst="roundRect">
            <a:avLst>
              <a:gd name="adj" fmla="val 21212"/>
            </a:avLst>
          </a:prstGeom>
          <a:solidFill>
            <a:srgbClr val="E4EFE9"/>
          </a:solidFill>
          <a:ln w="9525">
            <a:solidFill>
              <a:srgbClr val="C4D8CC"/>
            </a:solidFill>
            <a:prstDash val="solid"/>
          </a:ln>
        </p:spPr>
      </p:sp>
      <p:sp>
        <p:nvSpPr>
          <p:cNvPr id="89" name="Text 87"/>
          <p:cNvSpPr/>
          <p:nvPr/>
        </p:nvSpPr>
        <p:spPr>
          <a:xfrm>
            <a:off x="6739128" y="4855464"/>
            <a:ext cx="859536" cy="512064"/>
          </a:xfrm>
          <a:prstGeom prst="rect">
            <a:avLst/>
          </a:prstGeom>
          <a:noFill/>
          <a:ln/>
        </p:spPr>
        <p:txBody>
          <a:bodyPr wrap="square" lIns="0" tIns="0" rIns="0" bIns="0" rtlCol="0" anchor="ctr"/>
          <a:lstStyle/>
          <a:p>
            <a:pPr algn="ctr" indent="0" marL="0">
              <a:lnSpc>
                <a:spcPct val="95000"/>
              </a:lnSpc>
              <a:buNone/>
            </a:pPr>
            <a:r>
              <a:rPr lang="en-US" sz="680" b="1" dirty="0">
                <a:solidFill>
                  <a:srgbClr val="008A00"/>
                </a:solidFill>
                <a:latin typeface="Arial" pitchFamily="34" charset="0"/>
                <a:ea typeface="Arial" pitchFamily="34" charset="-122"/>
                <a:cs typeface="Arial" pitchFamily="34" charset="-120"/>
              </a:rPr>
              <a:t>Step 19</a:t>
            </a:r>
            <a:endParaRPr lang="en-US" sz="680" dirty="0"/>
          </a:p>
          <a:p>
            <a:pPr algn="ctr" indent="0" marL="0">
              <a:lnSpc>
                <a:spcPct val="95000"/>
              </a:lnSpc>
              <a:buNone/>
            </a:pPr>
            <a:r>
              <a:rPr lang="en-US" sz="1000" b="1" dirty="0">
                <a:solidFill>
                  <a:srgbClr val="1E2522"/>
                </a:solidFill>
                <a:latin typeface="Arial" pitchFamily="34" charset="0"/>
                <a:ea typeface="Arial" pitchFamily="34" charset="-122"/>
                <a:cs typeface="Arial" pitchFamily="34" charset="-120"/>
              </a:rPr>
              <a:t>ERC</a:t>
            </a:r>
            <a:endParaRPr lang="en-US" sz="680" dirty="0"/>
          </a:p>
        </p:txBody>
      </p:sp>
      <p:sp>
        <p:nvSpPr>
          <p:cNvPr id="90" name="Shape 88"/>
          <p:cNvSpPr/>
          <p:nvPr/>
        </p:nvSpPr>
        <p:spPr>
          <a:xfrm>
            <a:off x="7685532" y="5056632"/>
            <a:ext cx="118872" cy="109728"/>
          </a:xfrm>
          <a:prstGeom prst="rightArrow">
            <a:avLst/>
          </a:prstGeom>
          <a:solidFill>
            <a:srgbClr val="9CBFAC"/>
          </a:solidFill>
          <a:ln w="12700">
            <a:solidFill>
              <a:srgbClr val="9CBFAC"/>
            </a:solidFill>
            <a:prstDash val="solid"/>
          </a:ln>
        </p:spPr>
      </p:sp>
      <p:sp>
        <p:nvSpPr>
          <p:cNvPr id="91" name="Shape 89"/>
          <p:cNvSpPr/>
          <p:nvPr/>
        </p:nvSpPr>
        <p:spPr>
          <a:xfrm>
            <a:off x="7854696" y="4809744"/>
            <a:ext cx="932688" cy="603504"/>
          </a:xfrm>
          <a:prstGeom prst="roundRect">
            <a:avLst>
              <a:gd name="adj" fmla="val 21212"/>
            </a:avLst>
          </a:prstGeom>
          <a:solidFill>
            <a:srgbClr val="E4EFE9"/>
          </a:solidFill>
          <a:ln w="9525">
            <a:solidFill>
              <a:srgbClr val="C4D8CC"/>
            </a:solidFill>
            <a:prstDash val="solid"/>
          </a:ln>
        </p:spPr>
      </p:sp>
      <p:sp>
        <p:nvSpPr>
          <p:cNvPr id="92" name="Text 90"/>
          <p:cNvSpPr/>
          <p:nvPr/>
        </p:nvSpPr>
        <p:spPr>
          <a:xfrm>
            <a:off x="7891272" y="4855464"/>
            <a:ext cx="859536" cy="512064"/>
          </a:xfrm>
          <a:prstGeom prst="rect">
            <a:avLst/>
          </a:prstGeom>
          <a:noFill/>
          <a:ln/>
        </p:spPr>
        <p:txBody>
          <a:bodyPr wrap="square" lIns="0" tIns="0" rIns="0" bIns="0" rtlCol="0" anchor="ctr"/>
          <a:lstStyle/>
          <a:p>
            <a:pPr algn="ctr" indent="0" marL="0">
              <a:lnSpc>
                <a:spcPct val="95000"/>
              </a:lnSpc>
              <a:buNone/>
            </a:pPr>
            <a:r>
              <a:rPr lang="en-US" sz="680" b="1" dirty="0">
                <a:solidFill>
                  <a:srgbClr val="008A00"/>
                </a:solidFill>
                <a:latin typeface="Arial" pitchFamily="34" charset="0"/>
                <a:ea typeface="Arial" pitchFamily="34" charset="-122"/>
                <a:cs typeface="Arial" pitchFamily="34" charset="-120"/>
              </a:rPr>
              <a:t>Step 20</a:t>
            </a:r>
            <a:endParaRPr lang="en-US" sz="680" dirty="0"/>
          </a:p>
          <a:p>
            <a:pPr algn="ctr" indent="0" marL="0">
              <a:lnSpc>
                <a:spcPct val="95000"/>
              </a:lnSpc>
              <a:buNone/>
            </a:pPr>
            <a:r>
              <a:rPr lang="en-US" sz="1000" b="1" dirty="0">
                <a:solidFill>
                  <a:srgbClr val="1E2522"/>
                </a:solidFill>
                <a:latin typeface="Arial" pitchFamily="34" charset="0"/>
                <a:ea typeface="Arial" pitchFamily="34" charset="-122"/>
                <a:cs typeface="Arial" pitchFamily="34" charset="-120"/>
              </a:rPr>
              <a:t>SEVP</a:t>
            </a:r>
            <a:endParaRPr lang="en-US" sz="680" dirty="0"/>
          </a:p>
        </p:txBody>
      </p:sp>
      <p:sp>
        <p:nvSpPr>
          <p:cNvPr id="93" name="Shape 91"/>
          <p:cNvSpPr/>
          <p:nvPr/>
        </p:nvSpPr>
        <p:spPr>
          <a:xfrm>
            <a:off x="8837676" y="5056632"/>
            <a:ext cx="118872" cy="109728"/>
          </a:xfrm>
          <a:prstGeom prst="rightArrow">
            <a:avLst/>
          </a:prstGeom>
          <a:solidFill>
            <a:srgbClr val="9CBFAC"/>
          </a:solidFill>
          <a:ln w="12700">
            <a:solidFill>
              <a:srgbClr val="9CBFAC"/>
            </a:solidFill>
            <a:prstDash val="solid"/>
          </a:ln>
        </p:spPr>
      </p:sp>
      <p:sp>
        <p:nvSpPr>
          <p:cNvPr id="94" name="Shape 92"/>
          <p:cNvSpPr/>
          <p:nvPr/>
        </p:nvSpPr>
        <p:spPr>
          <a:xfrm>
            <a:off x="9006840" y="4809744"/>
            <a:ext cx="2770632" cy="603504"/>
          </a:xfrm>
          <a:prstGeom prst="roundRect">
            <a:avLst>
              <a:gd name="adj" fmla="val 15152"/>
            </a:avLst>
          </a:prstGeom>
          <a:solidFill>
            <a:srgbClr val="1A5336"/>
          </a:solidFill>
          <a:ln w="9525">
            <a:solidFill>
              <a:srgbClr val="1A5336"/>
            </a:solidFill>
            <a:prstDash val="solid"/>
          </a:ln>
        </p:spPr>
      </p:sp>
      <p:sp>
        <p:nvSpPr>
          <p:cNvPr id="95" name="Text 93"/>
          <p:cNvSpPr/>
          <p:nvPr/>
        </p:nvSpPr>
        <p:spPr>
          <a:xfrm>
            <a:off x="9089136" y="4855464"/>
            <a:ext cx="2606040" cy="512064"/>
          </a:xfrm>
          <a:prstGeom prst="rect">
            <a:avLst/>
          </a:prstGeom>
          <a:noFill/>
          <a:ln/>
        </p:spPr>
        <p:txBody>
          <a:bodyPr wrap="square" lIns="0" tIns="0" rIns="0" bIns="0" rtlCol="0" anchor="ctr"/>
          <a:lstStyle/>
          <a:p>
            <a:pPr algn="ctr" indent="0" marL="0">
              <a:lnSpc>
                <a:spcPct val="95000"/>
              </a:lnSpc>
              <a:buNone/>
            </a:pPr>
            <a:r>
              <a:rPr lang="en-US" sz="700" b="1" dirty="0">
                <a:solidFill>
                  <a:srgbClr val="8FCBA8"/>
                </a:solidFill>
                <a:latin typeface="Arial" pitchFamily="34" charset="0"/>
                <a:ea typeface="Arial" pitchFamily="34" charset="-122"/>
                <a:cs typeface="Arial" pitchFamily="34" charset="-120"/>
              </a:rPr>
              <a:t>Steps 21-22</a:t>
            </a:r>
            <a:endParaRPr lang="en-US" sz="700" dirty="0"/>
          </a:p>
          <a:p>
            <a:pPr algn="ctr" indent="0" marL="0">
              <a:lnSpc>
                <a:spcPct val="95000"/>
              </a:lnSpc>
              <a:buNone/>
            </a:pPr>
            <a:r>
              <a:rPr lang="en-US" sz="920" b="1" dirty="0">
                <a:solidFill>
                  <a:srgbClr val="FFFFFF"/>
                </a:solidFill>
                <a:latin typeface="Arial" pitchFamily="34" charset="0"/>
                <a:ea typeface="Arial" pitchFamily="34" charset="-122"/>
                <a:cs typeface="Arial" pitchFamily="34" charset="-120"/>
              </a:rPr>
              <a:t>SPID closed, then Ariba DocuSign</a:t>
            </a:r>
            <a:endParaRPr lang="en-US" sz="700" dirty="0"/>
          </a:p>
          <a:p>
            <a:pPr algn="ctr" indent="0" marL="0">
              <a:lnSpc>
                <a:spcPct val="95000"/>
              </a:lnSpc>
              <a:buNone/>
            </a:pPr>
            <a:r>
              <a:rPr lang="en-US" sz="730" dirty="0">
                <a:solidFill>
                  <a:srgbClr val="C2DCCE"/>
                </a:solidFill>
                <a:latin typeface="Arial" pitchFamily="34" charset="0"/>
                <a:ea typeface="Arial" pitchFamily="34" charset="-122"/>
                <a:cs typeface="Arial" pitchFamily="34" charset="-120"/>
              </a:rPr>
              <a:t>Contract executed</a:t>
            </a:r>
            <a:endParaRPr lang="en-US" sz="700" dirty="0"/>
          </a:p>
        </p:txBody>
      </p:sp>
      <p:sp>
        <p:nvSpPr>
          <p:cNvPr id="96" name="Text 94"/>
          <p:cNvSpPr/>
          <p:nvPr/>
        </p:nvSpPr>
        <p:spPr>
          <a:xfrm>
            <a:off x="411480" y="5669280"/>
            <a:ext cx="5486400" cy="201168"/>
          </a:xfrm>
          <a:prstGeom prst="rect">
            <a:avLst/>
          </a:prstGeom>
          <a:noFill/>
          <a:ln/>
        </p:spPr>
        <p:txBody>
          <a:bodyPr wrap="square" lIns="0" tIns="0" rIns="0" bIns="0" rtlCol="0" anchor="ctr"/>
          <a:lstStyle/>
          <a:p>
            <a:pPr indent="0" marL="0">
              <a:buNone/>
            </a:pPr>
            <a:r>
              <a:rPr lang="en-US" sz="1100" b="1" dirty="0">
                <a:solidFill>
                  <a:srgbClr val="1A5336"/>
                </a:solidFill>
                <a:latin typeface="Arial" pitchFamily="34" charset="0"/>
                <a:ea typeface="Arial" pitchFamily="34" charset="-122"/>
                <a:cs typeface="Arial" pitchFamily="34" charset="-120"/>
              </a:rPr>
              <a:t>Key issues</a:t>
            </a:r>
            <a:endParaRPr lang="en-US" sz="1100" dirty="0"/>
          </a:p>
        </p:txBody>
      </p:sp>
      <p:sp>
        <p:nvSpPr>
          <p:cNvPr id="97" name="Text 95"/>
          <p:cNvSpPr/>
          <p:nvPr/>
        </p:nvSpPr>
        <p:spPr>
          <a:xfrm>
            <a:off x="411480" y="5888736"/>
            <a:ext cx="3544824" cy="548640"/>
          </a:xfrm>
          <a:prstGeom prst="rect">
            <a:avLst/>
          </a:prstGeom>
          <a:noFill/>
          <a:ln/>
        </p:spPr>
        <p:txBody>
          <a:bodyPr wrap="square" lIns="0" tIns="0" rIns="0" bIns="0" rtlCol="0" anchor="t"/>
          <a:lstStyle/>
          <a:p>
            <a:pPr indent="0" marL="0">
              <a:lnSpc>
                <a:spcPct val="105000"/>
              </a:lnSpc>
              <a:buNone/>
            </a:pPr>
            <a:r>
              <a:rPr lang="en-US" sz="920" b="1" dirty="0">
                <a:solidFill>
                  <a:srgbClr val="1E2522"/>
                </a:solidFill>
                <a:latin typeface="Arial" pitchFamily="34" charset="0"/>
                <a:ea typeface="Arial" pitchFamily="34" charset="-122"/>
                <a:cs typeface="Arial" pitchFamily="34" charset="-120"/>
              </a:rPr>
              <a:t>Duplicated approvals</a:t>
            </a:r>
            <a:endParaRPr lang="en-US" sz="920" dirty="0"/>
          </a:p>
          <a:p>
            <a:pPr indent="0" marL="0">
              <a:lnSpc>
                <a:spcPct val="105000"/>
              </a:lnSpc>
              <a:buNone/>
            </a:pPr>
            <a:r>
              <a:rPr lang="en-US" sz="840" dirty="0">
                <a:solidFill>
                  <a:srgbClr val="1E2522"/>
                </a:solidFill>
                <a:latin typeface="Arial" pitchFamily="34" charset="0"/>
                <a:ea typeface="Arial" pitchFamily="34" charset="-122"/>
                <a:cs typeface="Arial" pitchFamily="34" charset="-120"/>
              </a:rPr>
              <a:t>The same six titled approvers meet twice: once for Pipeline, then again for SPID.</a:t>
            </a:r>
            <a:endParaRPr lang="en-US" sz="920" dirty="0"/>
          </a:p>
        </p:txBody>
      </p:sp>
      <p:sp>
        <p:nvSpPr>
          <p:cNvPr id="98" name="Text 96"/>
          <p:cNvSpPr/>
          <p:nvPr/>
        </p:nvSpPr>
        <p:spPr>
          <a:xfrm>
            <a:off x="4322064" y="5888736"/>
            <a:ext cx="3544824" cy="548640"/>
          </a:xfrm>
          <a:prstGeom prst="rect">
            <a:avLst/>
          </a:prstGeom>
          <a:noFill/>
          <a:ln/>
        </p:spPr>
        <p:txBody>
          <a:bodyPr wrap="square" lIns="0" tIns="0" rIns="0" bIns="0" rtlCol="0" anchor="t"/>
          <a:lstStyle/>
          <a:p>
            <a:pPr indent="0" marL="0">
              <a:lnSpc>
                <a:spcPct val="105000"/>
              </a:lnSpc>
              <a:buNone/>
            </a:pPr>
            <a:r>
              <a:rPr lang="en-US" sz="920" b="1" dirty="0">
                <a:solidFill>
                  <a:srgbClr val="1E2522"/>
                </a:solidFill>
                <a:latin typeface="Arial" pitchFamily="34" charset="0"/>
                <a:ea typeface="Arial" pitchFamily="34" charset="-122"/>
                <a:cs typeface="Arial" pitchFamily="34" charset="-120"/>
              </a:rPr>
              <a:t>Duplicated data entry</a:t>
            </a:r>
            <a:endParaRPr lang="en-US" sz="920" dirty="0"/>
          </a:p>
          <a:p>
            <a:pPr indent="0" marL="0">
              <a:lnSpc>
                <a:spcPct val="105000"/>
              </a:lnSpc>
              <a:buNone/>
            </a:pPr>
            <a:r>
              <a:rPr lang="en-US" sz="840" dirty="0">
                <a:solidFill>
                  <a:srgbClr val="1E2522"/>
                </a:solidFill>
                <a:latin typeface="Arial" pitchFamily="34" charset="0"/>
                <a:ea typeface="Arial" pitchFamily="34" charset="-122"/>
                <a:cs typeface="Arial" pitchFamily="34" charset="-120"/>
              </a:rPr>
              <a:t>The same fields are re-asked across Pipeline, the sourcing intake and SPID, and the Management Consulting package sits in an offline Excel file.</a:t>
            </a:r>
            <a:endParaRPr lang="en-US" sz="920" dirty="0"/>
          </a:p>
        </p:txBody>
      </p:sp>
      <p:sp>
        <p:nvSpPr>
          <p:cNvPr id="99" name="Text 97"/>
          <p:cNvSpPr/>
          <p:nvPr/>
        </p:nvSpPr>
        <p:spPr>
          <a:xfrm>
            <a:off x="8232648" y="5888736"/>
            <a:ext cx="3544824" cy="548640"/>
          </a:xfrm>
          <a:prstGeom prst="rect">
            <a:avLst/>
          </a:prstGeom>
          <a:noFill/>
          <a:ln/>
        </p:spPr>
        <p:txBody>
          <a:bodyPr wrap="square" lIns="0" tIns="0" rIns="0" bIns="0" rtlCol="0" anchor="t"/>
          <a:lstStyle/>
          <a:p>
            <a:pPr indent="0" marL="0">
              <a:lnSpc>
                <a:spcPct val="105000"/>
              </a:lnSpc>
              <a:buNone/>
            </a:pPr>
            <a:r>
              <a:rPr lang="en-US" sz="920" b="1" dirty="0">
                <a:solidFill>
                  <a:srgbClr val="1E2522"/>
                </a:solidFill>
                <a:latin typeface="Arial" pitchFamily="34" charset="0"/>
                <a:ea typeface="Arial" pitchFamily="34" charset="-122"/>
                <a:cs typeface="Arial" pitchFamily="34" charset="-120"/>
              </a:rPr>
              <a:t>No single view</a:t>
            </a:r>
            <a:endParaRPr lang="en-US" sz="920" dirty="0"/>
          </a:p>
          <a:p>
            <a:pPr indent="0" marL="0">
              <a:lnSpc>
                <a:spcPct val="105000"/>
              </a:lnSpc>
              <a:buNone/>
            </a:pPr>
            <a:r>
              <a:rPr lang="en-US" sz="840" dirty="0">
                <a:solidFill>
                  <a:srgbClr val="1E2522"/>
                </a:solidFill>
                <a:latin typeface="Arial" pitchFamily="34" charset="0"/>
                <a:ea typeface="Arial" pitchFamily="34" charset="-122"/>
                <a:cs typeface="Arial" pitchFamily="34" charset="-120"/>
              </a:rPr>
              <a:t>Users re-key PL# and SR# to get back in, validation runs off hand-maintained SharePoint lists, and nothing shows where a request stands.</a:t>
            </a:r>
            <a:endParaRPr lang="en-US" sz="920" dirty="0"/>
          </a:p>
        </p:txBody>
      </p:sp>
      <p:sp>
        <p:nvSpPr>
          <p:cNvPr id="100" name="Text 98"/>
          <p:cNvSpPr/>
          <p:nvPr/>
        </p:nvSpPr>
        <p:spPr>
          <a:xfrm>
            <a:off x="411480" y="6455664"/>
            <a:ext cx="2743200" cy="237744"/>
          </a:xfrm>
          <a:prstGeom prst="rect">
            <a:avLst/>
          </a:prstGeom>
          <a:noFill/>
          <a:ln/>
        </p:spPr>
        <p:txBody>
          <a:bodyPr wrap="square" lIns="0" tIns="0" rIns="0" bIns="0" rtlCol="0" anchor="ctr"/>
          <a:lstStyle/>
          <a:p>
            <a:pPr algn="l" indent="0" marL="0">
              <a:buNone/>
            </a:pPr>
            <a:r>
              <a:rPr lang="en-US" sz="800" dirty="0">
                <a:solidFill>
                  <a:srgbClr val="9AA6A0"/>
                </a:solidFill>
                <a:latin typeface="Arial" pitchFamily="34" charset="0"/>
                <a:ea typeface="Arial" pitchFamily="34" charset="-122"/>
                <a:cs typeface="Arial" pitchFamily="34" charset="-120"/>
              </a:rPr>
              <a:t>Internal / Interne</a:t>
            </a:r>
            <a:endParaRPr lang="en-US" sz="800" dirty="0"/>
          </a:p>
        </p:txBody>
      </p:sp>
      <p:sp>
        <p:nvSpPr>
          <p:cNvPr id="101" name="Text 99"/>
          <p:cNvSpPr/>
          <p:nvPr/>
        </p:nvSpPr>
        <p:spPr>
          <a:xfrm>
            <a:off x="10863072" y="6455664"/>
            <a:ext cx="914400" cy="237744"/>
          </a:xfrm>
          <a:prstGeom prst="rect">
            <a:avLst/>
          </a:prstGeom>
          <a:noFill/>
          <a:ln/>
        </p:spPr>
        <p:txBody>
          <a:bodyPr wrap="square" lIns="0" tIns="0" rIns="0" bIns="0" rtlCol="0" anchor="ctr"/>
          <a:lstStyle/>
          <a:p>
            <a:pPr algn="r" indent="0" marL="0">
              <a:buNone/>
            </a:pPr>
            <a:r>
              <a:rPr lang="en-US" sz="800" dirty="0">
                <a:solidFill>
                  <a:srgbClr val="9AA6A0"/>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11480" y="237744"/>
            <a:ext cx="11365992" cy="201168"/>
          </a:xfrm>
          <a:prstGeom prst="rect">
            <a:avLst/>
          </a:prstGeom>
          <a:noFill/>
          <a:ln/>
        </p:spPr>
        <p:txBody>
          <a:bodyPr wrap="square" lIns="0" tIns="0" rIns="0" bIns="0" rtlCol="0" anchor="ctr"/>
          <a:lstStyle/>
          <a:p>
            <a:pPr indent="0" marL="0">
              <a:buNone/>
            </a:pPr>
            <a:r>
              <a:rPr lang="en-US" sz="950" b="1" spc="160" kern="0" dirty="0">
                <a:solidFill>
                  <a:srgbClr val="008A00"/>
                </a:solidFill>
                <a:latin typeface="Arial" pitchFamily="34" charset="0"/>
                <a:ea typeface="Arial" pitchFamily="34" charset="-122"/>
                <a:cs typeface="Arial" pitchFamily="34" charset="-120"/>
              </a:rPr>
              <a:t>TARGET STATE  -  MVP1, PRODUCTION OCTOBER 23, 2026</a:t>
            </a:r>
            <a:endParaRPr lang="en-US" sz="950" dirty="0"/>
          </a:p>
        </p:txBody>
      </p:sp>
      <p:sp>
        <p:nvSpPr>
          <p:cNvPr id="3" name="Text 1"/>
          <p:cNvSpPr/>
          <p:nvPr/>
        </p:nvSpPr>
        <p:spPr>
          <a:xfrm>
            <a:off x="411480" y="420624"/>
            <a:ext cx="11365992" cy="475488"/>
          </a:xfrm>
          <a:prstGeom prst="rect">
            <a:avLst/>
          </a:prstGeom>
          <a:noFill/>
          <a:ln/>
        </p:spPr>
        <p:txBody>
          <a:bodyPr wrap="square" lIns="0" tIns="0" rIns="0" bIns="0" rtlCol="0" anchor="ctr"/>
          <a:lstStyle/>
          <a:p>
            <a:pPr indent="0" marL="0">
              <a:buNone/>
            </a:pPr>
            <a:r>
              <a:rPr lang="en-US" sz="2500" b="1" dirty="0">
                <a:solidFill>
                  <a:srgbClr val="1A5336"/>
                </a:solidFill>
                <a:latin typeface="Arial" pitchFamily="34" charset="0"/>
                <a:ea typeface="Arial" pitchFamily="34" charset="-122"/>
                <a:cs typeface="Arial" pitchFamily="34" charset="-120"/>
              </a:rPr>
              <a:t>Vendor Expense consolidated into USF</a:t>
            </a:r>
            <a:endParaRPr lang="en-US" sz="2500" dirty="0"/>
          </a:p>
        </p:txBody>
      </p:sp>
      <p:sp>
        <p:nvSpPr>
          <p:cNvPr id="4" name="Text 2"/>
          <p:cNvSpPr/>
          <p:nvPr/>
        </p:nvSpPr>
        <p:spPr>
          <a:xfrm>
            <a:off x="411480" y="896112"/>
            <a:ext cx="11365992" cy="237744"/>
          </a:xfrm>
          <a:prstGeom prst="rect">
            <a:avLst/>
          </a:prstGeom>
          <a:noFill/>
          <a:ln/>
        </p:spPr>
        <p:txBody>
          <a:bodyPr wrap="square" lIns="0" tIns="0" rIns="0" bIns="0" rtlCol="0" anchor="ctr"/>
          <a:lstStyle/>
          <a:p>
            <a:pPr indent="0" marL="0">
              <a:buNone/>
            </a:pPr>
            <a:r>
              <a:rPr lang="en-US" sz="1150" i="1" dirty="0">
                <a:solidFill>
                  <a:srgbClr val="1E2522"/>
                </a:solidFill>
                <a:latin typeface="Arial" pitchFamily="34" charset="0"/>
                <a:ea typeface="Arial" pitchFamily="34" charset="-122"/>
                <a:cs typeface="Arial" pitchFamily="34" charset="-120"/>
              </a:rPr>
              <a:t>The same request, asked once and tracked in one place, from intake through to DocuSign.</a:t>
            </a:r>
            <a:endParaRPr lang="en-US" sz="1150" dirty="0"/>
          </a:p>
        </p:txBody>
      </p:sp>
      <p:sp>
        <p:nvSpPr>
          <p:cNvPr id="5" name="Text 3"/>
          <p:cNvSpPr/>
          <p:nvPr/>
        </p:nvSpPr>
        <p:spPr>
          <a:xfrm>
            <a:off x="411480" y="1298448"/>
            <a:ext cx="2035454" cy="347472"/>
          </a:xfrm>
          <a:prstGeom prst="rect">
            <a:avLst/>
          </a:prstGeom>
          <a:noFill/>
          <a:ln/>
        </p:spPr>
        <p:txBody>
          <a:bodyPr wrap="square" lIns="0" tIns="0" rIns="0" bIns="0" rtlCol="0" anchor="b"/>
          <a:lstStyle/>
          <a:p>
            <a:pPr indent="0" marL="0">
              <a:buNone/>
            </a:pPr>
            <a:r>
              <a:rPr lang="en-US" sz="2700" b="1" dirty="0">
                <a:solidFill>
                  <a:srgbClr val="1A5336"/>
                </a:solidFill>
                <a:latin typeface="Arial" pitchFamily="34" charset="0"/>
                <a:ea typeface="Arial" pitchFamily="34" charset="-122"/>
                <a:cs typeface="Arial" pitchFamily="34" charset="-120"/>
              </a:rPr>
              <a:t>1</a:t>
            </a:r>
            <a:pPr indent="0" marL="0">
              <a:buNone/>
            </a:pPr>
            <a:r>
              <a:rPr lang="en-US" sz="1150" b="1" dirty="0">
                <a:solidFill>
                  <a:srgbClr val="2E6B4F"/>
                </a:solidFill>
                <a:latin typeface="Arial" pitchFamily="34" charset="0"/>
                <a:ea typeface="Arial" pitchFamily="34" charset="-122"/>
                <a:cs typeface="Arial" pitchFamily="34" charset="-120"/>
              </a:rPr>
              <a:t>  intake form</a:t>
            </a:r>
            <a:endParaRPr lang="en-US" sz="2700" dirty="0"/>
          </a:p>
        </p:txBody>
      </p:sp>
      <p:sp>
        <p:nvSpPr>
          <p:cNvPr id="6" name="Text 4"/>
          <p:cNvSpPr/>
          <p:nvPr/>
        </p:nvSpPr>
        <p:spPr>
          <a:xfrm>
            <a:off x="411480" y="1664208"/>
            <a:ext cx="2035454" cy="402336"/>
          </a:xfrm>
          <a:prstGeom prst="rect">
            <a:avLst/>
          </a:prstGeom>
          <a:noFill/>
          <a:ln/>
        </p:spPr>
        <p:txBody>
          <a:bodyPr wrap="square" lIns="0" tIns="0" rIns="0" bIns="0" rtlCol="0" anchor="t"/>
          <a:lstStyle/>
          <a:p>
            <a:pPr indent="0" marL="0">
              <a:lnSpc>
                <a:spcPct val="100000"/>
              </a:lnSpc>
              <a:buNone/>
            </a:pPr>
            <a:r>
              <a:rPr lang="en-US" sz="850" dirty="0">
                <a:solidFill>
                  <a:srgbClr val="1E2522"/>
                </a:solidFill>
                <a:latin typeface="Arial" pitchFamily="34" charset="0"/>
                <a:ea typeface="Arial" pitchFamily="34" charset="-122"/>
                <a:cs typeface="Arial" pitchFamily="34" charset="-120"/>
              </a:rPr>
              <a:t>replaces the four separate forms a request passes through today</a:t>
            </a:r>
            <a:endParaRPr lang="en-US" sz="850" dirty="0"/>
          </a:p>
        </p:txBody>
      </p:sp>
      <p:sp>
        <p:nvSpPr>
          <p:cNvPr id="7" name="Text 5"/>
          <p:cNvSpPr/>
          <p:nvPr/>
        </p:nvSpPr>
        <p:spPr>
          <a:xfrm>
            <a:off x="2684678" y="1298448"/>
            <a:ext cx="2035454" cy="347472"/>
          </a:xfrm>
          <a:prstGeom prst="rect">
            <a:avLst/>
          </a:prstGeom>
          <a:noFill/>
          <a:ln/>
        </p:spPr>
        <p:txBody>
          <a:bodyPr wrap="square" lIns="0" tIns="0" rIns="0" bIns="0" rtlCol="0" anchor="b"/>
          <a:lstStyle/>
          <a:p>
            <a:pPr indent="0" marL="0">
              <a:buNone/>
            </a:pPr>
            <a:r>
              <a:rPr lang="en-US" sz="2700" b="1" dirty="0">
                <a:solidFill>
                  <a:srgbClr val="1A5336"/>
                </a:solidFill>
                <a:latin typeface="Arial" pitchFamily="34" charset="0"/>
                <a:ea typeface="Arial" pitchFamily="34" charset="-122"/>
                <a:cs typeface="Arial" pitchFamily="34" charset="-120"/>
              </a:rPr>
              <a:t>0</a:t>
            </a:r>
            <a:pPr indent="0" marL="0">
              <a:buNone/>
            </a:pPr>
            <a:r>
              <a:rPr lang="en-US" sz="1150" b="1" dirty="0">
                <a:solidFill>
                  <a:srgbClr val="2E6B4F"/>
                </a:solidFill>
                <a:latin typeface="Arial" pitchFamily="34" charset="0"/>
                <a:ea typeface="Arial" pitchFamily="34" charset="-122"/>
                <a:cs typeface="Arial" pitchFamily="34" charset="-120"/>
              </a:rPr>
              <a:t>  offline templates</a:t>
            </a:r>
            <a:endParaRPr lang="en-US" sz="2700" dirty="0"/>
          </a:p>
        </p:txBody>
      </p:sp>
      <p:sp>
        <p:nvSpPr>
          <p:cNvPr id="8" name="Text 6"/>
          <p:cNvSpPr/>
          <p:nvPr/>
        </p:nvSpPr>
        <p:spPr>
          <a:xfrm>
            <a:off x="2684678" y="1664208"/>
            <a:ext cx="2035454" cy="402336"/>
          </a:xfrm>
          <a:prstGeom prst="rect">
            <a:avLst/>
          </a:prstGeom>
          <a:noFill/>
          <a:ln/>
        </p:spPr>
        <p:txBody>
          <a:bodyPr wrap="square" lIns="0" tIns="0" rIns="0" bIns="0" rtlCol="0" anchor="t"/>
          <a:lstStyle/>
          <a:p>
            <a:pPr indent="0" marL="0">
              <a:lnSpc>
                <a:spcPct val="100000"/>
              </a:lnSpc>
              <a:buNone/>
            </a:pPr>
            <a:r>
              <a:rPr lang="en-US" sz="850" dirty="0">
                <a:solidFill>
                  <a:srgbClr val="1E2522"/>
                </a:solidFill>
                <a:latin typeface="Arial" pitchFamily="34" charset="0"/>
                <a:ea typeface="Arial" pitchFamily="34" charset="-122"/>
                <a:cs typeface="Arial" pitchFamily="34" charset="-120"/>
              </a:rPr>
              <a:t>the Management Consulting package is captured inside the intake</a:t>
            </a:r>
            <a:endParaRPr lang="en-US" sz="850" dirty="0"/>
          </a:p>
        </p:txBody>
      </p:sp>
      <p:sp>
        <p:nvSpPr>
          <p:cNvPr id="9" name="Text 7"/>
          <p:cNvSpPr/>
          <p:nvPr/>
        </p:nvSpPr>
        <p:spPr>
          <a:xfrm>
            <a:off x="4957877" y="1298448"/>
            <a:ext cx="2035454" cy="347472"/>
          </a:xfrm>
          <a:prstGeom prst="rect">
            <a:avLst/>
          </a:prstGeom>
          <a:noFill/>
          <a:ln/>
        </p:spPr>
        <p:txBody>
          <a:bodyPr wrap="square" lIns="0" tIns="0" rIns="0" bIns="0" rtlCol="0" anchor="b"/>
          <a:lstStyle/>
          <a:p>
            <a:pPr indent="0" marL="0">
              <a:buNone/>
            </a:pPr>
            <a:r>
              <a:rPr lang="en-US" sz="2700" b="1" dirty="0">
                <a:solidFill>
                  <a:srgbClr val="1A5336"/>
                </a:solidFill>
                <a:latin typeface="Arial" pitchFamily="34" charset="0"/>
                <a:ea typeface="Arial" pitchFamily="34" charset="-122"/>
                <a:cs typeface="Arial" pitchFamily="34" charset="-120"/>
              </a:rPr>
              <a:t>0</a:t>
            </a:r>
            <a:pPr indent="0" marL="0">
              <a:buNone/>
            </a:pPr>
            <a:r>
              <a:rPr lang="en-US" sz="1150" b="1" dirty="0">
                <a:solidFill>
                  <a:srgbClr val="2E6B4F"/>
                </a:solidFill>
                <a:latin typeface="Arial" pitchFamily="34" charset="0"/>
                <a:ea typeface="Arial" pitchFamily="34" charset="-122"/>
                <a:cs typeface="Arial" pitchFamily="34" charset="-120"/>
              </a:rPr>
              <a:t>  re-entries</a:t>
            </a:r>
            <a:endParaRPr lang="en-US" sz="2700" dirty="0"/>
          </a:p>
        </p:txBody>
      </p:sp>
      <p:sp>
        <p:nvSpPr>
          <p:cNvPr id="10" name="Text 8"/>
          <p:cNvSpPr/>
          <p:nvPr/>
        </p:nvSpPr>
        <p:spPr>
          <a:xfrm>
            <a:off x="4957877" y="1664208"/>
            <a:ext cx="2035454" cy="402336"/>
          </a:xfrm>
          <a:prstGeom prst="rect">
            <a:avLst/>
          </a:prstGeom>
          <a:noFill/>
          <a:ln/>
        </p:spPr>
        <p:txBody>
          <a:bodyPr wrap="square" lIns="0" tIns="0" rIns="0" bIns="0" rtlCol="0" anchor="t"/>
          <a:lstStyle/>
          <a:p>
            <a:pPr indent="0" marL="0">
              <a:lnSpc>
                <a:spcPct val="100000"/>
              </a:lnSpc>
              <a:buNone/>
            </a:pPr>
            <a:r>
              <a:rPr lang="en-US" sz="850" dirty="0">
                <a:solidFill>
                  <a:srgbClr val="1E2522"/>
                </a:solidFill>
                <a:latin typeface="Arial" pitchFamily="34" charset="0"/>
                <a:ea typeface="Arial" pitchFamily="34" charset="-122"/>
                <a:cs typeface="Arial" pitchFamily="34" charset="-120"/>
              </a:rPr>
              <a:t>the Pipeline # and Ariba SR # are linked by the system, not re-keyed</a:t>
            </a:r>
            <a:endParaRPr lang="en-US" sz="850" dirty="0"/>
          </a:p>
        </p:txBody>
      </p:sp>
      <p:sp>
        <p:nvSpPr>
          <p:cNvPr id="11" name="Text 9"/>
          <p:cNvSpPr/>
          <p:nvPr/>
        </p:nvSpPr>
        <p:spPr>
          <a:xfrm>
            <a:off x="7231075" y="1298448"/>
            <a:ext cx="2035454" cy="347472"/>
          </a:xfrm>
          <a:prstGeom prst="rect">
            <a:avLst/>
          </a:prstGeom>
          <a:noFill/>
          <a:ln/>
        </p:spPr>
        <p:txBody>
          <a:bodyPr wrap="square" lIns="0" tIns="0" rIns="0" bIns="0" rtlCol="0" anchor="b"/>
          <a:lstStyle/>
          <a:p>
            <a:pPr indent="0" marL="0">
              <a:buNone/>
            </a:pPr>
            <a:r>
              <a:rPr lang="en-US" sz="2700" b="1" dirty="0">
                <a:solidFill>
                  <a:srgbClr val="1A5336"/>
                </a:solidFill>
                <a:latin typeface="Arial" pitchFamily="34" charset="0"/>
                <a:ea typeface="Arial" pitchFamily="34" charset="-122"/>
                <a:cs typeface="Arial" pitchFamily="34" charset="-120"/>
              </a:rPr>
              <a:t>1</a:t>
            </a:r>
            <a:pPr indent="0" marL="0">
              <a:buNone/>
            </a:pPr>
            <a:r>
              <a:rPr lang="en-US" sz="1150" b="1" dirty="0">
                <a:solidFill>
                  <a:srgbClr val="2E6B4F"/>
                </a:solidFill>
                <a:latin typeface="Arial" pitchFamily="34" charset="0"/>
                <a:ea typeface="Arial" pitchFamily="34" charset="-122"/>
                <a:cs typeface="Arial" pitchFamily="34" charset="-120"/>
              </a:rPr>
              <a:t>  request view</a:t>
            </a:r>
            <a:endParaRPr lang="en-US" sz="2700" dirty="0"/>
          </a:p>
        </p:txBody>
      </p:sp>
      <p:sp>
        <p:nvSpPr>
          <p:cNvPr id="12" name="Text 10"/>
          <p:cNvSpPr/>
          <p:nvPr/>
        </p:nvSpPr>
        <p:spPr>
          <a:xfrm>
            <a:off x="7231075" y="1664208"/>
            <a:ext cx="2035454" cy="402336"/>
          </a:xfrm>
          <a:prstGeom prst="rect">
            <a:avLst/>
          </a:prstGeom>
          <a:noFill/>
          <a:ln/>
        </p:spPr>
        <p:txBody>
          <a:bodyPr wrap="square" lIns="0" tIns="0" rIns="0" bIns="0" rtlCol="0" anchor="t"/>
          <a:lstStyle/>
          <a:p>
            <a:pPr indent="0" marL="0">
              <a:lnSpc>
                <a:spcPct val="100000"/>
              </a:lnSpc>
              <a:buNone/>
            </a:pPr>
            <a:r>
              <a:rPr lang="en-US" sz="850" dirty="0">
                <a:solidFill>
                  <a:srgbClr val="1E2522"/>
                </a:solidFill>
                <a:latin typeface="Arial" pitchFamily="34" charset="0"/>
                <a:ea typeface="Arial" pitchFamily="34" charset="-122"/>
                <a:cs typeface="Arial" pitchFamily="34" charset="-120"/>
              </a:rPr>
              <a:t>My Requests shows Pipeline, Sourcing and SPID together</a:t>
            </a:r>
            <a:endParaRPr lang="en-US" sz="850" dirty="0"/>
          </a:p>
        </p:txBody>
      </p:sp>
      <p:sp>
        <p:nvSpPr>
          <p:cNvPr id="13" name="Text 11"/>
          <p:cNvSpPr/>
          <p:nvPr/>
        </p:nvSpPr>
        <p:spPr>
          <a:xfrm>
            <a:off x="9504274" y="1298448"/>
            <a:ext cx="2035454" cy="347472"/>
          </a:xfrm>
          <a:prstGeom prst="rect">
            <a:avLst/>
          </a:prstGeom>
          <a:noFill/>
          <a:ln/>
        </p:spPr>
        <p:txBody>
          <a:bodyPr wrap="square" lIns="0" tIns="0" rIns="0" bIns="0" rtlCol="0" anchor="b"/>
          <a:lstStyle/>
          <a:p>
            <a:pPr indent="0" marL="0">
              <a:buNone/>
            </a:pPr>
            <a:r>
              <a:rPr lang="en-US" sz="2700" b="1" dirty="0">
                <a:solidFill>
                  <a:srgbClr val="1A5336"/>
                </a:solidFill>
                <a:latin typeface="Arial" pitchFamily="34" charset="0"/>
                <a:ea typeface="Arial" pitchFamily="34" charset="-122"/>
                <a:cs typeface="Arial" pitchFamily="34" charset="-120"/>
              </a:rPr>
              <a:t>12</a:t>
            </a:r>
            <a:pPr indent="0" marL="0">
              <a:buNone/>
            </a:pPr>
            <a:r>
              <a:rPr lang="en-US" sz="1150" b="1" dirty="0">
                <a:solidFill>
                  <a:srgbClr val="2E6B4F"/>
                </a:solidFill>
                <a:latin typeface="Arial" pitchFamily="34" charset="0"/>
                <a:ea typeface="Arial" pitchFamily="34" charset="-122"/>
                <a:cs typeface="Arial" pitchFamily="34" charset="-120"/>
              </a:rPr>
              <a:t>  approval meetings</a:t>
            </a:r>
            <a:endParaRPr lang="en-US" sz="2700" dirty="0"/>
          </a:p>
        </p:txBody>
      </p:sp>
      <p:sp>
        <p:nvSpPr>
          <p:cNvPr id="14" name="Text 12"/>
          <p:cNvSpPr/>
          <p:nvPr/>
        </p:nvSpPr>
        <p:spPr>
          <a:xfrm>
            <a:off x="9504274" y="1664208"/>
            <a:ext cx="2035454" cy="402336"/>
          </a:xfrm>
          <a:prstGeom prst="rect">
            <a:avLst/>
          </a:prstGeom>
          <a:noFill/>
          <a:ln/>
        </p:spPr>
        <p:txBody>
          <a:bodyPr wrap="square" lIns="0" tIns="0" rIns="0" bIns="0" rtlCol="0" anchor="t"/>
          <a:lstStyle/>
          <a:p>
            <a:pPr indent="0" marL="0">
              <a:lnSpc>
                <a:spcPct val="100000"/>
              </a:lnSpc>
              <a:buNone/>
            </a:pPr>
            <a:r>
              <a:rPr lang="en-US" sz="850" dirty="0">
                <a:solidFill>
                  <a:srgbClr val="1E2522"/>
                </a:solidFill>
                <a:latin typeface="Arial" pitchFamily="34" charset="0"/>
                <a:ea typeface="Arial" pitchFamily="34" charset="-122"/>
                <a:cs typeface="Arial" pitchFamily="34" charset="-120"/>
              </a:rPr>
              <a:t>unchanged: set by expense policy and the approval matrix, not by the tool</a:t>
            </a:r>
            <a:endParaRPr lang="en-US" sz="850" dirty="0"/>
          </a:p>
        </p:txBody>
      </p:sp>
      <p:sp>
        <p:nvSpPr>
          <p:cNvPr id="15" name="Shape 13"/>
          <p:cNvSpPr/>
          <p:nvPr/>
        </p:nvSpPr>
        <p:spPr>
          <a:xfrm>
            <a:off x="411480" y="2249424"/>
            <a:ext cx="11365992" cy="0"/>
          </a:xfrm>
          <a:prstGeom prst="line">
            <a:avLst/>
          </a:prstGeom>
          <a:noFill/>
          <a:ln w="12700">
            <a:solidFill>
              <a:srgbClr val="DCE6E0"/>
            </a:solidFill>
            <a:prstDash val="solid"/>
          </a:ln>
        </p:spPr>
      </p:sp>
      <p:sp>
        <p:nvSpPr>
          <p:cNvPr id="16" name="Shape 14"/>
          <p:cNvSpPr/>
          <p:nvPr/>
        </p:nvSpPr>
        <p:spPr>
          <a:xfrm>
            <a:off x="411480" y="4206240"/>
            <a:ext cx="11365992" cy="0"/>
          </a:xfrm>
          <a:prstGeom prst="line">
            <a:avLst/>
          </a:prstGeom>
          <a:noFill/>
          <a:ln w="12700">
            <a:solidFill>
              <a:srgbClr val="DCE6E0"/>
            </a:solidFill>
            <a:prstDash val="solid"/>
          </a:ln>
        </p:spPr>
      </p:sp>
      <p:sp>
        <p:nvSpPr>
          <p:cNvPr id="17" name="Shape 15"/>
          <p:cNvSpPr/>
          <p:nvPr/>
        </p:nvSpPr>
        <p:spPr>
          <a:xfrm>
            <a:off x="411480" y="2395728"/>
            <a:ext cx="1481328" cy="731520"/>
          </a:xfrm>
          <a:prstGeom prst="roundRect">
            <a:avLst>
              <a:gd name="adj" fmla="val 12500"/>
            </a:avLst>
          </a:prstGeom>
          <a:solidFill>
            <a:srgbClr val="1A5336"/>
          </a:solidFill>
          <a:ln w="12700">
            <a:solidFill>
              <a:srgbClr val="1A5336"/>
            </a:solidFill>
            <a:prstDash val="solid"/>
          </a:ln>
        </p:spPr>
      </p:sp>
      <p:sp>
        <p:nvSpPr>
          <p:cNvPr id="18" name="Text 16"/>
          <p:cNvSpPr/>
          <p:nvPr/>
        </p:nvSpPr>
        <p:spPr>
          <a:xfrm>
            <a:off x="539496" y="2450592"/>
            <a:ext cx="1243584" cy="621792"/>
          </a:xfrm>
          <a:prstGeom prst="rect">
            <a:avLst/>
          </a:prstGeom>
          <a:noFill/>
          <a:ln/>
        </p:spPr>
        <p:txBody>
          <a:bodyPr wrap="square" lIns="0" tIns="0" rIns="0" bIns="0" rtlCol="0" anchor="ctr"/>
          <a:lstStyle/>
          <a:p>
            <a:pPr algn="l" indent="0" marL="0">
              <a:lnSpc>
                <a:spcPct val="100000"/>
              </a:lnSpc>
              <a:buNone/>
            </a:pPr>
            <a:r>
              <a:rPr lang="en-US" sz="950" b="1" dirty="0">
                <a:solidFill>
                  <a:srgbClr val="FFFFFF"/>
                </a:solidFill>
                <a:latin typeface="Arial" pitchFamily="34" charset="0"/>
                <a:ea typeface="Arial" pitchFamily="34" charset="-122"/>
                <a:cs typeface="Arial" pitchFamily="34" charset="-120"/>
              </a:rPr>
              <a:t>A   Ask once</a:t>
            </a:r>
            <a:endParaRPr lang="en-US" sz="950" dirty="0"/>
          </a:p>
          <a:p>
            <a:pPr algn="l" indent="0" marL="0">
              <a:lnSpc>
                <a:spcPct val="100000"/>
              </a:lnSpc>
              <a:buNone/>
            </a:pPr>
            <a:r>
              <a:rPr lang="en-US" sz="720" dirty="0">
                <a:solidFill>
                  <a:srgbClr val="9FD3B4"/>
                </a:solidFill>
                <a:latin typeface="Arial" pitchFamily="34" charset="0"/>
                <a:ea typeface="Arial" pitchFamily="34" charset="-122"/>
                <a:cs typeface="Arial" pitchFamily="34" charset="-120"/>
              </a:rPr>
              <a:t>One form, driven by logic</a:t>
            </a:r>
            <a:endParaRPr lang="en-US" sz="950" dirty="0"/>
          </a:p>
        </p:txBody>
      </p:sp>
      <p:sp>
        <p:nvSpPr>
          <p:cNvPr id="19" name="Shape 17"/>
          <p:cNvSpPr/>
          <p:nvPr/>
        </p:nvSpPr>
        <p:spPr>
          <a:xfrm>
            <a:off x="2093976" y="2395728"/>
            <a:ext cx="1874520" cy="731520"/>
          </a:xfrm>
          <a:prstGeom prst="roundRect">
            <a:avLst>
              <a:gd name="adj" fmla="val 12500"/>
            </a:avLst>
          </a:prstGeom>
          <a:solidFill>
            <a:srgbClr val="F2F7F4"/>
          </a:solidFill>
          <a:ln w="9525">
            <a:solidFill>
              <a:srgbClr val="CFDFD6"/>
            </a:solidFill>
            <a:prstDash val="solid"/>
          </a:ln>
        </p:spPr>
      </p:sp>
      <p:sp>
        <p:nvSpPr>
          <p:cNvPr id="20" name="Text 18"/>
          <p:cNvSpPr/>
          <p:nvPr/>
        </p:nvSpPr>
        <p:spPr>
          <a:xfrm>
            <a:off x="2176272" y="2441448"/>
            <a:ext cx="1709928" cy="640080"/>
          </a:xfrm>
          <a:prstGeom prst="rect">
            <a:avLst/>
          </a:prstGeom>
          <a:noFill/>
          <a:ln/>
        </p:spPr>
        <p:txBody>
          <a:bodyPr wrap="square" lIns="0" tIns="0" rIns="0" bIns="0" rtlCol="0" anchor="ctr"/>
          <a:lstStyle/>
          <a:p>
            <a:pPr algn="ctr" indent="0" marL="0">
              <a:lnSpc>
                <a:spcPct val="95000"/>
              </a:lnSpc>
              <a:buNone/>
            </a:pPr>
            <a:r>
              <a:rPr lang="en-US" sz="920" b="1" dirty="0">
                <a:solidFill>
                  <a:srgbClr val="1E2522"/>
                </a:solidFill>
                <a:latin typeface="Arial" pitchFamily="34" charset="0"/>
                <a:ea typeface="Arial" pitchFamily="34" charset="-122"/>
                <a:cs typeface="Arial" pitchFamily="34" charset="-120"/>
              </a:rPr>
              <a:t>Start a request in USF</a:t>
            </a:r>
            <a:endParaRPr lang="en-US" sz="920" dirty="0"/>
          </a:p>
          <a:p>
            <a:pPr algn="ctr" indent="0" marL="0">
              <a:lnSpc>
                <a:spcPct val="95000"/>
              </a:lnSpc>
              <a:buNone/>
            </a:pPr>
            <a:r>
              <a:rPr lang="en-US" sz="730" dirty="0">
                <a:solidFill>
                  <a:srgbClr val="1E2522"/>
                </a:solidFill>
                <a:latin typeface="Arial" pitchFamily="34" charset="0"/>
                <a:ea typeface="Arial" pitchFamily="34" charset="-122"/>
                <a:cs typeface="Arial" pitchFamily="34" charset="-120"/>
              </a:rPr>
              <a:t>Vendor Expense selected; GTS applicability derived by the system</a:t>
            </a:r>
            <a:endParaRPr lang="en-US" sz="920" dirty="0"/>
          </a:p>
        </p:txBody>
      </p:sp>
      <p:sp>
        <p:nvSpPr>
          <p:cNvPr id="21" name="Shape 19"/>
          <p:cNvSpPr/>
          <p:nvPr/>
        </p:nvSpPr>
        <p:spPr>
          <a:xfrm>
            <a:off x="4041648" y="2706624"/>
            <a:ext cx="164592" cy="109728"/>
          </a:xfrm>
          <a:prstGeom prst="rightArrow">
            <a:avLst/>
          </a:prstGeom>
          <a:solidFill>
            <a:srgbClr val="9CBFAC"/>
          </a:solidFill>
          <a:ln w="12700">
            <a:solidFill>
              <a:srgbClr val="9CBFAC"/>
            </a:solidFill>
            <a:prstDash val="solid"/>
          </a:ln>
        </p:spPr>
      </p:sp>
      <p:sp>
        <p:nvSpPr>
          <p:cNvPr id="22" name="Shape 20"/>
          <p:cNvSpPr/>
          <p:nvPr/>
        </p:nvSpPr>
        <p:spPr>
          <a:xfrm>
            <a:off x="4279392" y="2395728"/>
            <a:ext cx="4764024" cy="731520"/>
          </a:xfrm>
          <a:prstGeom prst="roundRect">
            <a:avLst>
              <a:gd name="adj" fmla="val 12500"/>
            </a:avLst>
          </a:prstGeom>
          <a:solidFill>
            <a:srgbClr val="1A5336"/>
          </a:solidFill>
          <a:ln w="9525">
            <a:solidFill>
              <a:srgbClr val="1A5336"/>
            </a:solidFill>
            <a:prstDash val="solid"/>
          </a:ln>
        </p:spPr>
      </p:sp>
      <p:sp>
        <p:nvSpPr>
          <p:cNvPr id="23" name="Text 21"/>
          <p:cNvSpPr/>
          <p:nvPr/>
        </p:nvSpPr>
        <p:spPr>
          <a:xfrm>
            <a:off x="4361688" y="2441448"/>
            <a:ext cx="4599432" cy="640080"/>
          </a:xfrm>
          <a:prstGeom prst="rect">
            <a:avLst/>
          </a:prstGeom>
          <a:noFill/>
          <a:ln/>
        </p:spPr>
        <p:txBody>
          <a:bodyPr wrap="square" lIns="0" tIns="0" rIns="0" bIns="0" rtlCol="0" anchor="ctr"/>
          <a:lstStyle/>
          <a:p>
            <a:pPr algn="ctr" indent="0" marL="0">
              <a:lnSpc>
                <a:spcPct val="95000"/>
              </a:lnSpc>
              <a:buNone/>
            </a:pPr>
            <a:r>
              <a:rPr lang="en-US" sz="700" b="1" dirty="0">
                <a:solidFill>
                  <a:srgbClr val="8FCBA8"/>
                </a:solidFill>
                <a:latin typeface="Arial" pitchFamily="34" charset="0"/>
                <a:ea typeface="Arial" pitchFamily="34" charset="-122"/>
                <a:cs typeface="Arial" pitchFamily="34" charset="-120"/>
              </a:rPr>
              <a:t>One form</a:t>
            </a:r>
            <a:endParaRPr lang="en-US" sz="700" dirty="0"/>
          </a:p>
          <a:p>
            <a:pPr algn="ctr" indent="0" marL="0">
              <a:lnSpc>
                <a:spcPct val="95000"/>
              </a:lnSpc>
              <a:buNone/>
            </a:pPr>
            <a:r>
              <a:rPr lang="en-US" sz="920" b="1" dirty="0">
                <a:solidFill>
                  <a:srgbClr val="FFFFFF"/>
                </a:solidFill>
                <a:latin typeface="Arial" pitchFamily="34" charset="0"/>
                <a:ea typeface="Arial" pitchFamily="34" charset="-122"/>
                <a:cs typeface="Arial" pitchFamily="34" charset="-120"/>
              </a:rPr>
              <a:t>USF sourcing  +  Pipeline (unlocks over $100K)  +  Management Consulting  +  SPID fields</a:t>
            </a:r>
            <a:endParaRPr lang="en-US" sz="700" dirty="0"/>
          </a:p>
          <a:p>
            <a:pPr algn="ctr" indent="0" marL="0">
              <a:lnSpc>
                <a:spcPct val="95000"/>
              </a:lnSpc>
              <a:buNone/>
            </a:pPr>
            <a:r>
              <a:rPr lang="en-US" sz="730" dirty="0">
                <a:solidFill>
                  <a:srgbClr val="C2DCCE"/>
                </a:solidFill>
                <a:latin typeface="Arial" pitchFamily="34" charset="0"/>
                <a:ea typeface="Arial" pitchFamily="34" charset="-122"/>
                <a:cs typeface="Arial" pitchFamily="34" charset="-120"/>
              </a:rPr>
              <a:t>Overlapping questions are asked once and reused. At or under $100K the Pipeline section never appears.</a:t>
            </a:r>
            <a:endParaRPr lang="en-US" sz="700" dirty="0"/>
          </a:p>
        </p:txBody>
      </p:sp>
      <p:sp>
        <p:nvSpPr>
          <p:cNvPr id="24" name="Shape 22"/>
          <p:cNvSpPr/>
          <p:nvPr/>
        </p:nvSpPr>
        <p:spPr>
          <a:xfrm>
            <a:off x="9116568" y="2706624"/>
            <a:ext cx="164592" cy="109728"/>
          </a:xfrm>
          <a:prstGeom prst="rightArrow">
            <a:avLst/>
          </a:prstGeom>
          <a:solidFill>
            <a:srgbClr val="9CBFAC"/>
          </a:solidFill>
          <a:ln w="12700">
            <a:solidFill>
              <a:srgbClr val="9CBFAC"/>
            </a:solidFill>
            <a:prstDash val="solid"/>
          </a:ln>
        </p:spPr>
      </p:sp>
      <p:sp>
        <p:nvSpPr>
          <p:cNvPr id="25" name="Shape 23"/>
          <p:cNvSpPr/>
          <p:nvPr/>
        </p:nvSpPr>
        <p:spPr>
          <a:xfrm>
            <a:off x="9354312" y="2395728"/>
            <a:ext cx="2423160" cy="731520"/>
          </a:xfrm>
          <a:prstGeom prst="roundRect">
            <a:avLst>
              <a:gd name="adj" fmla="val 12500"/>
            </a:avLst>
          </a:prstGeom>
          <a:solidFill>
            <a:srgbClr val="F2F7F4"/>
          </a:solidFill>
          <a:ln w="9525">
            <a:solidFill>
              <a:srgbClr val="CFDFD6"/>
            </a:solidFill>
            <a:prstDash val="solid"/>
          </a:ln>
        </p:spPr>
      </p:sp>
      <p:sp>
        <p:nvSpPr>
          <p:cNvPr id="26" name="Text 24"/>
          <p:cNvSpPr/>
          <p:nvPr/>
        </p:nvSpPr>
        <p:spPr>
          <a:xfrm>
            <a:off x="9436608" y="2441448"/>
            <a:ext cx="2258568" cy="640080"/>
          </a:xfrm>
          <a:prstGeom prst="rect">
            <a:avLst/>
          </a:prstGeom>
          <a:noFill/>
          <a:ln/>
        </p:spPr>
        <p:txBody>
          <a:bodyPr wrap="square" lIns="0" tIns="0" rIns="0" bIns="0" rtlCol="0" anchor="ctr"/>
          <a:lstStyle/>
          <a:p>
            <a:pPr algn="ctr" indent="0" marL="0">
              <a:lnSpc>
                <a:spcPct val="95000"/>
              </a:lnSpc>
              <a:buNone/>
            </a:pPr>
            <a:r>
              <a:rPr lang="en-US" sz="920" b="1" dirty="0">
                <a:solidFill>
                  <a:srgbClr val="1E2522"/>
                </a:solidFill>
                <a:latin typeface="Arial" pitchFamily="34" charset="0"/>
                <a:ea typeface="Arial" pitchFamily="34" charset="-122"/>
                <a:cs typeface="Arial" pitchFamily="34" charset="-120"/>
              </a:rPr>
              <a:t>Routing &amp; decision engine</a:t>
            </a:r>
            <a:endParaRPr lang="en-US" sz="920" dirty="0"/>
          </a:p>
          <a:p>
            <a:pPr algn="ctr" indent="0" marL="0">
              <a:lnSpc>
                <a:spcPct val="95000"/>
              </a:lnSpc>
              <a:buNone/>
            </a:pPr>
            <a:r>
              <a:rPr lang="en-US" sz="730" dirty="0">
                <a:solidFill>
                  <a:srgbClr val="1E2522"/>
                </a:solidFill>
                <a:latin typeface="Arial" pitchFamily="34" charset="0"/>
                <a:ea typeface="Arial" pitchFamily="34" charset="-122"/>
                <a:cs typeface="Arial" pitchFamily="34" charset="-120"/>
              </a:rPr>
              <a:t>Builds the approval path from the Financial Approval Matrix and derives the MC flag</a:t>
            </a:r>
            <a:endParaRPr lang="en-US" sz="920" dirty="0"/>
          </a:p>
        </p:txBody>
      </p:sp>
      <p:sp>
        <p:nvSpPr>
          <p:cNvPr id="27" name="Shape 25"/>
          <p:cNvSpPr/>
          <p:nvPr/>
        </p:nvSpPr>
        <p:spPr>
          <a:xfrm>
            <a:off x="11274552" y="3127248"/>
            <a:ext cx="0" cy="118872"/>
          </a:xfrm>
          <a:prstGeom prst="line">
            <a:avLst/>
          </a:prstGeom>
          <a:noFill/>
          <a:ln w="12700">
            <a:solidFill>
              <a:srgbClr val="B4CFC0"/>
            </a:solidFill>
            <a:prstDash val="solid"/>
          </a:ln>
        </p:spPr>
      </p:sp>
      <p:sp>
        <p:nvSpPr>
          <p:cNvPr id="28" name="Shape 26"/>
          <p:cNvSpPr/>
          <p:nvPr/>
        </p:nvSpPr>
        <p:spPr>
          <a:xfrm>
            <a:off x="2596896" y="3246120"/>
            <a:ext cx="8677656" cy="0"/>
          </a:xfrm>
          <a:prstGeom prst="line">
            <a:avLst/>
          </a:prstGeom>
          <a:noFill/>
          <a:ln w="12700">
            <a:solidFill>
              <a:srgbClr val="B4CFC0"/>
            </a:solidFill>
            <a:prstDash val="solid"/>
          </a:ln>
        </p:spPr>
      </p:sp>
      <p:sp>
        <p:nvSpPr>
          <p:cNvPr id="29" name="Shape 27"/>
          <p:cNvSpPr/>
          <p:nvPr/>
        </p:nvSpPr>
        <p:spPr>
          <a:xfrm>
            <a:off x="2596896" y="3246120"/>
            <a:ext cx="0" cy="118872"/>
          </a:xfrm>
          <a:prstGeom prst="line">
            <a:avLst/>
          </a:prstGeom>
          <a:noFill/>
          <a:ln w="12700">
            <a:solidFill>
              <a:srgbClr val="B4CFC0"/>
            </a:solidFill>
            <a:prstDash val="solid"/>
            <a:tailEnd type="triangle"/>
          </a:ln>
        </p:spPr>
      </p:sp>
      <p:sp>
        <p:nvSpPr>
          <p:cNvPr id="30" name="Shape 28"/>
          <p:cNvSpPr/>
          <p:nvPr/>
        </p:nvSpPr>
        <p:spPr>
          <a:xfrm>
            <a:off x="411480" y="3364992"/>
            <a:ext cx="1481328" cy="731520"/>
          </a:xfrm>
          <a:prstGeom prst="roundRect">
            <a:avLst>
              <a:gd name="adj" fmla="val 12500"/>
            </a:avLst>
          </a:prstGeom>
          <a:solidFill>
            <a:srgbClr val="1A5336"/>
          </a:solidFill>
          <a:ln w="12700">
            <a:solidFill>
              <a:srgbClr val="1A5336"/>
            </a:solidFill>
            <a:prstDash val="solid"/>
          </a:ln>
        </p:spPr>
      </p:sp>
      <p:sp>
        <p:nvSpPr>
          <p:cNvPr id="31" name="Text 29"/>
          <p:cNvSpPr/>
          <p:nvPr/>
        </p:nvSpPr>
        <p:spPr>
          <a:xfrm>
            <a:off x="539496" y="3419856"/>
            <a:ext cx="1243584" cy="621792"/>
          </a:xfrm>
          <a:prstGeom prst="rect">
            <a:avLst/>
          </a:prstGeom>
          <a:noFill/>
          <a:ln/>
        </p:spPr>
        <p:txBody>
          <a:bodyPr wrap="square" lIns="0" tIns="0" rIns="0" bIns="0" rtlCol="0" anchor="ctr"/>
          <a:lstStyle/>
          <a:p>
            <a:pPr algn="l" indent="0" marL="0">
              <a:lnSpc>
                <a:spcPct val="100000"/>
              </a:lnSpc>
              <a:buNone/>
            </a:pPr>
            <a:r>
              <a:rPr lang="en-US" sz="950" b="1" dirty="0">
                <a:solidFill>
                  <a:srgbClr val="FFFFFF"/>
                </a:solidFill>
                <a:latin typeface="Arial" pitchFamily="34" charset="0"/>
                <a:ea typeface="Arial" pitchFamily="34" charset="-122"/>
                <a:cs typeface="Arial" pitchFamily="34" charset="-120"/>
              </a:rPr>
              <a:t>B   Approve &amp; sign</a:t>
            </a:r>
            <a:endParaRPr lang="en-US" sz="950" dirty="0"/>
          </a:p>
          <a:p>
            <a:pPr algn="l" indent="0" marL="0">
              <a:lnSpc>
                <a:spcPct val="100000"/>
              </a:lnSpc>
              <a:buNone/>
            </a:pPr>
            <a:r>
              <a:rPr lang="en-US" sz="720" dirty="0">
                <a:solidFill>
                  <a:srgbClr val="9FD3B4"/>
                </a:solidFill>
                <a:latin typeface="Arial" pitchFamily="34" charset="0"/>
                <a:ea typeface="Arial" pitchFamily="34" charset="-122"/>
                <a:cs typeface="Arial" pitchFamily="34" charset="-120"/>
              </a:rPr>
              <a:t>One tracked journey</a:t>
            </a:r>
            <a:endParaRPr lang="en-US" sz="950" dirty="0"/>
          </a:p>
        </p:txBody>
      </p:sp>
      <p:sp>
        <p:nvSpPr>
          <p:cNvPr id="32" name="Shape 30"/>
          <p:cNvSpPr/>
          <p:nvPr/>
        </p:nvSpPr>
        <p:spPr>
          <a:xfrm>
            <a:off x="2093976" y="3364992"/>
            <a:ext cx="1717243" cy="731520"/>
          </a:xfrm>
          <a:prstGeom prst="roundRect">
            <a:avLst>
              <a:gd name="adj" fmla="val 12500"/>
            </a:avLst>
          </a:prstGeom>
          <a:solidFill>
            <a:srgbClr val="F2F7F4"/>
          </a:solidFill>
          <a:ln w="9525">
            <a:solidFill>
              <a:srgbClr val="CFDFD6"/>
            </a:solidFill>
            <a:prstDash val="solid"/>
          </a:ln>
        </p:spPr>
      </p:sp>
      <p:sp>
        <p:nvSpPr>
          <p:cNvPr id="33" name="Text 31"/>
          <p:cNvSpPr/>
          <p:nvPr/>
        </p:nvSpPr>
        <p:spPr>
          <a:xfrm>
            <a:off x="2176272" y="3410712"/>
            <a:ext cx="1552651" cy="640080"/>
          </a:xfrm>
          <a:prstGeom prst="rect">
            <a:avLst/>
          </a:prstGeom>
          <a:noFill/>
          <a:ln/>
        </p:spPr>
        <p:txBody>
          <a:bodyPr wrap="square" lIns="0" tIns="0" rIns="0" bIns="0" rtlCol="0" anchor="ctr"/>
          <a:lstStyle/>
          <a:p>
            <a:pPr algn="ctr" indent="0" marL="0">
              <a:lnSpc>
                <a:spcPct val="95000"/>
              </a:lnSpc>
              <a:buNone/>
            </a:pPr>
            <a:r>
              <a:rPr lang="en-US" sz="920" b="1" dirty="0">
                <a:solidFill>
                  <a:srgbClr val="1E2522"/>
                </a:solidFill>
                <a:latin typeface="Arial" pitchFamily="34" charset="0"/>
                <a:ea typeface="Arial" pitchFamily="34" charset="-122"/>
                <a:cs typeface="Arial" pitchFamily="34" charset="-120"/>
              </a:rPr>
              <a:t>BOM Lead agenda queue, in-app</a:t>
            </a:r>
            <a:endParaRPr lang="en-US" sz="920" dirty="0"/>
          </a:p>
          <a:p>
            <a:pPr algn="ctr" indent="0" marL="0">
              <a:lnSpc>
                <a:spcPct val="95000"/>
              </a:lnSpc>
              <a:buNone/>
            </a:pPr>
            <a:r>
              <a:rPr lang="en-US" sz="730" dirty="0">
                <a:solidFill>
                  <a:srgbClr val="1E2522"/>
                </a:solidFill>
                <a:latin typeface="Arial" pitchFamily="34" charset="0"/>
                <a:ea typeface="Arial" pitchFamily="34" charset="-122"/>
                <a:cs typeface="Arial" pitchFamily="34" charset="-120"/>
              </a:rPr>
              <a:t>Approve, send back or reject, with comments and a stamped decision date</a:t>
            </a:r>
            <a:endParaRPr lang="en-US" sz="920" dirty="0"/>
          </a:p>
        </p:txBody>
      </p:sp>
      <p:sp>
        <p:nvSpPr>
          <p:cNvPr id="34" name="Shape 32"/>
          <p:cNvSpPr/>
          <p:nvPr/>
        </p:nvSpPr>
        <p:spPr>
          <a:xfrm>
            <a:off x="3884371" y="3675888"/>
            <a:ext cx="128016" cy="109728"/>
          </a:xfrm>
          <a:prstGeom prst="rightArrow">
            <a:avLst/>
          </a:prstGeom>
          <a:solidFill>
            <a:srgbClr val="9CBFAC"/>
          </a:solidFill>
          <a:ln w="12700">
            <a:solidFill>
              <a:srgbClr val="9CBFAC"/>
            </a:solidFill>
            <a:prstDash val="solid"/>
          </a:ln>
        </p:spPr>
      </p:sp>
      <p:sp>
        <p:nvSpPr>
          <p:cNvPr id="35" name="Shape 33"/>
          <p:cNvSpPr/>
          <p:nvPr/>
        </p:nvSpPr>
        <p:spPr>
          <a:xfrm>
            <a:off x="4085539" y="3364992"/>
            <a:ext cx="1717243" cy="731520"/>
          </a:xfrm>
          <a:prstGeom prst="roundRect">
            <a:avLst>
              <a:gd name="adj" fmla="val 12500"/>
            </a:avLst>
          </a:prstGeom>
          <a:solidFill>
            <a:srgbClr val="F2F7F4"/>
          </a:solidFill>
          <a:ln w="9525">
            <a:solidFill>
              <a:srgbClr val="CFDFD6"/>
            </a:solidFill>
            <a:prstDash val="solid"/>
          </a:ln>
        </p:spPr>
      </p:sp>
      <p:sp>
        <p:nvSpPr>
          <p:cNvPr id="36" name="Text 34"/>
          <p:cNvSpPr/>
          <p:nvPr/>
        </p:nvSpPr>
        <p:spPr>
          <a:xfrm>
            <a:off x="4167835" y="3410712"/>
            <a:ext cx="1552651" cy="640080"/>
          </a:xfrm>
          <a:prstGeom prst="rect">
            <a:avLst/>
          </a:prstGeom>
          <a:noFill/>
          <a:ln/>
        </p:spPr>
        <p:txBody>
          <a:bodyPr wrap="square" lIns="0" tIns="0" rIns="0" bIns="0" rtlCol="0" anchor="ctr"/>
          <a:lstStyle/>
          <a:p>
            <a:pPr algn="ctr" indent="0" marL="0">
              <a:lnSpc>
                <a:spcPct val="95000"/>
              </a:lnSpc>
              <a:buNone/>
            </a:pPr>
            <a:r>
              <a:rPr lang="en-US" sz="920" b="1" dirty="0">
                <a:solidFill>
                  <a:srgbClr val="1E2522"/>
                </a:solidFill>
                <a:latin typeface="Arial" pitchFamily="34" charset="0"/>
                <a:ea typeface="Arial" pitchFamily="34" charset="-122"/>
                <a:cs typeface="Arial" pitchFamily="34" charset="-120"/>
              </a:rPr>
              <a:t>Pipeline approved</a:t>
            </a:r>
            <a:endParaRPr lang="en-US" sz="920" dirty="0"/>
          </a:p>
          <a:p>
            <a:pPr algn="ctr" indent="0" marL="0">
              <a:lnSpc>
                <a:spcPct val="95000"/>
              </a:lnSpc>
              <a:buNone/>
            </a:pPr>
            <a:r>
              <a:rPr lang="en-US" sz="730" dirty="0">
                <a:solidFill>
                  <a:srgbClr val="1E2522"/>
                </a:solidFill>
                <a:latin typeface="Arial" pitchFamily="34" charset="0"/>
                <a:ea typeface="Arial" pitchFamily="34" charset="-122"/>
                <a:cs typeface="Arial" pitchFamily="34" charset="-120"/>
              </a:rPr>
              <a:t>One click opens the sourcing intake pre-populated; approved values are locked</a:t>
            </a:r>
            <a:endParaRPr lang="en-US" sz="920" dirty="0"/>
          </a:p>
        </p:txBody>
      </p:sp>
      <p:sp>
        <p:nvSpPr>
          <p:cNvPr id="37" name="Shape 35"/>
          <p:cNvSpPr/>
          <p:nvPr/>
        </p:nvSpPr>
        <p:spPr>
          <a:xfrm>
            <a:off x="5875934" y="3675888"/>
            <a:ext cx="128016" cy="109728"/>
          </a:xfrm>
          <a:prstGeom prst="rightArrow">
            <a:avLst/>
          </a:prstGeom>
          <a:solidFill>
            <a:srgbClr val="9CBFAC"/>
          </a:solidFill>
          <a:ln w="12700">
            <a:solidFill>
              <a:srgbClr val="9CBFAC"/>
            </a:solidFill>
            <a:prstDash val="solid"/>
          </a:ln>
        </p:spPr>
      </p:sp>
      <p:sp>
        <p:nvSpPr>
          <p:cNvPr id="38" name="Shape 36"/>
          <p:cNvSpPr/>
          <p:nvPr/>
        </p:nvSpPr>
        <p:spPr>
          <a:xfrm>
            <a:off x="6077102" y="3364992"/>
            <a:ext cx="1717243" cy="731520"/>
          </a:xfrm>
          <a:prstGeom prst="roundRect">
            <a:avLst>
              <a:gd name="adj" fmla="val 12500"/>
            </a:avLst>
          </a:prstGeom>
          <a:solidFill>
            <a:srgbClr val="F2F7F4"/>
          </a:solidFill>
          <a:ln w="9525">
            <a:solidFill>
              <a:srgbClr val="CFDFD6"/>
            </a:solidFill>
            <a:prstDash val="solid"/>
          </a:ln>
        </p:spPr>
      </p:sp>
      <p:sp>
        <p:nvSpPr>
          <p:cNvPr id="39" name="Text 37"/>
          <p:cNvSpPr/>
          <p:nvPr/>
        </p:nvSpPr>
        <p:spPr>
          <a:xfrm>
            <a:off x="6159398" y="3410712"/>
            <a:ext cx="1552651" cy="640080"/>
          </a:xfrm>
          <a:prstGeom prst="rect">
            <a:avLst/>
          </a:prstGeom>
          <a:noFill/>
          <a:ln/>
        </p:spPr>
        <p:txBody>
          <a:bodyPr wrap="square" lIns="0" tIns="0" rIns="0" bIns="0" rtlCol="0" anchor="ctr"/>
          <a:lstStyle/>
          <a:p>
            <a:pPr algn="ctr" indent="0" marL="0">
              <a:lnSpc>
                <a:spcPct val="95000"/>
              </a:lnSpc>
              <a:buNone/>
            </a:pPr>
            <a:r>
              <a:rPr lang="en-US" sz="920" b="1" dirty="0">
                <a:solidFill>
                  <a:srgbClr val="1E2522"/>
                </a:solidFill>
                <a:latin typeface="Arial" pitchFamily="34" charset="0"/>
                <a:ea typeface="Arial" pitchFamily="34" charset="-122"/>
                <a:cs typeface="Arial" pitchFamily="34" charset="-120"/>
              </a:rPr>
              <a:t>Finance review</a:t>
            </a:r>
            <a:endParaRPr lang="en-US" sz="920" dirty="0"/>
          </a:p>
          <a:p>
            <a:pPr algn="ctr" indent="0" marL="0">
              <a:lnSpc>
                <a:spcPct val="95000"/>
              </a:lnSpc>
              <a:buNone/>
            </a:pPr>
            <a:r>
              <a:rPr lang="en-US" sz="730" dirty="0">
                <a:solidFill>
                  <a:srgbClr val="1E2522"/>
                </a:solidFill>
                <a:latin typeface="Arial" pitchFamily="34" charset="0"/>
                <a:ea typeface="Arial" pitchFamily="34" charset="-122"/>
                <a:cs typeface="Arial" pitchFamily="34" charset="-120"/>
              </a:rPr>
              <a:t>Existing Finance Partner Matrix routing, reused as it is today</a:t>
            </a:r>
            <a:endParaRPr lang="en-US" sz="920" dirty="0"/>
          </a:p>
        </p:txBody>
      </p:sp>
      <p:sp>
        <p:nvSpPr>
          <p:cNvPr id="40" name="Shape 38"/>
          <p:cNvSpPr/>
          <p:nvPr/>
        </p:nvSpPr>
        <p:spPr>
          <a:xfrm>
            <a:off x="7867498" y="3675888"/>
            <a:ext cx="128016" cy="109728"/>
          </a:xfrm>
          <a:prstGeom prst="rightArrow">
            <a:avLst/>
          </a:prstGeom>
          <a:solidFill>
            <a:srgbClr val="9CBFAC"/>
          </a:solidFill>
          <a:ln w="12700">
            <a:solidFill>
              <a:srgbClr val="9CBFAC"/>
            </a:solidFill>
            <a:prstDash val="solid"/>
          </a:ln>
        </p:spPr>
      </p:sp>
      <p:sp>
        <p:nvSpPr>
          <p:cNvPr id="41" name="Shape 39"/>
          <p:cNvSpPr/>
          <p:nvPr/>
        </p:nvSpPr>
        <p:spPr>
          <a:xfrm>
            <a:off x="8068666" y="3364992"/>
            <a:ext cx="1717243" cy="731520"/>
          </a:xfrm>
          <a:prstGeom prst="roundRect">
            <a:avLst>
              <a:gd name="adj" fmla="val 12500"/>
            </a:avLst>
          </a:prstGeom>
          <a:solidFill>
            <a:srgbClr val="FDF4E6"/>
          </a:solidFill>
          <a:ln w="9525">
            <a:solidFill>
              <a:srgbClr val="EBD9BC"/>
            </a:solidFill>
            <a:prstDash val="solid"/>
          </a:ln>
        </p:spPr>
      </p:sp>
      <p:sp>
        <p:nvSpPr>
          <p:cNvPr id="42" name="Text 40"/>
          <p:cNvSpPr/>
          <p:nvPr/>
        </p:nvSpPr>
        <p:spPr>
          <a:xfrm>
            <a:off x="8150962" y="3410712"/>
            <a:ext cx="1552651" cy="640080"/>
          </a:xfrm>
          <a:prstGeom prst="rect">
            <a:avLst/>
          </a:prstGeom>
          <a:noFill/>
          <a:ln/>
        </p:spPr>
        <p:txBody>
          <a:bodyPr wrap="square" lIns="0" tIns="0" rIns="0" bIns="0" rtlCol="0" anchor="ctr"/>
          <a:lstStyle/>
          <a:p>
            <a:pPr algn="ctr" indent="0" marL="0">
              <a:lnSpc>
                <a:spcPct val="95000"/>
              </a:lnSpc>
              <a:buNone/>
            </a:pPr>
            <a:r>
              <a:rPr lang="en-US" sz="920" b="1" dirty="0">
                <a:solidFill>
                  <a:srgbClr val="1E2522"/>
                </a:solidFill>
                <a:latin typeface="Arial" pitchFamily="34" charset="0"/>
                <a:ea typeface="Arial" pitchFamily="34" charset="-122"/>
                <a:cs typeface="Arial" pitchFamily="34" charset="-120"/>
              </a:rPr>
              <a:t>Ariba SR / procurement</a:t>
            </a:r>
            <a:endParaRPr lang="en-US" sz="920" dirty="0"/>
          </a:p>
          <a:p>
            <a:pPr algn="ctr" indent="0" marL="0">
              <a:lnSpc>
                <a:spcPct val="95000"/>
              </a:lnSpc>
              <a:buNone/>
            </a:pPr>
            <a:r>
              <a:rPr lang="en-US" sz="730" dirty="0">
                <a:solidFill>
                  <a:srgbClr val="1E2522"/>
                </a:solidFill>
                <a:latin typeface="Arial" pitchFamily="34" charset="0"/>
                <a:ea typeface="Arial" pitchFamily="34" charset="-122"/>
                <a:cs typeface="Arial" pitchFamily="34" charset="-120"/>
              </a:rPr>
              <a:t>Tracked manual stage in MVP1 - no live Ariba integration is claimed</a:t>
            </a:r>
            <a:endParaRPr lang="en-US" sz="920" dirty="0"/>
          </a:p>
        </p:txBody>
      </p:sp>
      <p:sp>
        <p:nvSpPr>
          <p:cNvPr id="43" name="Shape 41"/>
          <p:cNvSpPr/>
          <p:nvPr/>
        </p:nvSpPr>
        <p:spPr>
          <a:xfrm>
            <a:off x="9859061" y="3675888"/>
            <a:ext cx="128016" cy="109728"/>
          </a:xfrm>
          <a:prstGeom prst="rightArrow">
            <a:avLst/>
          </a:prstGeom>
          <a:solidFill>
            <a:srgbClr val="9CBFAC"/>
          </a:solidFill>
          <a:ln w="12700">
            <a:solidFill>
              <a:srgbClr val="9CBFAC"/>
            </a:solidFill>
            <a:prstDash val="solid"/>
          </a:ln>
        </p:spPr>
      </p:sp>
      <p:sp>
        <p:nvSpPr>
          <p:cNvPr id="44" name="Shape 42"/>
          <p:cNvSpPr/>
          <p:nvPr/>
        </p:nvSpPr>
        <p:spPr>
          <a:xfrm>
            <a:off x="10060229" y="3364992"/>
            <a:ext cx="1717243" cy="731520"/>
          </a:xfrm>
          <a:prstGeom prst="roundRect">
            <a:avLst>
              <a:gd name="adj" fmla="val 12500"/>
            </a:avLst>
          </a:prstGeom>
          <a:solidFill>
            <a:srgbClr val="F2F7F4"/>
          </a:solidFill>
          <a:ln w="9525">
            <a:solidFill>
              <a:srgbClr val="CFDFD6"/>
            </a:solidFill>
            <a:prstDash val="solid"/>
          </a:ln>
        </p:spPr>
      </p:sp>
      <p:sp>
        <p:nvSpPr>
          <p:cNvPr id="45" name="Text 43"/>
          <p:cNvSpPr/>
          <p:nvPr/>
        </p:nvSpPr>
        <p:spPr>
          <a:xfrm>
            <a:off x="10142525" y="3410712"/>
            <a:ext cx="1552651" cy="640080"/>
          </a:xfrm>
          <a:prstGeom prst="rect">
            <a:avLst/>
          </a:prstGeom>
          <a:noFill/>
          <a:ln/>
        </p:spPr>
        <p:txBody>
          <a:bodyPr wrap="square" lIns="0" tIns="0" rIns="0" bIns="0" rtlCol="0" anchor="ctr"/>
          <a:lstStyle/>
          <a:p>
            <a:pPr algn="ctr" indent="0" marL="0">
              <a:lnSpc>
                <a:spcPct val="95000"/>
              </a:lnSpc>
              <a:buNone/>
            </a:pPr>
            <a:r>
              <a:rPr lang="en-US" sz="920" b="1" dirty="0">
                <a:solidFill>
                  <a:srgbClr val="1E2522"/>
                </a:solidFill>
                <a:latin typeface="Arial" pitchFamily="34" charset="0"/>
                <a:ea typeface="Arial" pitchFamily="34" charset="-122"/>
                <a:cs typeface="Arial" pitchFamily="34" charset="-120"/>
              </a:rPr>
              <a:t>SPID, then DocuSign</a:t>
            </a:r>
            <a:endParaRPr lang="en-US" sz="920" dirty="0"/>
          </a:p>
          <a:p>
            <a:pPr algn="ctr" indent="0" marL="0">
              <a:lnSpc>
                <a:spcPct val="95000"/>
              </a:lnSpc>
              <a:buNone/>
            </a:pPr>
            <a:r>
              <a:rPr lang="en-US" sz="730" dirty="0">
                <a:solidFill>
                  <a:srgbClr val="1E2522"/>
                </a:solidFill>
                <a:latin typeface="Arial" pitchFamily="34" charset="0"/>
                <a:ea typeface="Arial" pitchFamily="34" charset="-122"/>
                <a:cs typeface="Arial" pitchFamily="34" charset="-120"/>
              </a:rPr>
              <a:t>Requestor starts SPID; net-new questions only, changes against Pipeline flagged</a:t>
            </a:r>
            <a:endParaRPr lang="en-US" sz="920" dirty="0"/>
          </a:p>
        </p:txBody>
      </p:sp>
      <p:sp>
        <p:nvSpPr>
          <p:cNvPr id="46" name="Text 44"/>
          <p:cNvSpPr/>
          <p:nvPr/>
        </p:nvSpPr>
        <p:spPr>
          <a:xfrm>
            <a:off x="411480" y="4334256"/>
            <a:ext cx="5486400" cy="201168"/>
          </a:xfrm>
          <a:prstGeom prst="rect">
            <a:avLst/>
          </a:prstGeom>
          <a:noFill/>
          <a:ln/>
        </p:spPr>
        <p:txBody>
          <a:bodyPr wrap="square" lIns="0" tIns="0" rIns="0" bIns="0" rtlCol="0" anchor="ctr"/>
          <a:lstStyle/>
          <a:p>
            <a:pPr indent="0" marL="0">
              <a:buNone/>
            </a:pPr>
            <a:r>
              <a:rPr lang="en-US" sz="1050" b="1" dirty="0">
                <a:solidFill>
                  <a:srgbClr val="1A5336"/>
                </a:solidFill>
                <a:latin typeface="Arial" pitchFamily="34" charset="0"/>
                <a:ea typeface="Arial" pitchFamily="34" charset="-122"/>
                <a:cs typeface="Arial" pitchFamily="34" charset="-120"/>
              </a:rPr>
              <a:t>Roles built into the application</a:t>
            </a:r>
            <a:endParaRPr lang="en-US" sz="1050" dirty="0"/>
          </a:p>
        </p:txBody>
      </p:sp>
      <p:sp>
        <p:nvSpPr>
          <p:cNvPr id="47" name="Text 45"/>
          <p:cNvSpPr/>
          <p:nvPr/>
        </p:nvSpPr>
        <p:spPr>
          <a:xfrm>
            <a:off x="6309360" y="4334256"/>
            <a:ext cx="5486400" cy="201168"/>
          </a:xfrm>
          <a:prstGeom prst="rect">
            <a:avLst/>
          </a:prstGeom>
          <a:noFill/>
          <a:ln/>
        </p:spPr>
        <p:txBody>
          <a:bodyPr wrap="square" lIns="0" tIns="0" rIns="0" bIns="0" rtlCol="0" anchor="ctr"/>
          <a:lstStyle/>
          <a:p>
            <a:pPr indent="0" marL="0">
              <a:buNone/>
            </a:pPr>
            <a:r>
              <a:rPr lang="en-US" sz="1050" b="1" dirty="0">
                <a:solidFill>
                  <a:srgbClr val="1A5336"/>
                </a:solidFill>
                <a:latin typeface="Arial" pitchFamily="34" charset="0"/>
                <a:ea typeface="Arial" pitchFamily="34" charset="-122"/>
                <a:cs typeface="Arial" pitchFamily="34" charset="-120"/>
              </a:rPr>
              <a:t>Logic built into the application</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4535424"/>
          <a:ext cx="5513832" cy="914400"/>
        </p:xfrm>
        <a:graphic>
          <a:graphicData uri="http://schemas.openxmlformats.org/drawingml/2006/table">
            <a:tbl>
              <a:tblPr/>
              <a:tblGrid>
                <a:gridCol w="1371600"/>
                <a:gridCol w="4142232"/>
              </a:tblGrid>
              <a:tr h="274320">
                <a:tc>
                  <a:txBody>
                    <a:bodyPr/>
                    <a:lstStyle/>
                    <a:p>
                      <a:pPr indent="0" marL="0">
                        <a:buNone/>
                      </a:pPr>
                      <a:r>
                        <a:rPr lang="en-US" sz="830" b="1" dirty="0">
                          <a:solidFill>
                            <a:srgbClr val="FFFFFF"/>
                          </a:solidFill>
                          <a:latin typeface="Arial" pitchFamily="34" charset="0"/>
                          <a:ea typeface="Arial" pitchFamily="34" charset="-122"/>
                          <a:cs typeface="Arial" pitchFamily="34" charset="-120"/>
                        </a:rPr>
                        <a:t>Role</a:t>
                      </a:r>
                      <a:endParaRPr lang="en-US" sz="83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1A5336"/>
                    </a:solidFill>
                  </a:tcPr>
                </a:tc>
                <a:tc>
                  <a:txBody>
                    <a:bodyPr/>
                    <a:lstStyle/>
                    <a:p>
                      <a:pPr indent="0" marL="0">
                        <a:buNone/>
                      </a:pPr>
                      <a:r>
                        <a:rPr lang="en-US" sz="830" b="1" dirty="0">
                          <a:solidFill>
                            <a:srgbClr val="FFFFFF"/>
                          </a:solidFill>
                          <a:latin typeface="Arial" pitchFamily="34" charset="0"/>
                          <a:ea typeface="Arial" pitchFamily="34" charset="-122"/>
                          <a:cs typeface="Arial" pitchFamily="34" charset="-120"/>
                        </a:rPr>
                        <a:t>What they can do</a:t>
                      </a:r>
                      <a:endParaRPr lang="en-US" sz="83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1A5336"/>
                    </a:solidFill>
                  </a:tcPr>
                </a:tc>
              </a:tr>
              <a:tr h="274320">
                <a:tc>
                  <a:txBody>
                    <a:bodyPr/>
                    <a:lstStyle/>
                    <a:p>
                      <a:pPr indent="0" marL="0">
                        <a:buNone/>
                      </a:pPr>
                      <a:r>
                        <a:rPr lang="en-US" sz="780" b="1" dirty="0">
                          <a:solidFill>
                            <a:srgbClr val="1E2522"/>
                          </a:solidFill>
                          <a:latin typeface="Arial" pitchFamily="34" charset="0"/>
                          <a:ea typeface="Arial" pitchFamily="34" charset="-122"/>
                          <a:cs typeface="Arial" pitchFamily="34" charset="-120"/>
                        </a:rPr>
                        <a:t>Requestor</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Owns the journey; edits only in Draft or Sent Back; can cancel with a reason. A delegate can act for them</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r>
              <a:tr h="274320">
                <a:tc>
                  <a:txBody>
                    <a:bodyPr/>
                    <a:lstStyle/>
                    <a:p>
                      <a:pPr indent="0" marL="0">
                        <a:buNone/>
                      </a:pPr>
                      <a:r>
                        <a:rPr lang="en-US" sz="780" b="1" dirty="0">
                          <a:solidFill>
                            <a:srgbClr val="1E2522"/>
                          </a:solidFill>
                          <a:latin typeface="Arial" pitchFamily="34" charset="0"/>
                          <a:ea typeface="Arial" pitchFamily="34" charset="-122"/>
                          <a:cs typeface="Arial" pitchFamily="34" charset="-120"/>
                        </a:rPr>
                        <a:t>BOM Lead</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Sees only items in their Segment / BU / Level, builds the agenda and records the decision</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r>
              <a:tr h="274320">
                <a:tc>
                  <a:txBody>
                    <a:bodyPr/>
                    <a:lstStyle/>
                    <a:p>
                      <a:pPr indent="0" marL="0">
                        <a:buNone/>
                      </a:pPr>
                      <a:r>
                        <a:rPr lang="en-US" sz="780" b="1" dirty="0">
                          <a:solidFill>
                            <a:srgbClr val="1E2522"/>
                          </a:solidFill>
                          <a:latin typeface="Arial" pitchFamily="34" charset="0"/>
                          <a:ea typeface="Arial" pitchFamily="34" charset="-122"/>
                          <a:cs typeface="Arial" pitchFamily="34" charset="-120"/>
                        </a:rPr>
                        <a:t>Titled approvers</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VP through SEVP, plus Finance and the Expense Review Committee. Authority comes from the matrix</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r>
              <a:tr h="274320">
                <a:tc>
                  <a:txBody>
                    <a:bodyPr/>
                    <a:lstStyle/>
                    <a:p>
                      <a:pPr indent="0" marL="0">
                        <a:buNone/>
                      </a:pPr>
                      <a:r>
                        <a:rPr lang="en-US" sz="780" b="1" dirty="0">
                          <a:solidFill>
                            <a:srgbClr val="1E2522"/>
                          </a:solidFill>
                          <a:latin typeface="Arial" pitchFamily="34" charset="0"/>
                          <a:ea typeface="Arial" pitchFamily="34" charset="-122"/>
                          <a:cs typeface="Arial" pitchFamily="34" charset="-120"/>
                        </a:rPr>
                        <a:t>Finance reviewer</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Confirm funding, request more information, or decline</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r>
              <a:tr h="274320">
                <a:tc>
                  <a:txBody>
                    <a:bodyPr/>
                    <a:lstStyle/>
                    <a:p>
                      <a:pPr indent="0" marL="0">
                        <a:buNone/>
                      </a:pPr>
                      <a:r>
                        <a:rPr lang="en-US" sz="780" b="1" dirty="0">
                          <a:solidFill>
                            <a:srgbClr val="1E2522"/>
                          </a:solidFill>
                          <a:latin typeface="Arial" pitchFamily="34" charset="0"/>
                          <a:ea typeface="Arial" pitchFamily="34" charset="-122"/>
                          <a:cs typeface="Arial" pitchFamily="34" charset="-120"/>
                        </a:rPr>
                        <a:t>Admins</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Maintain the approval matrix, delegates, BOM scope and reference data. Overrides are audited</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r>
            </a:tbl>
          </a:graphicData>
        </a:graphic>
      </p:graphicFrame>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309360" y="4535424"/>
          <a:ext cx="5468112" cy="914400"/>
        </p:xfrm>
        <a:graphic>
          <a:graphicData uri="http://schemas.openxmlformats.org/drawingml/2006/table">
            <a:tbl>
              <a:tblPr/>
              <a:tblGrid>
                <a:gridCol w="1371600"/>
                <a:gridCol w="4096512"/>
              </a:tblGrid>
              <a:tr h="274320">
                <a:tc>
                  <a:txBody>
                    <a:bodyPr/>
                    <a:lstStyle/>
                    <a:p>
                      <a:pPr indent="0" marL="0">
                        <a:buNone/>
                      </a:pPr>
                      <a:r>
                        <a:rPr lang="en-US" sz="830" b="1" dirty="0">
                          <a:solidFill>
                            <a:srgbClr val="FFFFFF"/>
                          </a:solidFill>
                          <a:latin typeface="Arial" pitchFamily="34" charset="0"/>
                          <a:ea typeface="Arial" pitchFamily="34" charset="-122"/>
                          <a:cs typeface="Arial" pitchFamily="34" charset="-120"/>
                        </a:rPr>
                        <a:t>Rule</a:t>
                      </a:r>
                      <a:endParaRPr lang="en-US" sz="83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1A5336"/>
                    </a:solidFill>
                  </a:tcPr>
                </a:tc>
                <a:tc>
                  <a:txBody>
                    <a:bodyPr/>
                    <a:lstStyle/>
                    <a:p>
                      <a:pPr indent="0" marL="0">
                        <a:buNone/>
                      </a:pPr>
                      <a:r>
                        <a:rPr lang="en-US" sz="830" b="1" dirty="0">
                          <a:solidFill>
                            <a:srgbClr val="FFFFFF"/>
                          </a:solidFill>
                          <a:latin typeface="Arial" pitchFamily="34" charset="0"/>
                          <a:ea typeface="Arial" pitchFamily="34" charset="-122"/>
                          <a:cs typeface="Arial" pitchFamily="34" charset="-120"/>
                        </a:rPr>
                        <a:t>How it behaves</a:t>
                      </a:r>
                      <a:endParaRPr lang="en-US" sz="83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1A5336"/>
                    </a:solidFill>
                  </a:tcPr>
                </a:tc>
              </a:tr>
              <a:tr h="274320">
                <a:tc>
                  <a:txBody>
                    <a:bodyPr/>
                    <a:lstStyle/>
                    <a:p>
                      <a:pPr indent="0" marL="0">
                        <a:buNone/>
                      </a:pPr>
                      <a:r>
                        <a:rPr lang="en-US" sz="780" b="1" dirty="0">
                          <a:solidFill>
                            <a:srgbClr val="1E2522"/>
                          </a:solidFill>
                          <a:latin typeface="Arial" pitchFamily="34" charset="0"/>
                          <a:ea typeface="Arial" pitchFamily="34" charset="-122"/>
                          <a:cs typeface="Arial" pitchFamily="34" charset="-120"/>
                        </a:rPr>
                        <a:t>Spend gate</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Over $100K unlocks the Pipeline section; at or under $100K it is skipped entirely</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r>
              <a:tr h="274320">
                <a:tc>
                  <a:txBody>
                    <a:bodyPr/>
                    <a:lstStyle/>
                    <a:p>
                      <a:pPr indent="0" marL="0">
                        <a:buNone/>
                      </a:pPr>
                      <a:r>
                        <a:rPr lang="en-US" sz="780" b="1" dirty="0">
                          <a:solidFill>
                            <a:srgbClr val="1E2522"/>
                          </a:solidFill>
                          <a:latin typeface="Arial" pitchFamily="34" charset="0"/>
                          <a:ea typeface="Arial" pitchFamily="34" charset="-122"/>
                          <a:cs typeface="Arial" pitchFamily="34" charset="-120"/>
                        </a:rPr>
                        <a:t>MC classification</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Derived from the answers plus the exemption list. Never self-selected, and hidden from the submitter</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r>
              <a:tr h="274320">
                <a:tc>
                  <a:txBody>
                    <a:bodyPr/>
                    <a:lstStyle/>
                    <a:p>
                      <a:pPr indent="0" marL="0">
                        <a:buNone/>
                      </a:pPr>
                      <a:r>
                        <a:rPr lang="en-US" sz="780" b="1" dirty="0">
                          <a:solidFill>
                            <a:srgbClr val="1E2522"/>
                          </a:solidFill>
                          <a:latin typeface="Arial" pitchFamily="34" charset="0"/>
                          <a:ea typeface="Arial" pitchFamily="34" charset="-122"/>
                          <a:cs typeface="Arial" pitchFamily="34" charset="-120"/>
                        </a:rPr>
                        <a:t>Approval path</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Built from the Financial Approval Matrix; skip logic applies when no titled approver sits in the segment</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r>
              <a:tr h="274320">
                <a:tc>
                  <a:txBody>
                    <a:bodyPr/>
                    <a:lstStyle/>
                    <a:p>
                      <a:pPr indent="0" marL="0">
                        <a:buNone/>
                      </a:pPr>
                      <a:r>
                        <a:rPr lang="en-US" sz="780" b="1" dirty="0">
                          <a:solidFill>
                            <a:srgbClr val="1E2522"/>
                          </a:solidFill>
                          <a:latin typeface="Arial" pitchFamily="34" charset="0"/>
                          <a:ea typeface="Arial" pitchFamily="34" charset="-122"/>
                          <a:cs typeface="Arial" pitchFamily="34" charset="-120"/>
                        </a:rPr>
                        <a:t>Integrity controls</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One active agenda per request; no self-approval; approvers cannot edit requestor data</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r>
              <a:tr h="274320">
                <a:tc>
                  <a:txBody>
                    <a:bodyPr/>
                    <a:lstStyle/>
                    <a:p>
                      <a:pPr indent="0" marL="0">
                        <a:buNone/>
                      </a:pPr>
                      <a:r>
                        <a:rPr lang="en-US" sz="780" b="1" dirty="0">
                          <a:solidFill>
                            <a:srgbClr val="1E2522"/>
                          </a:solidFill>
                          <a:latin typeface="Arial" pitchFamily="34" charset="0"/>
                          <a:ea typeface="Arial" pitchFamily="34" charset="-122"/>
                          <a:cs typeface="Arial" pitchFamily="34" charset="-120"/>
                        </a:rPr>
                        <a:t>Change control</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Approved Pipeline values are immutable; final SPID values are compared and differences flagged</a:t>
                      </a:r>
                      <a:endParaRPr lang="en-US" sz="7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r>
            </a:tbl>
          </a:graphicData>
        </a:graphic>
      </p:graphicFrame>
      <p:sp>
        <p:nvSpPr>
          <p:cNvPr id="50" name="Text 46"/>
          <p:cNvSpPr/>
          <p:nvPr/>
        </p:nvSpPr>
        <p:spPr>
          <a:xfrm>
            <a:off x="411480" y="6455664"/>
            <a:ext cx="2743200" cy="237744"/>
          </a:xfrm>
          <a:prstGeom prst="rect">
            <a:avLst/>
          </a:prstGeom>
          <a:noFill/>
          <a:ln/>
        </p:spPr>
        <p:txBody>
          <a:bodyPr wrap="square" lIns="0" tIns="0" rIns="0" bIns="0" rtlCol="0" anchor="ctr"/>
          <a:lstStyle/>
          <a:p>
            <a:pPr algn="l" indent="0" marL="0">
              <a:buNone/>
            </a:pPr>
            <a:r>
              <a:rPr lang="en-US" sz="800" dirty="0">
                <a:solidFill>
                  <a:srgbClr val="9AA6A0"/>
                </a:solidFill>
                <a:latin typeface="Arial" pitchFamily="34" charset="0"/>
                <a:ea typeface="Arial" pitchFamily="34" charset="-122"/>
                <a:cs typeface="Arial" pitchFamily="34" charset="-120"/>
              </a:rPr>
              <a:t>Internal / Interne</a:t>
            </a:r>
            <a:endParaRPr lang="en-US" sz="800" dirty="0"/>
          </a:p>
        </p:txBody>
      </p:sp>
      <p:sp>
        <p:nvSpPr>
          <p:cNvPr id="51" name="Text 47"/>
          <p:cNvSpPr/>
          <p:nvPr/>
        </p:nvSpPr>
        <p:spPr>
          <a:xfrm>
            <a:off x="10863072" y="6455664"/>
            <a:ext cx="914400" cy="237744"/>
          </a:xfrm>
          <a:prstGeom prst="rect">
            <a:avLst/>
          </a:prstGeom>
          <a:noFill/>
          <a:ln/>
        </p:spPr>
        <p:txBody>
          <a:bodyPr wrap="square" lIns="0" tIns="0" rIns="0" bIns="0" rtlCol="0" anchor="ctr"/>
          <a:lstStyle/>
          <a:p>
            <a:pPr algn="r" indent="0" marL="0">
              <a:buNone/>
            </a:pPr>
            <a:r>
              <a:rPr lang="en-US" sz="800" dirty="0">
                <a:solidFill>
                  <a:srgbClr val="9AA6A0"/>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11480" y="237744"/>
            <a:ext cx="11365992" cy="201168"/>
          </a:xfrm>
          <a:prstGeom prst="rect">
            <a:avLst/>
          </a:prstGeom>
          <a:noFill/>
          <a:ln/>
        </p:spPr>
        <p:txBody>
          <a:bodyPr wrap="square" lIns="0" tIns="0" rIns="0" bIns="0" rtlCol="0" anchor="ctr"/>
          <a:lstStyle/>
          <a:p>
            <a:pPr indent="0" marL="0">
              <a:buNone/>
            </a:pPr>
            <a:r>
              <a:rPr lang="en-US" sz="950" b="1" spc="160" kern="0" dirty="0">
                <a:solidFill>
                  <a:srgbClr val="008A00"/>
                </a:solidFill>
                <a:latin typeface="Arial" pitchFamily="34" charset="0"/>
                <a:ea typeface="Arial" pitchFamily="34" charset="-122"/>
                <a:cs typeface="Arial" pitchFamily="34" charset="-120"/>
              </a:rPr>
              <a:t>DECISION VIEW</a:t>
            </a:r>
            <a:endParaRPr lang="en-US" sz="950" dirty="0"/>
          </a:p>
        </p:txBody>
      </p:sp>
      <p:sp>
        <p:nvSpPr>
          <p:cNvPr id="3" name="Text 1"/>
          <p:cNvSpPr/>
          <p:nvPr/>
        </p:nvSpPr>
        <p:spPr>
          <a:xfrm>
            <a:off x="411480" y="420624"/>
            <a:ext cx="11365992" cy="475488"/>
          </a:xfrm>
          <a:prstGeom prst="rect">
            <a:avLst/>
          </a:prstGeom>
          <a:noFill/>
          <a:ln/>
        </p:spPr>
        <p:txBody>
          <a:bodyPr wrap="square" lIns="0" tIns="0" rIns="0" bIns="0" rtlCol="0" anchor="ctr"/>
          <a:lstStyle/>
          <a:p>
            <a:pPr indent="0" marL="0">
              <a:buNone/>
            </a:pPr>
            <a:r>
              <a:rPr lang="en-US" sz="2500" b="1" dirty="0">
                <a:solidFill>
                  <a:srgbClr val="1A5336"/>
                </a:solidFill>
                <a:latin typeface="Arial" pitchFamily="34" charset="0"/>
                <a:ea typeface="Arial" pitchFamily="34" charset="-122"/>
                <a:cs typeface="Arial" pitchFamily="34" charset="-120"/>
              </a:rPr>
              <a:t>EMS today vs USF MVP1</a:t>
            </a:r>
            <a:endParaRPr lang="en-US" sz="2500" dirty="0"/>
          </a:p>
        </p:txBody>
      </p:sp>
      <p:sp>
        <p:nvSpPr>
          <p:cNvPr id="4" name="Text 2"/>
          <p:cNvSpPr/>
          <p:nvPr/>
        </p:nvSpPr>
        <p:spPr>
          <a:xfrm>
            <a:off x="411480" y="896112"/>
            <a:ext cx="11365992" cy="237744"/>
          </a:xfrm>
          <a:prstGeom prst="rect">
            <a:avLst/>
          </a:prstGeom>
          <a:noFill/>
          <a:ln/>
        </p:spPr>
        <p:txBody>
          <a:bodyPr wrap="square" lIns="0" tIns="0" rIns="0" bIns="0" rtlCol="0" anchor="ctr"/>
          <a:lstStyle/>
          <a:p>
            <a:pPr indent="0" marL="0">
              <a:buNone/>
            </a:pPr>
            <a:r>
              <a:rPr lang="en-US" sz="1150" i="1" dirty="0">
                <a:solidFill>
                  <a:srgbClr val="1E2522"/>
                </a:solidFill>
                <a:latin typeface="Arial" pitchFamily="34" charset="0"/>
                <a:ea typeface="Arial" pitchFamily="34" charset="-122"/>
                <a:cs typeface="Arial" pitchFamily="34" charset="-120"/>
              </a:rPr>
              <a:t>The gain is in the colleague experience and data integrity. The approval burden is set by expense policy and stays out of scope for MVP1.</a:t>
            </a:r>
            <a:endParaRPr lang="en-US" sz="1150" dirty="0"/>
          </a:p>
        </p:txBody>
      </p:sp>
      <p:sp>
        <p:nvSpPr>
          <p:cNvPr id="5" name="Shape 3"/>
          <p:cNvSpPr/>
          <p:nvPr/>
        </p:nvSpPr>
        <p:spPr>
          <a:xfrm>
            <a:off x="411480" y="1371600"/>
            <a:ext cx="1783080" cy="3767328"/>
          </a:xfrm>
          <a:prstGeom prst="roundRect">
            <a:avLst>
              <a:gd name="adj" fmla="val 4615"/>
            </a:avLst>
          </a:prstGeom>
          <a:solidFill>
            <a:srgbClr val="1A5336"/>
          </a:solidFill>
          <a:ln w="12700">
            <a:solidFill>
              <a:srgbClr val="1A5336"/>
            </a:solidFill>
            <a:prstDash val="solid"/>
          </a:ln>
        </p:spPr>
      </p:sp>
      <p:sp>
        <p:nvSpPr>
          <p:cNvPr id="6" name="Shape 4"/>
          <p:cNvSpPr/>
          <p:nvPr/>
        </p:nvSpPr>
        <p:spPr>
          <a:xfrm>
            <a:off x="457200" y="1417320"/>
            <a:ext cx="11274552" cy="274320"/>
          </a:xfrm>
          <a:prstGeom prst="roundRect">
            <a:avLst>
              <a:gd name="adj" fmla="val 36667"/>
            </a:avLst>
          </a:prstGeom>
          <a:solidFill>
            <a:srgbClr val="FFFFFF"/>
          </a:solidFill>
          <a:ln w="9525">
            <a:solidFill>
              <a:srgbClr val="D3DDD7"/>
            </a:solidFill>
            <a:prstDash val="solid"/>
          </a:ln>
        </p:spPr>
      </p:sp>
      <p:sp>
        <p:nvSpPr>
          <p:cNvPr id="7" name="Text 5"/>
          <p:cNvSpPr/>
          <p:nvPr/>
        </p:nvSpPr>
        <p:spPr>
          <a:xfrm>
            <a:off x="557784" y="1417320"/>
            <a:ext cx="1581912" cy="274320"/>
          </a:xfrm>
          <a:prstGeom prst="rect">
            <a:avLst/>
          </a:prstGeom>
          <a:noFill/>
          <a:ln/>
        </p:spPr>
        <p:txBody>
          <a:bodyPr wrap="square" lIns="0" tIns="0" rIns="0" bIns="0" rtlCol="0" anchor="ctr"/>
          <a:lstStyle/>
          <a:p>
            <a:pPr indent="0" marL="0">
              <a:buNone/>
            </a:pPr>
            <a:r>
              <a:rPr lang="en-US" sz="950" b="1" dirty="0">
                <a:solidFill>
                  <a:srgbClr val="1A5336"/>
                </a:solidFill>
                <a:latin typeface="Arial" pitchFamily="34" charset="0"/>
                <a:ea typeface="Arial" pitchFamily="34" charset="-122"/>
                <a:cs typeface="Arial" pitchFamily="34" charset="-120"/>
              </a:rPr>
              <a:t>Area</a:t>
            </a:r>
            <a:endParaRPr lang="en-US" sz="950" dirty="0"/>
          </a:p>
        </p:txBody>
      </p:sp>
      <p:sp>
        <p:nvSpPr>
          <p:cNvPr id="8" name="Text 6"/>
          <p:cNvSpPr/>
          <p:nvPr/>
        </p:nvSpPr>
        <p:spPr>
          <a:xfrm>
            <a:off x="2322576" y="1417320"/>
            <a:ext cx="4517136" cy="274320"/>
          </a:xfrm>
          <a:prstGeom prst="rect">
            <a:avLst/>
          </a:prstGeom>
          <a:noFill/>
          <a:ln/>
        </p:spPr>
        <p:txBody>
          <a:bodyPr wrap="square" lIns="0" tIns="0" rIns="0" bIns="0" rtlCol="0" anchor="ctr"/>
          <a:lstStyle/>
          <a:p>
            <a:pPr indent="0" marL="0">
              <a:buNone/>
            </a:pPr>
            <a:r>
              <a:rPr lang="en-US" sz="950" b="1" dirty="0">
                <a:solidFill>
                  <a:srgbClr val="1A5336"/>
                </a:solidFill>
                <a:latin typeface="Arial" pitchFamily="34" charset="0"/>
                <a:ea typeface="Arial" pitchFamily="34" charset="-122"/>
                <a:cs typeface="Arial" pitchFamily="34" charset="-120"/>
              </a:rPr>
              <a:t>Today  -  EMS, Pipeline, offline Excel, SPID</a:t>
            </a:r>
            <a:endParaRPr lang="en-US" sz="950" dirty="0"/>
          </a:p>
        </p:txBody>
      </p:sp>
      <p:sp>
        <p:nvSpPr>
          <p:cNvPr id="9" name="Text 7"/>
          <p:cNvSpPr/>
          <p:nvPr/>
        </p:nvSpPr>
        <p:spPr>
          <a:xfrm>
            <a:off x="7095744" y="1417320"/>
            <a:ext cx="4553712" cy="274320"/>
          </a:xfrm>
          <a:prstGeom prst="rect">
            <a:avLst/>
          </a:prstGeom>
          <a:noFill/>
          <a:ln/>
        </p:spPr>
        <p:txBody>
          <a:bodyPr wrap="square" lIns="0" tIns="0" rIns="0" bIns="0" rtlCol="0" anchor="ctr"/>
          <a:lstStyle/>
          <a:p>
            <a:pPr indent="0" marL="0">
              <a:buNone/>
            </a:pPr>
            <a:r>
              <a:rPr lang="en-US" sz="950" b="1" dirty="0">
                <a:solidFill>
                  <a:srgbClr val="1A5336"/>
                </a:solidFill>
                <a:latin typeface="Arial" pitchFamily="34" charset="0"/>
                <a:ea typeface="Arial" pitchFamily="34" charset="-122"/>
                <a:cs typeface="Arial" pitchFamily="34" charset="-120"/>
              </a:rPr>
              <a:t>MVP1  -  USF unified intake</a:t>
            </a:r>
            <a:endParaRPr lang="en-US" sz="950" dirty="0"/>
          </a:p>
        </p:txBody>
      </p:sp>
      <p:sp>
        <p:nvSpPr>
          <p:cNvPr id="10" name="Text 8"/>
          <p:cNvSpPr/>
          <p:nvPr/>
        </p:nvSpPr>
        <p:spPr>
          <a:xfrm>
            <a:off x="557784" y="1737360"/>
            <a:ext cx="1545336" cy="566928"/>
          </a:xfrm>
          <a:prstGeom prst="rect">
            <a:avLst/>
          </a:prstGeom>
          <a:noFill/>
          <a:ln/>
        </p:spPr>
        <p:txBody>
          <a:bodyPr wrap="square" lIns="0" tIns="0" rIns="0" bIns="0" rtlCol="0" anchor="ctr"/>
          <a:lstStyle/>
          <a:p>
            <a:pPr indent="0" marL="0">
              <a:lnSpc>
                <a:spcPct val="98000"/>
              </a:lnSpc>
              <a:buNone/>
            </a:pPr>
            <a:r>
              <a:rPr lang="en-US" sz="900" b="1" dirty="0">
                <a:solidFill>
                  <a:srgbClr val="FFFFFF"/>
                </a:solidFill>
                <a:latin typeface="Arial" pitchFamily="34" charset="0"/>
                <a:ea typeface="Arial" pitchFamily="34" charset="-122"/>
                <a:cs typeface="Arial" pitchFamily="34" charset="-120"/>
              </a:rPr>
              <a:t>Front door</a:t>
            </a:r>
            <a:endParaRPr lang="en-US" sz="900" dirty="0"/>
          </a:p>
        </p:txBody>
      </p:sp>
      <p:sp>
        <p:nvSpPr>
          <p:cNvPr id="11" name="Shape 9"/>
          <p:cNvSpPr/>
          <p:nvPr/>
        </p:nvSpPr>
        <p:spPr>
          <a:xfrm>
            <a:off x="557784" y="2304288"/>
            <a:ext cx="1490472" cy="0"/>
          </a:xfrm>
          <a:prstGeom prst="line">
            <a:avLst/>
          </a:prstGeom>
          <a:noFill/>
          <a:ln w="9525">
            <a:solidFill>
              <a:srgbClr val="3D7355"/>
            </a:solidFill>
            <a:prstDash val="solid"/>
          </a:ln>
        </p:spPr>
      </p:sp>
      <p:sp>
        <p:nvSpPr>
          <p:cNvPr id="12" name="Shape 10"/>
          <p:cNvSpPr/>
          <p:nvPr/>
        </p:nvSpPr>
        <p:spPr>
          <a:xfrm>
            <a:off x="2258568" y="1772564"/>
            <a:ext cx="4645152" cy="496519"/>
          </a:xfrm>
          <a:prstGeom prst="roundRect">
            <a:avLst>
              <a:gd name="adj" fmla="val 14733"/>
            </a:avLst>
          </a:prstGeom>
          <a:solidFill>
            <a:srgbClr val="FDF6EC"/>
          </a:solidFill>
          <a:ln w="9525">
            <a:solidFill>
              <a:srgbClr val="EEDEC5"/>
            </a:solidFill>
            <a:prstDash val="solid"/>
          </a:ln>
        </p:spPr>
      </p:sp>
      <p:sp>
        <p:nvSpPr>
          <p:cNvPr id="13" name="Text 11"/>
          <p:cNvSpPr/>
          <p:nvPr/>
        </p:nvSpPr>
        <p:spPr>
          <a:xfrm>
            <a:off x="2359152" y="1772564"/>
            <a:ext cx="4443984" cy="496519"/>
          </a:xfrm>
          <a:prstGeom prst="rect">
            <a:avLst/>
          </a:prstGeom>
          <a:noFill/>
          <a:ln/>
        </p:spPr>
        <p:txBody>
          <a:bodyPr wrap="square" lIns="0" tIns="0" rIns="0" bIns="0" rtlCol="0" anchor="ctr"/>
          <a:lstStyle/>
          <a:p>
            <a:pPr indent="0" marL="0">
              <a:lnSpc>
                <a:spcPct val="102000"/>
              </a:lnSpc>
              <a:buNone/>
            </a:pPr>
            <a:r>
              <a:rPr lang="en-US" sz="840" dirty="0">
                <a:solidFill>
                  <a:srgbClr val="1E2522"/>
                </a:solidFill>
                <a:latin typeface="Arial" pitchFamily="34" charset="0"/>
                <a:ea typeface="Arial" pitchFamily="34" charset="-122"/>
                <a:cs typeface="Arial" pitchFamily="34" charset="-120"/>
              </a:rPr>
              <a:t>EMS SharePoint page, then a Power App that triages into one of five request types</a:t>
            </a:r>
            <a:endParaRPr lang="en-US" sz="840" dirty="0"/>
          </a:p>
        </p:txBody>
      </p:sp>
      <p:sp>
        <p:nvSpPr>
          <p:cNvPr id="14" name="Shape 12"/>
          <p:cNvSpPr/>
          <p:nvPr/>
        </p:nvSpPr>
        <p:spPr>
          <a:xfrm>
            <a:off x="7031736" y="1772564"/>
            <a:ext cx="4681728" cy="496519"/>
          </a:xfrm>
          <a:prstGeom prst="roundRect">
            <a:avLst>
              <a:gd name="adj" fmla="val 14733"/>
            </a:avLst>
          </a:prstGeom>
          <a:solidFill>
            <a:srgbClr val="F1F7F3"/>
          </a:solidFill>
          <a:ln w="9525">
            <a:solidFill>
              <a:srgbClr val="CFE0D6"/>
            </a:solidFill>
            <a:prstDash val="solid"/>
          </a:ln>
        </p:spPr>
      </p:sp>
      <p:sp>
        <p:nvSpPr>
          <p:cNvPr id="15" name="Text 13"/>
          <p:cNvSpPr/>
          <p:nvPr/>
        </p:nvSpPr>
        <p:spPr>
          <a:xfrm>
            <a:off x="7132320" y="1772564"/>
            <a:ext cx="4480560" cy="496519"/>
          </a:xfrm>
          <a:prstGeom prst="rect">
            <a:avLst/>
          </a:prstGeom>
          <a:noFill/>
          <a:ln/>
        </p:spPr>
        <p:txBody>
          <a:bodyPr wrap="square" lIns="0" tIns="0" rIns="0" bIns="0" rtlCol="0" anchor="ctr"/>
          <a:lstStyle/>
          <a:p>
            <a:pPr indent="0" marL="0">
              <a:lnSpc>
                <a:spcPct val="102000"/>
              </a:lnSpc>
              <a:buNone/>
            </a:pPr>
            <a:r>
              <a:rPr lang="en-US" sz="840" dirty="0">
                <a:solidFill>
                  <a:srgbClr val="1E2522"/>
                </a:solidFill>
                <a:latin typeface="Arial" pitchFamily="34" charset="0"/>
                <a:ea typeface="Arial" pitchFamily="34" charset="-122"/>
                <a:cs typeface="Arial" pitchFamily="34" charset="-120"/>
              </a:rPr>
              <a:t>One USF request. Vendor Expense selected once; GTS applicability derived by the system</a:t>
            </a:r>
            <a:endParaRPr lang="en-US" sz="840" dirty="0"/>
          </a:p>
        </p:txBody>
      </p:sp>
      <p:sp>
        <p:nvSpPr>
          <p:cNvPr id="16" name="Text 14"/>
          <p:cNvSpPr/>
          <p:nvPr/>
        </p:nvSpPr>
        <p:spPr>
          <a:xfrm>
            <a:off x="557784" y="2304288"/>
            <a:ext cx="1545336" cy="566928"/>
          </a:xfrm>
          <a:prstGeom prst="rect">
            <a:avLst/>
          </a:prstGeom>
          <a:noFill/>
          <a:ln/>
        </p:spPr>
        <p:txBody>
          <a:bodyPr wrap="square" lIns="0" tIns="0" rIns="0" bIns="0" rtlCol="0" anchor="ctr"/>
          <a:lstStyle/>
          <a:p>
            <a:pPr indent="0" marL="0">
              <a:lnSpc>
                <a:spcPct val="98000"/>
              </a:lnSpc>
              <a:buNone/>
            </a:pPr>
            <a:r>
              <a:rPr lang="en-US" sz="900" b="1" dirty="0">
                <a:solidFill>
                  <a:srgbClr val="FFFFFF"/>
                </a:solidFill>
                <a:latin typeface="Arial" pitchFamily="34" charset="0"/>
                <a:ea typeface="Arial" pitchFamily="34" charset="-122"/>
                <a:cs typeface="Arial" pitchFamily="34" charset="-120"/>
              </a:rPr>
              <a:t>Data entry</a:t>
            </a:r>
            <a:endParaRPr lang="en-US" sz="900" dirty="0"/>
          </a:p>
        </p:txBody>
      </p:sp>
      <p:sp>
        <p:nvSpPr>
          <p:cNvPr id="17" name="Shape 15"/>
          <p:cNvSpPr/>
          <p:nvPr/>
        </p:nvSpPr>
        <p:spPr>
          <a:xfrm>
            <a:off x="557784" y="2871216"/>
            <a:ext cx="1490472" cy="0"/>
          </a:xfrm>
          <a:prstGeom prst="line">
            <a:avLst/>
          </a:prstGeom>
          <a:noFill/>
          <a:ln w="9525">
            <a:solidFill>
              <a:srgbClr val="3D7355"/>
            </a:solidFill>
            <a:prstDash val="solid"/>
          </a:ln>
        </p:spPr>
      </p:sp>
      <p:sp>
        <p:nvSpPr>
          <p:cNvPr id="18" name="Shape 16"/>
          <p:cNvSpPr/>
          <p:nvPr/>
        </p:nvSpPr>
        <p:spPr>
          <a:xfrm>
            <a:off x="2258568" y="2339492"/>
            <a:ext cx="4645152" cy="496519"/>
          </a:xfrm>
          <a:prstGeom prst="roundRect">
            <a:avLst>
              <a:gd name="adj" fmla="val 14733"/>
            </a:avLst>
          </a:prstGeom>
          <a:solidFill>
            <a:srgbClr val="FDF6EC"/>
          </a:solidFill>
          <a:ln w="9525">
            <a:solidFill>
              <a:srgbClr val="EEDEC5"/>
            </a:solidFill>
            <a:prstDash val="solid"/>
          </a:ln>
        </p:spPr>
      </p:sp>
      <p:sp>
        <p:nvSpPr>
          <p:cNvPr id="19" name="Text 17"/>
          <p:cNvSpPr/>
          <p:nvPr/>
        </p:nvSpPr>
        <p:spPr>
          <a:xfrm>
            <a:off x="2359152" y="2339492"/>
            <a:ext cx="4443984" cy="496519"/>
          </a:xfrm>
          <a:prstGeom prst="rect">
            <a:avLst/>
          </a:prstGeom>
          <a:noFill/>
          <a:ln/>
        </p:spPr>
        <p:txBody>
          <a:bodyPr wrap="square" lIns="0" tIns="0" rIns="0" bIns="0" rtlCol="0" anchor="ctr"/>
          <a:lstStyle/>
          <a:p>
            <a:pPr indent="0" marL="0">
              <a:lnSpc>
                <a:spcPct val="102000"/>
              </a:lnSpc>
              <a:buNone/>
            </a:pPr>
            <a:r>
              <a:rPr lang="en-US" sz="840" dirty="0">
                <a:solidFill>
                  <a:srgbClr val="1E2522"/>
                </a:solidFill>
                <a:latin typeface="Arial" pitchFamily="34" charset="0"/>
                <a:ea typeface="Arial" pitchFamily="34" charset="-122"/>
                <a:cs typeface="Arial" pitchFamily="34" charset="-120"/>
              </a:rPr>
              <a:t>Overlapping fields re-asked across Pipeline, the sourcing intake and SPID</a:t>
            </a:r>
            <a:endParaRPr lang="en-US" sz="840" dirty="0"/>
          </a:p>
        </p:txBody>
      </p:sp>
      <p:sp>
        <p:nvSpPr>
          <p:cNvPr id="20" name="Shape 18"/>
          <p:cNvSpPr/>
          <p:nvPr/>
        </p:nvSpPr>
        <p:spPr>
          <a:xfrm>
            <a:off x="7031736" y="2339492"/>
            <a:ext cx="4681728" cy="496519"/>
          </a:xfrm>
          <a:prstGeom prst="roundRect">
            <a:avLst>
              <a:gd name="adj" fmla="val 14733"/>
            </a:avLst>
          </a:prstGeom>
          <a:solidFill>
            <a:srgbClr val="F1F7F3"/>
          </a:solidFill>
          <a:ln w="9525">
            <a:solidFill>
              <a:srgbClr val="CFE0D6"/>
            </a:solidFill>
            <a:prstDash val="solid"/>
          </a:ln>
        </p:spPr>
      </p:sp>
      <p:sp>
        <p:nvSpPr>
          <p:cNvPr id="21" name="Text 19"/>
          <p:cNvSpPr/>
          <p:nvPr/>
        </p:nvSpPr>
        <p:spPr>
          <a:xfrm>
            <a:off x="7132320" y="2339492"/>
            <a:ext cx="4480560" cy="496519"/>
          </a:xfrm>
          <a:prstGeom prst="rect">
            <a:avLst/>
          </a:prstGeom>
          <a:noFill/>
          <a:ln/>
        </p:spPr>
        <p:txBody>
          <a:bodyPr wrap="square" lIns="0" tIns="0" rIns="0" bIns="0" rtlCol="0" anchor="ctr"/>
          <a:lstStyle/>
          <a:p>
            <a:pPr indent="0" marL="0">
              <a:lnSpc>
                <a:spcPct val="102000"/>
              </a:lnSpc>
              <a:buNone/>
            </a:pPr>
            <a:r>
              <a:rPr lang="en-US" sz="840" dirty="0">
                <a:solidFill>
                  <a:srgbClr val="1E2522"/>
                </a:solidFill>
                <a:latin typeface="Arial" pitchFamily="34" charset="0"/>
                <a:ea typeface="Arial" pitchFamily="34" charset="-122"/>
                <a:cs typeface="Arial" pitchFamily="34" charset="-120"/>
              </a:rPr>
              <a:t>Asked once and reused. Stage snapshots kept so nothing is overwritten</a:t>
            </a:r>
            <a:endParaRPr lang="en-US" sz="840" dirty="0"/>
          </a:p>
        </p:txBody>
      </p:sp>
      <p:sp>
        <p:nvSpPr>
          <p:cNvPr id="22" name="Text 20"/>
          <p:cNvSpPr/>
          <p:nvPr/>
        </p:nvSpPr>
        <p:spPr>
          <a:xfrm>
            <a:off x="557784" y="2871216"/>
            <a:ext cx="1545336" cy="566928"/>
          </a:xfrm>
          <a:prstGeom prst="rect">
            <a:avLst/>
          </a:prstGeom>
          <a:noFill/>
          <a:ln/>
        </p:spPr>
        <p:txBody>
          <a:bodyPr wrap="square" lIns="0" tIns="0" rIns="0" bIns="0" rtlCol="0" anchor="ctr"/>
          <a:lstStyle/>
          <a:p>
            <a:pPr indent="0" marL="0">
              <a:lnSpc>
                <a:spcPct val="98000"/>
              </a:lnSpc>
              <a:buNone/>
            </a:pPr>
            <a:r>
              <a:rPr lang="en-US" sz="900" b="1" dirty="0">
                <a:solidFill>
                  <a:srgbClr val="FFFFFF"/>
                </a:solidFill>
                <a:latin typeface="Arial" pitchFamily="34" charset="0"/>
                <a:ea typeface="Arial" pitchFamily="34" charset="-122"/>
                <a:cs typeface="Arial" pitchFamily="34" charset="-120"/>
              </a:rPr>
              <a:t>Management Consulting</a:t>
            </a:r>
            <a:endParaRPr lang="en-US" sz="900" dirty="0"/>
          </a:p>
        </p:txBody>
      </p:sp>
      <p:sp>
        <p:nvSpPr>
          <p:cNvPr id="23" name="Shape 21"/>
          <p:cNvSpPr/>
          <p:nvPr/>
        </p:nvSpPr>
        <p:spPr>
          <a:xfrm>
            <a:off x="557784" y="3438144"/>
            <a:ext cx="1490472" cy="0"/>
          </a:xfrm>
          <a:prstGeom prst="line">
            <a:avLst/>
          </a:prstGeom>
          <a:noFill/>
          <a:ln w="9525">
            <a:solidFill>
              <a:srgbClr val="3D7355"/>
            </a:solidFill>
            <a:prstDash val="solid"/>
          </a:ln>
        </p:spPr>
      </p:sp>
      <p:sp>
        <p:nvSpPr>
          <p:cNvPr id="24" name="Shape 22"/>
          <p:cNvSpPr/>
          <p:nvPr/>
        </p:nvSpPr>
        <p:spPr>
          <a:xfrm>
            <a:off x="2258568" y="2906420"/>
            <a:ext cx="4645152" cy="496519"/>
          </a:xfrm>
          <a:prstGeom prst="roundRect">
            <a:avLst>
              <a:gd name="adj" fmla="val 14733"/>
            </a:avLst>
          </a:prstGeom>
          <a:solidFill>
            <a:srgbClr val="FDF6EC"/>
          </a:solidFill>
          <a:ln w="9525">
            <a:solidFill>
              <a:srgbClr val="EEDEC5"/>
            </a:solidFill>
            <a:prstDash val="solid"/>
          </a:ln>
        </p:spPr>
      </p:sp>
      <p:sp>
        <p:nvSpPr>
          <p:cNvPr id="25" name="Text 23"/>
          <p:cNvSpPr/>
          <p:nvPr/>
        </p:nvSpPr>
        <p:spPr>
          <a:xfrm>
            <a:off x="2359152" y="2906420"/>
            <a:ext cx="4443984" cy="496519"/>
          </a:xfrm>
          <a:prstGeom prst="rect">
            <a:avLst/>
          </a:prstGeom>
          <a:noFill/>
          <a:ln/>
        </p:spPr>
        <p:txBody>
          <a:bodyPr wrap="square" lIns="0" tIns="0" rIns="0" bIns="0" rtlCol="0" anchor="ctr"/>
          <a:lstStyle/>
          <a:p>
            <a:pPr indent="0" marL="0">
              <a:lnSpc>
                <a:spcPct val="102000"/>
              </a:lnSpc>
              <a:buNone/>
            </a:pPr>
            <a:r>
              <a:rPr lang="en-US" sz="840" dirty="0">
                <a:solidFill>
                  <a:srgbClr val="1E2522"/>
                </a:solidFill>
                <a:latin typeface="Arial" pitchFamily="34" charset="0"/>
                <a:ea typeface="Arial" pitchFamily="34" charset="-122"/>
                <a:cs typeface="Arial" pitchFamily="34" charset="-120"/>
              </a:rPr>
              <a:t>Offline Excel template plus the SEVP approval email, uploaded to the SR inside a hard 2-day SLA</a:t>
            </a:r>
            <a:endParaRPr lang="en-US" sz="840" dirty="0"/>
          </a:p>
        </p:txBody>
      </p:sp>
      <p:sp>
        <p:nvSpPr>
          <p:cNvPr id="26" name="Shape 24"/>
          <p:cNvSpPr/>
          <p:nvPr/>
        </p:nvSpPr>
        <p:spPr>
          <a:xfrm>
            <a:off x="7031736" y="2906420"/>
            <a:ext cx="4681728" cy="496519"/>
          </a:xfrm>
          <a:prstGeom prst="roundRect">
            <a:avLst>
              <a:gd name="adj" fmla="val 14733"/>
            </a:avLst>
          </a:prstGeom>
          <a:solidFill>
            <a:srgbClr val="F1F7F3"/>
          </a:solidFill>
          <a:ln w="9525">
            <a:solidFill>
              <a:srgbClr val="CFE0D6"/>
            </a:solidFill>
            <a:prstDash val="solid"/>
          </a:ln>
        </p:spPr>
      </p:sp>
      <p:sp>
        <p:nvSpPr>
          <p:cNvPr id="27" name="Text 25"/>
          <p:cNvSpPr/>
          <p:nvPr/>
        </p:nvSpPr>
        <p:spPr>
          <a:xfrm>
            <a:off x="7132320" y="2906420"/>
            <a:ext cx="4480560" cy="496519"/>
          </a:xfrm>
          <a:prstGeom prst="rect">
            <a:avLst/>
          </a:prstGeom>
          <a:noFill/>
          <a:ln/>
        </p:spPr>
        <p:txBody>
          <a:bodyPr wrap="square" lIns="0" tIns="0" rIns="0" bIns="0" rtlCol="0" anchor="ctr"/>
          <a:lstStyle/>
          <a:p>
            <a:pPr indent="0" marL="0">
              <a:lnSpc>
                <a:spcPct val="102000"/>
              </a:lnSpc>
              <a:buNone/>
            </a:pPr>
            <a:r>
              <a:rPr lang="en-US" sz="840" dirty="0">
                <a:solidFill>
                  <a:srgbClr val="1E2522"/>
                </a:solidFill>
                <a:latin typeface="Arial" pitchFamily="34" charset="0"/>
                <a:ea typeface="Arial" pitchFamily="34" charset="-122"/>
                <a:cs typeface="Arial" pitchFamily="34" charset="-120"/>
              </a:rPr>
              <a:t>Captured in the intake. MC is a system-derived flag; the submitter never selects it</a:t>
            </a:r>
            <a:endParaRPr lang="en-US" sz="840" dirty="0"/>
          </a:p>
        </p:txBody>
      </p:sp>
      <p:sp>
        <p:nvSpPr>
          <p:cNvPr id="28" name="Text 26"/>
          <p:cNvSpPr/>
          <p:nvPr/>
        </p:nvSpPr>
        <p:spPr>
          <a:xfrm>
            <a:off x="557784" y="3438144"/>
            <a:ext cx="1545336" cy="566928"/>
          </a:xfrm>
          <a:prstGeom prst="rect">
            <a:avLst/>
          </a:prstGeom>
          <a:noFill/>
          <a:ln/>
        </p:spPr>
        <p:txBody>
          <a:bodyPr wrap="square" lIns="0" tIns="0" rIns="0" bIns="0" rtlCol="0" anchor="ctr"/>
          <a:lstStyle/>
          <a:p>
            <a:pPr indent="0" marL="0">
              <a:lnSpc>
                <a:spcPct val="98000"/>
              </a:lnSpc>
              <a:buNone/>
            </a:pPr>
            <a:r>
              <a:rPr lang="en-US" sz="900" b="1" dirty="0">
                <a:solidFill>
                  <a:srgbClr val="FFFFFF"/>
                </a:solidFill>
                <a:latin typeface="Arial" pitchFamily="34" charset="0"/>
                <a:ea typeface="Arial" pitchFamily="34" charset="-122"/>
                <a:cs typeface="Arial" pitchFamily="34" charset="-120"/>
              </a:rPr>
              <a:t>Approvals</a:t>
            </a:r>
            <a:endParaRPr lang="en-US" sz="900" dirty="0"/>
          </a:p>
        </p:txBody>
      </p:sp>
      <p:sp>
        <p:nvSpPr>
          <p:cNvPr id="29" name="Shape 27"/>
          <p:cNvSpPr/>
          <p:nvPr/>
        </p:nvSpPr>
        <p:spPr>
          <a:xfrm>
            <a:off x="557784" y="4005072"/>
            <a:ext cx="1490472" cy="0"/>
          </a:xfrm>
          <a:prstGeom prst="line">
            <a:avLst/>
          </a:prstGeom>
          <a:noFill/>
          <a:ln w="9525">
            <a:solidFill>
              <a:srgbClr val="3D7355"/>
            </a:solidFill>
            <a:prstDash val="solid"/>
          </a:ln>
        </p:spPr>
      </p:sp>
      <p:sp>
        <p:nvSpPr>
          <p:cNvPr id="30" name="Shape 28"/>
          <p:cNvSpPr/>
          <p:nvPr/>
        </p:nvSpPr>
        <p:spPr>
          <a:xfrm>
            <a:off x="2258568" y="3473348"/>
            <a:ext cx="4645152" cy="496519"/>
          </a:xfrm>
          <a:prstGeom prst="roundRect">
            <a:avLst>
              <a:gd name="adj" fmla="val 14733"/>
            </a:avLst>
          </a:prstGeom>
          <a:solidFill>
            <a:srgbClr val="FDF6EC"/>
          </a:solidFill>
          <a:ln w="9525">
            <a:solidFill>
              <a:srgbClr val="EEDEC5"/>
            </a:solidFill>
            <a:prstDash val="solid"/>
          </a:ln>
        </p:spPr>
      </p:sp>
      <p:sp>
        <p:nvSpPr>
          <p:cNvPr id="31" name="Text 29"/>
          <p:cNvSpPr/>
          <p:nvPr/>
        </p:nvSpPr>
        <p:spPr>
          <a:xfrm>
            <a:off x="2359152" y="3473348"/>
            <a:ext cx="4443984" cy="496519"/>
          </a:xfrm>
          <a:prstGeom prst="rect">
            <a:avLst/>
          </a:prstGeom>
          <a:noFill/>
          <a:ln/>
        </p:spPr>
        <p:txBody>
          <a:bodyPr wrap="square" lIns="0" tIns="0" rIns="0" bIns="0" rtlCol="0" anchor="ctr"/>
          <a:lstStyle/>
          <a:p>
            <a:pPr indent="0" marL="0">
              <a:lnSpc>
                <a:spcPct val="102000"/>
              </a:lnSpc>
              <a:buNone/>
            </a:pPr>
            <a:r>
              <a:rPr lang="en-US" sz="840" dirty="0">
                <a:solidFill>
                  <a:srgbClr val="1E2522"/>
                </a:solidFill>
                <a:latin typeface="Arial" pitchFamily="34" charset="0"/>
                <a:ea typeface="Arial" pitchFamily="34" charset="-122"/>
                <a:cs typeface="Arial" pitchFamily="34" charset="-120"/>
              </a:rPr>
              <a:t>12 agenda meetings. BOM Leads track items on a separate site; decisions land back in the app by hand</a:t>
            </a:r>
            <a:endParaRPr lang="en-US" sz="840" dirty="0"/>
          </a:p>
        </p:txBody>
      </p:sp>
      <p:sp>
        <p:nvSpPr>
          <p:cNvPr id="32" name="Shape 30"/>
          <p:cNvSpPr/>
          <p:nvPr/>
        </p:nvSpPr>
        <p:spPr>
          <a:xfrm>
            <a:off x="7031736" y="3473348"/>
            <a:ext cx="4681728" cy="496519"/>
          </a:xfrm>
          <a:prstGeom prst="roundRect">
            <a:avLst>
              <a:gd name="adj" fmla="val 14733"/>
            </a:avLst>
          </a:prstGeom>
          <a:solidFill>
            <a:srgbClr val="F1F7F3"/>
          </a:solidFill>
          <a:ln w="9525">
            <a:solidFill>
              <a:srgbClr val="CFE0D6"/>
            </a:solidFill>
            <a:prstDash val="solid"/>
          </a:ln>
        </p:spPr>
      </p:sp>
      <p:sp>
        <p:nvSpPr>
          <p:cNvPr id="33" name="Text 31"/>
          <p:cNvSpPr/>
          <p:nvPr/>
        </p:nvSpPr>
        <p:spPr>
          <a:xfrm>
            <a:off x="7132320" y="3473348"/>
            <a:ext cx="4480560" cy="496519"/>
          </a:xfrm>
          <a:prstGeom prst="rect">
            <a:avLst/>
          </a:prstGeom>
          <a:noFill/>
          <a:ln/>
        </p:spPr>
        <p:txBody>
          <a:bodyPr wrap="square" lIns="0" tIns="0" rIns="0" bIns="0" rtlCol="0" anchor="ctr"/>
          <a:lstStyle/>
          <a:p>
            <a:pPr indent="0" marL="0">
              <a:lnSpc>
                <a:spcPct val="102000"/>
              </a:lnSpc>
              <a:buNone/>
            </a:pPr>
            <a:r>
              <a:rPr lang="en-US" sz="840" dirty="0">
                <a:solidFill>
                  <a:srgbClr val="1E2522"/>
                </a:solidFill>
                <a:latin typeface="Arial" pitchFamily="34" charset="0"/>
                <a:ea typeface="Arial" pitchFamily="34" charset="-122"/>
                <a:cs typeface="Arial" pitchFamily="34" charset="-120"/>
              </a:rPr>
              <a:t>Still 12 meetings, but the agenda queue, decision, comments and stamped date all live in the app</a:t>
            </a:r>
            <a:endParaRPr lang="en-US" sz="840" dirty="0"/>
          </a:p>
        </p:txBody>
      </p:sp>
      <p:sp>
        <p:nvSpPr>
          <p:cNvPr id="34" name="Text 32"/>
          <p:cNvSpPr/>
          <p:nvPr/>
        </p:nvSpPr>
        <p:spPr>
          <a:xfrm>
            <a:off x="557784" y="4005072"/>
            <a:ext cx="1545336" cy="566928"/>
          </a:xfrm>
          <a:prstGeom prst="rect">
            <a:avLst/>
          </a:prstGeom>
          <a:noFill/>
          <a:ln/>
        </p:spPr>
        <p:txBody>
          <a:bodyPr wrap="square" lIns="0" tIns="0" rIns="0" bIns="0" rtlCol="0" anchor="ctr"/>
          <a:lstStyle/>
          <a:p>
            <a:pPr indent="0" marL="0">
              <a:lnSpc>
                <a:spcPct val="98000"/>
              </a:lnSpc>
              <a:buNone/>
            </a:pPr>
            <a:r>
              <a:rPr lang="en-US" sz="900" b="1" dirty="0">
                <a:solidFill>
                  <a:srgbClr val="FFFFFF"/>
                </a:solidFill>
                <a:latin typeface="Arial" pitchFamily="34" charset="0"/>
                <a:ea typeface="Arial" pitchFamily="34" charset="-122"/>
                <a:cs typeface="Arial" pitchFamily="34" charset="-120"/>
              </a:rPr>
              <a:t>Between stages</a:t>
            </a:r>
            <a:endParaRPr lang="en-US" sz="900" dirty="0"/>
          </a:p>
        </p:txBody>
      </p:sp>
      <p:sp>
        <p:nvSpPr>
          <p:cNvPr id="35" name="Shape 33"/>
          <p:cNvSpPr/>
          <p:nvPr/>
        </p:nvSpPr>
        <p:spPr>
          <a:xfrm>
            <a:off x="557784" y="4572000"/>
            <a:ext cx="1490472" cy="0"/>
          </a:xfrm>
          <a:prstGeom prst="line">
            <a:avLst/>
          </a:prstGeom>
          <a:noFill/>
          <a:ln w="9525">
            <a:solidFill>
              <a:srgbClr val="3D7355"/>
            </a:solidFill>
            <a:prstDash val="solid"/>
          </a:ln>
        </p:spPr>
      </p:sp>
      <p:sp>
        <p:nvSpPr>
          <p:cNvPr id="36" name="Shape 34"/>
          <p:cNvSpPr/>
          <p:nvPr/>
        </p:nvSpPr>
        <p:spPr>
          <a:xfrm>
            <a:off x="2258568" y="4040276"/>
            <a:ext cx="4645152" cy="496519"/>
          </a:xfrm>
          <a:prstGeom prst="roundRect">
            <a:avLst>
              <a:gd name="adj" fmla="val 14733"/>
            </a:avLst>
          </a:prstGeom>
          <a:solidFill>
            <a:srgbClr val="FDF6EC"/>
          </a:solidFill>
          <a:ln w="9525">
            <a:solidFill>
              <a:srgbClr val="EEDEC5"/>
            </a:solidFill>
            <a:prstDash val="solid"/>
          </a:ln>
        </p:spPr>
      </p:sp>
      <p:sp>
        <p:nvSpPr>
          <p:cNvPr id="37" name="Text 35"/>
          <p:cNvSpPr/>
          <p:nvPr/>
        </p:nvSpPr>
        <p:spPr>
          <a:xfrm>
            <a:off x="2359152" y="4040276"/>
            <a:ext cx="4443984" cy="496519"/>
          </a:xfrm>
          <a:prstGeom prst="rect">
            <a:avLst/>
          </a:prstGeom>
          <a:noFill/>
          <a:ln/>
        </p:spPr>
        <p:txBody>
          <a:bodyPr wrap="square" lIns="0" tIns="0" rIns="0" bIns="0" rtlCol="0" anchor="ctr"/>
          <a:lstStyle/>
          <a:p>
            <a:pPr indent="0" marL="0">
              <a:lnSpc>
                <a:spcPct val="102000"/>
              </a:lnSpc>
              <a:buNone/>
            </a:pPr>
            <a:r>
              <a:rPr lang="en-US" sz="840" dirty="0">
                <a:solidFill>
                  <a:srgbClr val="1E2522"/>
                </a:solidFill>
                <a:latin typeface="Arial" pitchFamily="34" charset="0"/>
                <a:ea typeface="Arial" pitchFamily="34" charset="-122"/>
                <a:cs typeface="Arial" pitchFamily="34" charset="-120"/>
              </a:rPr>
              <a:t>User exits to procurement, then re-enters EMS and re-keys PL# and SR# to link the records</a:t>
            </a:r>
            <a:endParaRPr lang="en-US" sz="840" dirty="0"/>
          </a:p>
        </p:txBody>
      </p:sp>
      <p:sp>
        <p:nvSpPr>
          <p:cNvPr id="38" name="Shape 36"/>
          <p:cNvSpPr/>
          <p:nvPr/>
        </p:nvSpPr>
        <p:spPr>
          <a:xfrm>
            <a:off x="7031736" y="4040276"/>
            <a:ext cx="4681728" cy="496519"/>
          </a:xfrm>
          <a:prstGeom prst="roundRect">
            <a:avLst>
              <a:gd name="adj" fmla="val 14733"/>
            </a:avLst>
          </a:prstGeom>
          <a:solidFill>
            <a:srgbClr val="F1F7F3"/>
          </a:solidFill>
          <a:ln w="9525">
            <a:solidFill>
              <a:srgbClr val="CFE0D6"/>
            </a:solidFill>
            <a:prstDash val="solid"/>
          </a:ln>
        </p:spPr>
      </p:sp>
      <p:sp>
        <p:nvSpPr>
          <p:cNvPr id="39" name="Text 37"/>
          <p:cNvSpPr/>
          <p:nvPr/>
        </p:nvSpPr>
        <p:spPr>
          <a:xfrm>
            <a:off x="7132320" y="4040276"/>
            <a:ext cx="4480560" cy="496519"/>
          </a:xfrm>
          <a:prstGeom prst="rect">
            <a:avLst/>
          </a:prstGeom>
          <a:noFill/>
          <a:ln/>
        </p:spPr>
        <p:txBody>
          <a:bodyPr wrap="square" lIns="0" tIns="0" rIns="0" bIns="0" rtlCol="0" anchor="ctr"/>
          <a:lstStyle/>
          <a:p>
            <a:pPr indent="0" marL="0">
              <a:lnSpc>
                <a:spcPct val="102000"/>
              </a:lnSpc>
              <a:buNone/>
            </a:pPr>
            <a:r>
              <a:rPr lang="en-US" sz="840" dirty="0">
                <a:solidFill>
                  <a:srgbClr val="1E2522"/>
                </a:solidFill>
                <a:latin typeface="Arial" pitchFamily="34" charset="0"/>
                <a:ea typeface="Arial" pitchFamily="34" charset="-122"/>
                <a:cs typeface="Arial" pitchFamily="34" charset="-120"/>
              </a:rPr>
              <a:t>Pipeline approval opens the pre-populated sourcing intake in one click; IDs linked by the system</a:t>
            </a:r>
            <a:endParaRPr lang="en-US" sz="840" dirty="0"/>
          </a:p>
        </p:txBody>
      </p:sp>
      <p:sp>
        <p:nvSpPr>
          <p:cNvPr id="40" name="Text 38"/>
          <p:cNvSpPr/>
          <p:nvPr/>
        </p:nvSpPr>
        <p:spPr>
          <a:xfrm>
            <a:off x="557784" y="4572000"/>
            <a:ext cx="1545336" cy="566928"/>
          </a:xfrm>
          <a:prstGeom prst="rect">
            <a:avLst/>
          </a:prstGeom>
          <a:noFill/>
          <a:ln/>
        </p:spPr>
        <p:txBody>
          <a:bodyPr wrap="square" lIns="0" tIns="0" rIns="0" bIns="0" rtlCol="0" anchor="ctr"/>
          <a:lstStyle/>
          <a:p>
            <a:pPr indent="0" marL="0">
              <a:lnSpc>
                <a:spcPct val="98000"/>
              </a:lnSpc>
              <a:buNone/>
            </a:pPr>
            <a:r>
              <a:rPr lang="en-US" sz="900" b="1" dirty="0">
                <a:solidFill>
                  <a:srgbClr val="FFFFFF"/>
                </a:solidFill>
                <a:latin typeface="Arial" pitchFamily="34" charset="0"/>
                <a:ea typeface="Arial" pitchFamily="34" charset="-122"/>
                <a:cs typeface="Arial" pitchFamily="34" charset="-120"/>
              </a:rPr>
              <a:t>Visibility &amp; audit</a:t>
            </a:r>
            <a:endParaRPr lang="en-US" sz="900" dirty="0"/>
          </a:p>
        </p:txBody>
      </p:sp>
      <p:sp>
        <p:nvSpPr>
          <p:cNvPr id="41" name="Shape 39"/>
          <p:cNvSpPr/>
          <p:nvPr/>
        </p:nvSpPr>
        <p:spPr>
          <a:xfrm>
            <a:off x="2258568" y="4607204"/>
            <a:ext cx="4645152" cy="496519"/>
          </a:xfrm>
          <a:prstGeom prst="roundRect">
            <a:avLst>
              <a:gd name="adj" fmla="val 14733"/>
            </a:avLst>
          </a:prstGeom>
          <a:solidFill>
            <a:srgbClr val="FDF6EC"/>
          </a:solidFill>
          <a:ln w="9525">
            <a:solidFill>
              <a:srgbClr val="EEDEC5"/>
            </a:solidFill>
            <a:prstDash val="solid"/>
          </a:ln>
        </p:spPr>
      </p:sp>
      <p:sp>
        <p:nvSpPr>
          <p:cNvPr id="42" name="Text 40"/>
          <p:cNvSpPr/>
          <p:nvPr/>
        </p:nvSpPr>
        <p:spPr>
          <a:xfrm>
            <a:off x="2359152" y="4607204"/>
            <a:ext cx="4443984" cy="496519"/>
          </a:xfrm>
          <a:prstGeom prst="rect">
            <a:avLst/>
          </a:prstGeom>
          <a:noFill/>
          <a:ln/>
        </p:spPr>
        <p:txBody>
          <a:bodyPr wrap="square" lIns="0" tIns="0" rIns="0" bIns="0" rtlCol="0" anchor="ctr"/>
          <a:lstStyle/>
          <a:p>
            <a:pPr indent="0" marL="0">
              <a:lnSpc>
                <a:spcPct val="102000"/>
              </a:lnSpc>
              <a:buNone/>
            </a:pPr>
            <a:r>
              <a:rPr lang="en-US" sz="840" dirty="0">
                <a:solidFill>
                  <a:srgbClr val="1E2522"/>
                </a:solidFill>
                <a:latin typeface="Arial" pitchFamily="34" charset="0"/>
                <a:ea typeface="Arial" pitchFamily="34" charset="-122"/>
                <a:cs typeface="Arial" pitchFamily="34" charset="-120"/>
              </a:rPr>
              <a:t>No single status view, and decision evidence is spread across agendas, emails and Excel files</a:t>
            </a:r>
            <a:endParaRPr lang="en-US" sz="840" dirty="0"/>
          </a:p>
        </p:txBody>
      </p:sp>
      <p:sp>
        <p:nvSpPr>
          <p:cNvPr id="43" name="Shape 41"/>
          <p:cNvSpPr/>
          <p:nvPr/>
        </p:nvSpPr>
        <p:spPr>
          <a:xfrm>
            <a:off x="7031736" y="4607204"/>
            <a:ext cx="4681728" cy="496519"/>
          </a:xfrm>
          <a:prstGeom prst="roundRect">
            <a:avLst>
              <a:gd name="adj" fmla="val 14733"/>
            </a:avLst>
          </a:prstGeom>
          <a:solidFill>
            <a:srgbClr val="F1F7F3"/>
          </a:solidFill>
          <a:ln w="9525">
            <a:solidFill>
              <a:srgbClr val="CFE0D6"/>
            </a:solidFill>
            <a:prstDash val="solid"/>
          </a:ln>
        </p:spPr>
      </p:sp>
      <p:sp>
        <p:nvSpPr>
          <p:cNvPr id="44" name="Text 42"/>
          <p:cNvSpPr/>
          <p:nvPr/>
        </p:nvSpPr>
        <p:spPr>
          <a:xfrm>
            <a:off x="7132320" y="4607204"/>
            <a:ext cx="4480560" cy="496519"/>
          </a:xfrm>
          <a:prstGeom prst="rect">
            <a:avLst/>
          </a:prstGeom>
          <a:noFill/>
          <a:ln/>
        </p:spPr>
        <p:txBody>
          <a:bodyPr wrap="square" lIns="0" tIns="0" rIns="0" bIns="0" rtlCol="0" anchor="ctr"/>
          <a:lstStyle/>
          <a:p>
            <a:pPr indent="0" marL="0">
              <a:lnSpc>
                <a:spcPct val="102000"/>
              </a:lnSpc>
              <a:buNone/>
            </a:pPr>
            <a:r>
              <a:rPr lang="en-US" sz="840" dirty="0">
                <a:solidFill>
                  <a:srgbClr val="1E2522"/>
                </a:solidFill>
                <a:latin typeface="Arial" pitchFamily="34" charset="0"/>
                <a:ea typeface="Arial" pitchFamily="34" charset="-122"/>
                <a:cs typeface="Arial" pitchFamily="34" charset="-120"/>
              </a:rPr>
              <a:t>One My Requests view across all three records. Every transition stamps actor, time and reason</a:t>
            </a:r>
            <a:endParaRPr lang="en-US" sz="840" dirty="0"/>
          </a:p>
        </p:txBody>
      </p:sp>
      <p:sp>
        <p:nvSpPr>
          <p:cNvPr id="45" name="Text 43"/>
          <p:cNvSpPr/>
          <p:nvPr/>
        </p:nvSpPr>
        <p:spPr>
          <a:xfrm>
            <a:off x="411480" y="5358384"/>
            <a:ext cx="11365992" cy="201168"/>
          </a:xfrm>
          <a:prstGeom prst="rect">
            <a:avLst/>
          </a:prstGeom>
          <a:noFill/>
          <a:ln/>
        </p:spPr>
        <p:txBody>
          <a:bodyPr wrap="square" lIns="0" tIns="0" rIns="0" bIns="0" rtlCol="0" anchor="ctr"/>
          <a:lstStyle/>
          <a:p>
            <a:pPr indent="0" marL="0">
              <a:buNone/>
            </a:pPr>
            <a:r>
              <a:rPr lang="en-US" sz="1100" b="1" dirty="0">
                <a:solidFill>
                  <a:srgbClr val="1A5336"/>
                </a:solidFill>
                <a:latin typeface="Arial" pitchFamily="34" charset="0"/>
                <a:ea typeface="Arial" pitchFamily="34" charset="-122"/>
                <a:cs typeface="Arial" pitchFamily="34" charset="-120"/>
              </a:rPr>
              <a:t>Net effect for the colleague</a:t>
            </a:r>
            <a:endParaRPr lang="en-US" sz="1100" dirty="0"/>
          </a:p>
        </p:txBody>
      </p:sp>
      <p:sp>
        <p:nvSpPr>
          <p:cNvPr id="46" name="Text 44"/>
          <p:cNvSpPr/>
          <p:nvPr/>
        </p:nvSpPr>
        <p:spPr>
          <a:xfrm>
            <a:off x="411480" y="5596128"/>
            <a:ext cx="11365992" cy="548640"/>
          </a:xfrm>
          <a:prstGeom prst="rect">
            <a:avLst/>
          </a:prstGeom>
          <a:noFill/>
          <a:ln/>
        </p:spPr>
        <p:txBody>
          <a:bodyPr wrap="square" lIns="0" tIns="0" rIns="0" bIns="0" rtlCol="0" anchor="t"/>
          <a:lstStyle/>
          <a:p>
            <a:pPr indent="0" marL="0">
              <a:lnSpc>
                <a:spcPct val="108000"/>
              </a:lnSpc>
              <a:buNone/>
            </a:pPr>
            <a:r>
              <a:rPr lang="en-US" sz="950" dirty="0">
                <a:solidFill>
                  <a:srgbClr val="1E2522"/>
                </a:solidFill>
                <a:latin typeface="Arial" pitchFamily="34" charset="0"/>
                <a:ea typeface="Arial" pitchFamily="34" charset="-122"/>
                <a:cs typeface="Arial" pitchFamily="34" charset="-120"/>
              </a:rPr>
              <a:t>One form instead of four. No offline Excel package to assemble inside a two-day SLA. No re-keying PL# and SR# to get back in. One place to see where the request stands, and approvers can see exactly what changed between strategic approval and signing.</a:t>
            </a:r>
            <a:endParaRPr lang="en-US" sz="950" dirty="0"/>
          </a:p>
        </p:txBody>
      </p:sp>
      <p:sp>
        <p:nvSpPr>
          <p:cNvPr id="47" name="Text 45"/>
          <p:cNvSpPr/>
          <p:nvPr/>
        </p:nvSpPr>
        <p:spPr>
          <a:xfrm>
            <a:off x="411480" y="6455664"/>
            <a:ext cx="2743200" cy="237744"/>
          </a:xfrm>
          <a:prstGeom prst="rect">
            <a:avLst/>
          </a:prstGeom>
          <a:noFill/>
          <a:ln/>
        </p:spPr>
        <p:txBody>
          <a:bodyPr wrap="square" lIns="0" tIns="0" rIns="0" bIns="0" rtlCol="0" anchor="ctr"/>
          <a:lstStyle/>
          <a:p>
            <a:pPr algn="l" indent="0" marL="0">
              <a:buNone/>
            </a:pPr>
            <a:r>
              <a:rPr lang="en-US" sz="800" dirty="0">
                <a:solidFill>
                  <a:srgbClr val="9AA6A0"/>
                </a:solidFill>
                <a:latin typeface="Arial" pitchFamily="34" charset="0"/>
                <a:ea typeface="Arial" pitchFamily="34" charset="-122"/>
                <a:cs typeface="Arial" pitchFamily="34" charset="-120"/>
              </a:rPr>
              <a:t>Internal / Interne</a:t>
            </a:r>
            <a:endParaRPr lang="en-US" sz="800" dirty="0"/>
          </a:p>
        </p:txBody>
      </p:sp>
      <p:sp>
        <p:nvSpPr>
          <p:cNvPr id="48" name="Text 46"/>
          <p:cNvSpPr/>
          <p:nvPr/>
        </p:nvSpPr>
        <p:spPr>
          <a:xfrm>
            <a:off x="10863072" y="6455664"/>
            <a:ext cx="914400" cy="237744"/>
          </a:xfrm>
          <a:prstGeom prst="rect">
            <a:avLst/>
          </a:prstGeom>
          <a:noFill/>
          <a:ln/>
        </p:spPr>
        <p:txBody>
          <a:bodyPr wrap="square" lIns="0" tIns="0" rIns="0" bIns="0" rtlCol="0" anchor="ctr"/>
          <a:lstStyle/>
          <a:p>
            <a:pPr algn="r" indent="0" marL="0">
              <a:buNone/>
            </a:pPr>
            <a:r>
              <a:rPr lang="en-US" sz="800" dirty="0">
                <a:solidFill>
                  <a:srgbClr val="9AA6A0"/>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1480" y="237744"/>
            <a:ext cx="11365992" cy="201168"/>
          </a:xfrm>
          <a:prstGeom prst="rect">
            <a:avLst/>
          </a:prstGeom>
          <a:noFill/>
          <a:ln/>
        </p:spPr>
        <p:txBody>
          <a:bodyPr wrap="square" lIns="0" tIns="0" rIns="0" bIns="0" rtlCol="0" anchor="ctr"/>
          <a:lstStyle/>
          <a:p>
            <a:pPr indent="0" marL="0">
              <a:buNone/>
            </a:pPr>
            <a:r>
              <a:rPr lang="en-US" sz="950" b="1" spc="160" kern="0" dirty="0">
                <a:solidFill>
                  <a:srgbClr val="008A00"/>
                </a:solidFill>
                <a:latin typeface="Arial" pitchFamily="34" charset="0"/>
                <a:ea typeface="Arial" pitchFamily="34" charset="-122"/>
                <a:cs typeface="Arial" pitchFamily="34" charset="-120"/>
              </a:rPr>
              <a:t>MVP1 SCOPE</a:t>
            </a:r>
            <a:endParaRPr lang="en-US" sz="950" dirty="0"/>
          </a:p>
        </p:txBody>
      </p:sp>
      <p:sp>
        <p:nvSpPr>
          <p:cNvPr id="3" name="Text 1"/>
          <p:cNvSpPr/>
          <p:nvPr/>
        </p:nvSpPr>
        <p:spPr>
          <a:xfrm>
            <a:off x="411480" y="420624"/>
            <a:ext cx="11365992" cy="475488"/>
          </a:xfrm>
          <a:prstGeom prst="rect">
            <a:avLst/>
          </a:prstGeom>
          <a:noFill/>
          <a:ln/>
        </p:spPr>
        <p:txBody>
          <a:bodyPr wrap="square" lIns="0" tIns="0" rIns="0" bIns="0" rtlCol="0" anchor="ctr"/>
          <a:lstStyle/>
          <a:p>
            <a:pPr indent="0" marL="0">
              <a:buNone/>
            </a:pPr>
            <a:r>
              <a:rPr lang="en-US" sz="2500" b="1" dirty="0">
                <a:solidFill>
                  <a:srgbClr val="1A5336"/>
                </a:solidFill>
                <a:latin typeface="Arial" pitchFamily="34" charset="0"/>
                <a:ea typeface="Arial" pitchFamily="34" charset="-122"/>
                <a:cs typeface="Arial" pitchFamily="34" charset="-120"/>
              </a:rPr>
              <a:t>Trade-offs accepted and dependencies to close</a:t>
            </a:r>
            <a:endParaRPr lang="en-US" sz="2500" dirty="0"/>
          </a:p>
        </p:txBody>
      </p:sp>
      <p:sp>
        <p:nvSpPr>
          <p:cNvPr id="4" name="Text 2"/>
          <p:cNvSpPr/>
          <p:nvPr/>
        </p:nvSpPr>
        <p:spPr>
          <a:xfrm>
            <a:off x="411480" y="896112"/>
            <a:ext cx="11365992" cy="237744"/>
          </a:xfrm>
          <a:prstGeom prst="rect">
            <a:avLst/>
          </a:prstGeom>
          <a:noFill/>
          <a:ln/>
        </p:spPr>
        <p:txBody>
          <a:bodyPr wrap="square" lIns="0" tIns="0" rIns="0" bIns="0" rtlCol="0" anchor="ctr"/>
          <a:lstStyle/>
          <a:p>
            <a:pPr indent="0" marL="0">
              <a:buNone/>
            </a:pPr>
            <a:r>
              <a:rPr lang="en-US" sz="1150" i="1" dirty="0">
                <a:solidFill>
                  <a:srgbClr val="1E2522"/>
                </a:solidFill>
                <a:latin typeface="Arial" pitchFamily="34" charset="0"/>
                <a:ea typeface="Arial" pitchFamily="34" charset="-122"/>
                <a:cs typeface="Arial" pitchFamily="34" charset="-120"/>
              </a:rPr>
              <a:t>What MVP1 deliberately does not solve, and what the business still owes us before the build can finish.</a:t>
            </a:r>
            <a:endParaRPr lang="en-US" sz="1150" dirty="0"/>
          </a:p>
        </p:txBody>
      </p:sp>
      <p:sp>
        <p:nvSpPr>
          <p:cNvPr id="5" name="Text 3"/>
          <p:cNvSpPr/>
          <p:nvPr/>
        </p:nvSpPr>
        <p:spPr>
          <a:xfrm>
            <a:off x="411480" y="1316736"/>
            <a:ext cx="7315200" cy="201168"/>
          </a:xfrm>
          <a:prstGeom prst="rect">
            <a:avLst/>
          </a:prstGeom>
          <a:noFill/>
          <a:ln/>
        </p:spPr>
        <p:txBody>
          <a:bodyPr wrap="square" lIns="0" tIns="0" rIns="0" bIns="0" rtlCol="0" anchor="ctr"/>
          <a:lstStyle/>
          <a:p>
            <a:pPr indent="0" marL="0">
              <a:buNone/>
            </a:pPr>
            <a:r>
              <a:rPr lang="en-US" sz="1100" b="1" dirty="0">
                <a:solidFill>
                  <a:srgbClr val="1A5336"/>
                </a:solidFill>
                <a:latin typeface="Arial" pitchFamily="34" charset="0"/>
                <a:ea typeface="Arial" pitchFamily="34" charset="-122"/>
                <a:cs typeface="Arial" pitchFamily="34" charset="-120"/>
              </a:rPr>
              <a:t>Trade-offs accepted in MVP1</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517904"/>
          <a:ext cx="11365992" cy="914400"/>
        </p:xfrm>
        <a:graphic>
          <a:graphicData uri="http://schemas.openxmlformats.org/drawingml/2006/table">
            <a:tbl>
              <a:tblPr/>
              <a:tblGrid>
                <a:gridCol w="2240280"/>
                <a:gridCol w="4754880"/>
                <a:gridCol w="4370832"/>
              </a:tblGrid>
              <a:tr h="306324">
                <a:tc>
                  <a:txBody>
                    <a:bodyPr/>
                    <a:lstStyle/>
                    <a:p>
                      <a:pPr indent="0" marL="0">
                        <a:buNone/>
                      </a:pPr>
                      <a:r>
                        <a:rPr lang="en-US" sz="880" b="1" dirty="0">
                          <a:solidFill>
                            <a:srgbClr val="FFFFFF"/>
                          </a:solidFill>
                          <a:latin typeface="Arial" pitchFamily="34" charset="0"/>
                          <a:ea typeface="Arial" pitchFamily="34" charset="-122"/>
                          <a:cs typeface="Arial" pitchFamily="34" charset="-120"/>
                        </a:rPr>
                        <a:t>Trade-off</a:t>
                      </a:r>
                      <a:endParaRPr lang="en-US" sz="8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1A5336"/>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Why we accepted it</a:t>
                      </a:r>
                      <a:endParaRPr lang="en-US" sz="8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1A5336"/>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What would change it</a:t>
                      </a:r>
                      <a:endParaRPr lang="en-US" sz="8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1A5336"/>
                    </a:solidFill>
                  </a:tcPr>
                </a:tc>
              </a:tr>
              <a:tr h="306324">
                <a:tc>
                  <a:txBody>
                    <a:bodyPr/>
                    <a:lstStyle/>
                    <a:p>
                      <a:pPr indent="0" marL="0">
                        <a:buNone/>
                      </a:pPr>
                      <a:r>
                        <a:rPr lang="en-US" sz="820" b="1" dirty="0">
                          <a:solidFill>
                            <a:srgbClr val="1E2522"/>
                          </a:solidFill>
                          <a:latin typeface="Arial" pitchFamily="34" charset="0"/>
                          <a:ea typeface="Arial" pitchFamily="34" charset="-122"/>
                          <a:cs typeface="Arial" pitchFamily="34" charset="-120"/>
                        </a:rPr>
                        <a:t>Approval levels are unchanged</a:t>
                      </a:r>
                      <a:endParaRPr lang="en-US" sz="82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20" dirty="0">
                          <a:solidFill>
                            <a:srgbClr val="1E2522"/>
                          </a:solidFill>
                          <a:latin typeface="Arial" pitchFamily="34" charset="0"/>
                          <a:ea typeface="Arial" pitchFamily="34" charset="-122"/>
                          <a:cs typeface="Arial" pitchFamily="34" charset="-120"/>
                        </a:rPr>
                        <a:t>Set by expense policy and the Financial Approval Matrix, not by the tool</a:t>
                      </a:r>
                      <a:endParaRPr lang="en-US" sz="82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20" dirty="0">
                          <a:solidFill>
                            <a:srgbClr val="1E2522"/>
                          </a:solidFill>
                          <a:latin typeface="Arial" pitchFamily="34" charset="0"/>
                          <a:ea typeface="Arial" pitchFamily="34" charset="-122"/>
                          <a:cs typeface="Arial" pitchFamily="34" charset="-120"/>
                        </a:rPr>
                        <a:t>A business decision to fast-track SPID when nothing material changed</a:t>
                      </a:r>
                      <a:endParaRPr lang="en-US" sz="82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r>
              <a:tr h="306324">
                <a:tc>
                  <a:txBody>
                    <a:bodyPr/>
                    <a:lstStyle/>
                    <a:p>
                      <a:pPr indent="0" marL="0">
                        <a:buNone/>
                      </a:pPr>
                      <a:r>
                        <a:rPr lang="en-US" sz="820" b="1" dirty="0">
                          <a:solidFill>
                            <a:srgbClr val="1E2522"/>
                          </a:solidFill>
                          <a:latin typeface="Arial" pitchFamily="34" charset="0"/>
                          <a:ea typeface="Arial" pitchFamily="34" charset="-122"/>
                          <a:cs typeface="Arial" pitchFamily="34" charset="-120"/>
                        </a:rPr>
                        <a:t>SPID is kicked off manually</a:t>
                      </a:r>
                      <a:endParaRPr lang="en-US" sz="82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820" dirty="0">
                          <a:solidFill>
                            <a:srgbClr val="1E2522"/>
                          </a:solidFill>
                          <a:latin typeface="Arial" pitchFamily="34" charset="0"/>
                          <a:ea typeface="Arial" pitchFamily="34" charset="-122"/>
                          <a:cs typeface="Arial" pitchFamily="34" charset="-120"/>
                        </a:rPr>
                        <a:t>The one accepted swivel-chair step, taken once Ariba approvals complete</a:t>
                      </a:r>
                      <a:endParaRPr lang="en-US" sz="82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820" dirty="0">
                          <a:solidFill>
                            <a:srgbClr val="1E2522"/>
                          </a:solidFill>
                          <a:latin typeface="Arial" pitchFamily="34" charset="0"/>
                          <a:ea typeface="Arial" pitchFamily="34" charset="-122"/>
                          <a:cs typeface="Arial" pitchFamily="34" charset="-120"/>
                        </a:rPr>
                        <a:t>A reliable contract-readiness event from Ariba to trigger it</a:t>
                      </a:r>
                      <a:endParaRPr lang="en-US" sz="82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r>
              <a:tr h="306324">
                <a:tc>
                  <a:txBody>
                    <a:bodyPr/>
                    <a:lstStyle/>
                    <a:p>
                      <a:pPr indent="0" marL="0">
                        <a:buNone/>
                      </a:pPr>
                      <a:r>
                        <a:rPr lang="en-US" sz="820" b="1" dirty="0">
                          <a:solidFill>
                            <a:srgbClr val="1E2522"/>
                          </a:solidFill>
                          <a:latin typeface="Arial" pitchFamily="34" charset="0"/>
                          <a:ea typeface="Arial" pitchFamily="34" charset="-122"/>
                          <a:cs typeface="Arial" pitchFamily="34" charset="-120"/>
                        </a:rPr>
                        <a:t>No live Ariba integration</a:t>
                      </a:r>
                      <a:endParaRPr lang="en-US" sz="82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20" dirty="0">
                          <a:solidFill>
                            <a:srgbClr val="1E2522"/>
                          </a:solidFill>
                          <a:latin typeface="Arial" pitchFamily="34" charset="0"/>
                          <a:ea typeface="Arial" pitchFamily="34" charset="-122"/>
                          <a:cs typeface="Arial" pitchFamily="34" charset="-120"/>
                        </a:rPr>
                        <a:t>Procurement stays a tracked manual stage; no real-time sync is implied</a:t>
                      </a:r>
                      <a:endParaRPr lang="en-US" sz="82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20" dirty="0">
                          <a:solidFill>
                            <a:srgbClr val="1E2522"/>
                          </a:solidFill>
                          <a:latin typeface="Arial" pitchFamily="34" charset="0"/>
                          <a:ea typeface="Arial" pitchFamily="34" charset="-122"/>
                          <a:cs typeface="Arial" pitchFamily="34" charset="-120"/>
                        </a:rPr>
                        <a:t>The Ariba SR-status interface and field dictionary, still outstanding</a:t>
                      </a:r>
                      <a:endParaRPr lang="en-US" sz="82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r>
              <a:tr h="306324">
                <a:tc>
                  <a:txBody>
                    <a:bodyPr/>
                    <a:lstStyle/>
                    <a:p>
                      <a:pPr indent="0" marL="0">
                        <a:buNone/>
                      </a:pPr>
                      <a:r>
                        <a:rPr lang="en-US" sz="820" b="1" dirty="0">
                          <a:solidFill>
                            <a:srgbClr val="1E2522"/>
                          </a:solidFill>
                          <a:latin typeface="Arial" pitchFamily="34" charset="0"/>
                          <a:ea typeface="Arial" pitchFamily="34" charset="-122"/>
                          <a:cs typeface="Arial" pitchFamily="34" charset="-120"/>
                        </a:rPr>
                        <a:t>Vendor Expense only</a:t>
                      </a:r>
                      <a:endParaRPr lang="en-US" sz="82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820" dirty="0">
                          <a:solidFill>
                            <a:srgbClr val="1E2522"/>
                          </a:solidFill>
                          <a:latin typeface="Arial" pitchFamily="34" charset="0"/>
                          <a:ea typeface="Arial" pitchFamily="34" charset="-122"/>
                          <a:cs typeface="Arial" pitchFamily="34" charset="-120"/>
                        </a:rPr>
                        <a:t>Taking one flow end-to-end protects the October date</a:t>
                      </a:r>
                      <a:endParaRPr lang="en-US" sz="82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820" dirty="0">
                          <a:solidFill>
                            <a:srgbClr val="1E2522"/>
                          </a:solidFill>
                          <a:latin typeface="Arial" pitchFamily="34" charset="0"/>
                          <a:ea typeface="Arial" pitchFamily="34" charset="-122"/>
                          <a:cs typeface="Arial" pitchFamily="34" charset="-120"/>
                        </a:rPr>
                        <a:t>Later releases: Approval to Hire, Invoices, Project Request, Other</a:t>
                      </a:r>
                      <a:endParaRPr lang="en-US" sz="82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r>
            </a:tbl>
          </a:graphicData>
        </a:graphic>
      </p:graphicFrame>
      <p:sp>
        <p:nvSpPr>
          <p:cNvPr id="7" name="Text 4"/>
          <p:cNvSpPr/>
          <p:nvPr/>
        </p:nvSpPr>
        <p:spPr>
          <a:xfrm>
            <a:off x="411480" y="3200400"/>
            <a:ext cx="7315200" cy="201168"/>
          </a:xfrm>
          <a:prstGeom prst="rect">
            <a:avLst/>
          </a:prstGeom>
          <a:noFill/>
          <a:ln/>
        </p:spPr>
        <p:txBody>
          <a:bodyPr wrap="square" lIns="0" tIns="0" rIns="0" bIns="0" rtlCol="0" anchor="ctr"/>
          <a:lstStyle/>
          <a:p>
            <a:pPr indent="0" marL="0">
              <a:buNone/>
            </a:pPr>
            <a:r>
              <a:rPr lang="en-US" sz="1100" b="1" dirty="0">
                <a:solidFill>
                  <a:srgbClr val="1A5336"/>
                </a:solidFill>
                <a:latin typeface="Arial" pitchFamily="34" charset="0"/>
                <a:ea typeface="Arial" pitchFamily="34" charset="-122"/>
                <a:cs typeface="Arial" pitchFamily="34" charset="-120"/>
              </a:rPr>
              <a:t>Dependencies to close</a:t>
            </a:r>
            <a:endParaRPr lang="en-US" sz="11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411480" y="3438144"/>
          <a:ext cx="11365992" cy="914400"/>
        </p:xfrm>
        <a:graphic>
          <a:graphicData uri="http://schemas.openxmlformats.org/drawingml/2006/table">
            <a:tbl>
              <a:tblPr/>
              <a:tblGrid>
                <a:gridCol w="868680"/>
                <a:gridCol w="4224528"/>
                <a:gridCol w="3730752"/>
                <a:gridCol w="2542032"/>
              </a:tblGrid>
              <a:tr h="267919">
                <a:tc>
                  <a:txBody>
                    <a:bodyPr/>
                    <a:lstStyle/>
                    <a:p>
                      <a:pPr indent="0" marL="0">
                        <a:buNone/>
                      </a:pPr>
                      <a:r>
                        <a:rPr lang="en-US" sz="880" b="1" dirty="0">
                          <a:solidFill>
                            <a:srgbClr val="FFFFFF"/>
                          </a:solidFill>
                          <a:latin typeface="Arial" pitchFamily="34" charset="0"/>
                          <a:ea typeface="Arial" pitchFamily="34" charset="-122"/>
                          <a:cs typeface="Arial" pitchFamily="34" charset="-120"/>
                        </a:rPr>
                        <a:t>Priority</a:t>
                      </a:r>
                      <a:endParaRPr lang="en-US" sz="8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1A5336"/>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What we need</a:t>
                      </a:r>
                      <a:endParaRPr lang="en-US" sz="8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1A5336"/>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Why it matters</a:t>
                      </a:r>
                      <a:endParaRPr lang="en-US" sz="8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1A5336"/>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Owner group</a:t>
                      </a:r>
                      <a:endParaRPr lang="en-US" sz="88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1A5336"/>
                    </a:solidFill>
                  </a:tcPr>
                </a:tc>
              </a:tr>
              <a:tr h="267919">
                <a:tc>
                  <a:txBody>
                    <a:bodyPr/>
                    <a:lstStyle/>
                    <a:p>
                      <a:pPr indent="0" marL="0">
                        <a:buNone/>
                      </a:pPr>
                      <a:r>
                        <a:rPr lang="en-US" sz="800" b="1" dirty="0">
                          <a:solidFill>
                            <a:srgbClr val="9C5A00"/>
                          </a:solidFill>
                          <a:latin typeface="Arial" pitchFamily="34" charset="0"/>
                          <a:ea typeface="Arial" pitchFamily="34" charset="-122"/>
                          <a:cs typeface="Arial" pitchFamily="34" charset="-120"/>
                        </a:rPr>
                        <a:t>Critical</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Procurement policy defining the MC trigger, plus the exemption list</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MC cannot be automated. GTS plus $100K is not the rule</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Procurement policy / MC and ERC owners</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r>
              <a:tr h="267919">
                <a:tc>
                  <a:txBody>
                    <a:bodyPr/>
                    <a:lstStyle/>
                    <a:p>
                      <a:pPr indent="0" marL="0">
                        <a:buNone/>
                      </a:pPr>
                      <a:r>
                        <a:rPr lang="en-US" sz="800" b="1" dirty="0">
                          <a:solidFill>
                            <a:srgbClr val="9C5A00"/>
                          </a:solidFill>
                          <a:latin typeface="Arial" pitchFamily="34" charset="0"/>
                          <a:ea typeface="Arial" pitchFamily="34" charset="-122"/>
                          <a:cs typeface="Arial" pitchFamily="34" charset="-120"/>
                        </a:rPr>
                        <a:t>Critical</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Latest approved Financial Approval Matrix</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Drives routing, levels, leads, delegates and BOM Lead scope</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Expense Oversight / Finance</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r>
              <a:tr h="267919">
                <a:tc>
                  <a:txBody>
                    <a:bodyPr/>
                    <a:lstStyle/>
                    <a:p>
                      <a:pPr indent="0" marL="0">
                        <a:buNone/>
                      </a:pPr>
                      <a:r>
                        <a:rPr lang="en-US" sz="800" b="1" dirty="0">
                          <a:solidFill>
                            <a:srgbClr val="9C5A00"/>
                          </a:solidFill>
                          <a:latin typeface="Arial" pitchFamily="34" charset="0"/>
                          <a:ea typeface="Arial" pitchFamily="34" charset="-122"/>
                          <a:cs typeface="Arial" pitchFamily="34" charset="-120"/>
                        </a:rPr>
                        <a:t>Critical</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Current SPID validation SharePoint master list</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Required to reproduce today's validation accurately</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EMS / SPID owners</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r>
              <a:tr h="267919">
                <a:tc>
                  <a:txBody>
                    <a:bodyPr/>
                    <a:lstStyle/>
                    <a:p>
                      <a:pPr indent="0" marL="0">
                        <a:buNone/>
                      </a:pPr>
                      <a:r>
                        <a:rPr lang="en-US" sz="800" b="1" dirty="0">
                          <a:solidFill>
                            <a:srgbClr val="9C5A00"/>
                          </a:solidFill>
                          <a:latin typeface="Arial" pitchFamily="34" charset="0"/>
                          <a:ea typeface="Arial" pitchFamily="34" charset="-122"/>
                          <a:cs typeface="Arial" pitchFamily="34" charset="-120"/>
                        </a:rPr>
                        <a:t>Critical</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Ariba report or CSV, plus the field dictionary</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Defines the authoritative source, the mappings and the update process</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Ariba / procurement data</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r>
              <a:tr h="267919">
                <a:tc>
                  <a:txBody>
                    <a:bodyPr/>
                    <a:lstStyle/>
                    <a:p>
                      <a:pPr indent="0" marL="0">
                        <a:buNone/>
                      </a:pPr>
                      <a:r>
                        <a:rPr lang="en-US" sz="800" b="1" dirty="0">
                          <a:solidFill>
                            <a:srgbClr val="9C5A00"/>
                          </a:solidFill>
                          <a:latin typeface="Arial" pitchFamily="34" charset="0"/>
                          <a:ea typeface="Arial" pitchFamily="34" charset="-122"/>
                          <a:cs typeface="Arial" pitchFamily="34" charset="-120"/>
                        </a:rPr>
                        <a:t>Critical</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SR to CW and PR to SR relationship rules</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Required for correct cross-system linking</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Ariba / procurement</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r>
              <a:tr h="267919">
                <a:tc>
                  <a:txBody>
                    <a:bodyPr/>
                    <a:lstStyle/>
                    <a:p>
                      <a:pPr indent="0" marL="0">
                        <a:buNone/>
                      </a:pPr>
                      <a:r>
                        <a:rPr lang="en-US" sz="800" dirty="0">
                          <a:solidFill>
                            <a:srgbClr val="1E2522"/>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Approval skip-logic table and the agenda reference table</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Approval routing and agenda placement are driven entirely by these</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EMS operations</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r>
              <a:tr h="267919">
                <a:tc>
                  <a:txBody>
                    <a:bodyPr/>
                    <a:lstStyle/>
                    <a:p>
                      <a:pPr indent="0" marL="0">
                        <a:buNone/>
                      </a:pPr>
                      <a:r>
                        <a:rPr lang="en-US" sz="800" dirty="0">
                          <a:solidFill>
                            <a:srgbClr val="1E2522"/>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How GTS applicability is detected - directory-derived or declared</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Determines which branch a request enters at the front door</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Identity and access / HR data</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r>
              <a:tr h="267919">
                <a:tc>
                  <a:txBody>
                    <a:bodyPr/>
                    <a:lstStyle/>
                    <a:p>
                      <a:pPr indent="0" marL="0">
                        <a:buNone/>
                      </a:pPr>
                      <a:r>
                        <a:rPr lang="en-US" sz="800" dirty="0">
                          <a:solidFill>
                            <a:srgbClr val="1E2522"/>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Send Back material-change rules, and the fallback routing owner</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Determines whether the approval path restarts or resumes</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Finance / expense policy</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4F8F6"/>
                    </a:solidFill>
                  </a:tcPr>
                </a:tc>
              </a:tr>
              <a:tr h="267919">
                <a:tc>
                  <a:txBody>
                    <a:bodyPr/>
                    <a:lstStyle/>
                    <a:p>
                      <a:pPr indent="0" marL="0">
                        <a:buNone/>
                      </a:pPr>
                      <a:r>
                        <a:rPr lang="en-US" sz="800" dirty="0">
                          <a:solidFill>
                            <a:srgbClr val="1E2522"/>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Downstream consumer inventory and data contract</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Prevents breaking onboarding, invoicing and GD Hub</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EMS platform / consumer teams</a:t>
                      </a:r>
                      <a:endParaRPr lang="en-US" sz="8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E2EAE6"/>
                      </a:solidFill>
                      <a:prstDash val="solid"/>
                      <a:round/>
                      <a:headEnd type="none" w="med" len="med"/>
                      <a:tailEnd type="none" w="med" len="med"/>
                    </a:lnT>
                    <a:lnB w="6350" cap="flat" cmpd="sng" algn="ctr">
                      <a:solidFill>
                        <a:srgbClr val="E2EAE6"/>
                      </a:solidFill>
                      <a:prstDash val="solid"/>
                      <a:round/>
                      <a:headEnd type="none" w="med" len="med"/>
                      <a:tailEnd type="none" w="med" len="med"/>
                    </a:lnB>
                    <a:solidFill>
                      <a:srgbClr val="FFFFFF"/>
                    </a:solidFill>
                  </a:tcPr>
                </a:tc>
              </a:tr>
            </a:tbl>
          </a:graphicData>
        </a:graphic>
      </p:graphicFrame>
      <p:sp>
        <p:nvSpPr>
          <p:cNvPr id="9" name="Text 5"/>
          <p:cNvSpPr/>
          <p:nvPr/>
        </p:nvSpPr>
        <p:spPr>
          <a:xfrm>
            <a:off x="411480" y="6199632"/>
            <a:ext cx="11365992" cy="219456"/>
          </a:xfrm>
          <a:prstGeom prst="rect">
            <a:avLst/>
          </a:prstGeom>
          <a:noFill/>
          <a:ln/>
        </p:spPr>
        <p:txBody>
          <a:bodyPr wrap="square" lIns="0" tIns="0" rIns="0" bIns="0" rtlCol="0" anchor="ctr"/>
          <a:lstStyle/>
          <a:p>
            <a:pPr indent="0" marL="0">
              <a:buNone/>
            </a:pPr>
            <a:r>
              <a:rPr lang="en-US" sz="900" b="1" dirty="0">
                <a:solidFill>
                  <a:srgbClr val="1E2522"/>
                </a:solidFill>
                <a:latin typeface="Arial" pitchFamily="34" charset="0"/>
                <a:ea typeface="Arial" pitchFamily="34" charset="-122"/>
                <a:cs typeface="Arial" pitchFamily="34" charset="-120"/>
              </a:rPr>
              <a:t>Requirements lockdown is the gate for the October 23 date. Anything still open at that point becomes an explicitly accepted limitation rather than an assumption written into the code.</a:t>
            </a:r>
            <a:endParaRPr lang="en-US" sz="900" dirty="0"/>
          </a:p>
        </p:txBody>
      </p:sp>
      <p:sp>
        <p:nvSpPr>
          <p:cNvPr id="10" name="Text 6"/>
          <p:cNvSpPr/>
          <p:nvPr/>
        </p:nvSpPr>
        <p:spPr>
          <a:xfrm>
            <a:off x="411480" y="6455664"/>
            <a:ext cx="2743200" cy="237744"/>
          </a:xfrm>
          <a:prstGeom prst="rect">
            <a:avLst/>
          </a:prstGeom>
          <a:noFill/>
          <a:ln/>
        </p:spPr>
        <p:txBody>
          <a:bodyPr wrap="square" lIns="0" tIns="0" rIns="0" bIns="0" rtlCol="0" anchor="ctr"/>
          <a:lstStyle/>
          <a:p>
            <a:pPr algn="l" indent="0" marL="0">
              <a:buNone/>
            </a:pPr>
            <a:r>
              <a:rPr lang="en-US" sz="800" dirty="0">
                <a:solidFill>
                  <a:srgbClr val="9AA6A0"/>
                </a:solidFill>
                <a:latin typeface="Arial" pitchFamily="34" charset="0"/>
                <a:ea typeface="Arial" pitchFamily="34" charset="-122"/>
                <a:cs typeface="Arial" pitchFamily="34" charset="-120"/>
              </a:rPr>
              <a:t>Internal / Interne</a:t>
            </a:r>
            <a:endParaRPr lang="en-US" sz="800" dirty="0"/>
          </a:p>
        </p:txBody>
      </p:sp>
      <p:sp>
        <p:nvSpPr>
          <p:cNvPr id="11" name="Text 7"/>
          <p:cNvSpPr/>
          <p:nvPr/>
        </p:nvSpPr>
        <p:spPr>
          <a:xfrm>
            <a:off x="10863072" y="6455664"/>
            <a:ext cx="914400" cy="237744"/>
          </a:xfrm>
          <a:prstGeom prst="rect">
            <a:avLst/>
          </a:prstGeom>
          <a:noFill/>
          <a:ln/>
        </p:spPr>
        <p:txBody>
          <a:bodyPr wrap="square" lIns="0" tIns="0" rIns="0" bIns="0" rtlCol="0" anchor="ctr"/>
          <a:lstStyle/>
          <a:p>
            <a:pPr algn="r" indent="0" marL="0">
              <a:buNone/>
            </a:pPr>
            <a:r>
              <a:rPr lang="en-US" sz="800" dirty="0">
                <a:solidFill>
                  <a:srgbClr val="9AA6A0"/>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5336"/>
        </a:solidFill>
      </p:bgPr>
    </p:bg>
    <p:spTree>
      <p:nvGrpSpPr>
        <p:cNvPr id="1" name=""/>
        <p:cNvGrpSpPr/>
        <p:nvPr/>
      </p:nvGrpSpPr>
      <p:grpSpPr>
        <a:xfrm>
          <a:off x="0" y="0"/>
          <a:ext cx="0" cy="0"/>
          <a:chOff x="0" y="0"/>
          <a:chExt cx="0" cy="0"/>
        </a:xfrm>
      </p:grpSpPr>
      <p:sp>
        <p:nvSpPr>
          <p:cNvPr id="2" name="Text 0"/>
          <p:cNvSpPr/>
          <p:nvPr/>
        </p:nvSpPr>
        <p:spPr>
          <a:xfrm>
            <a:off x="1005840" y="2606040"/>
            <a:ext cx="7315200" cy="310896"/>
          </a:xfrm>
          <a:prstGeom prst="rect">
            <a:avLst/>
          </a:prstGeom>
          <a:noFill/>
          <a:ln/>
        </p:spPr>
        <p:txBody>
          <a:bodyPr wrap="square" lIns="0" tIns="0" rIns="0" bIns="0" rtlCol="0" anchor="ctr"/>
          <a:lstStyle/>
          <a:p>
            <a:pPr indent="0" marL="0">
              <a:buNone/>
            </a:pPr>
            <a:r>
              <a:rPr lang="en-US" sz="1100" b="1" spc="240" kern="0" dirty="0">
                <a:solidFill>
                  <a:srgbClr val="7FC79C"/>
                </a:solidFill>
                <a:latin typeface="Arial" pitchFamily="34" charset="0"/>
                <a:ea typeface="Arial" pitchFamily="34" charset="-122"/>
                <a:cs typeface="Arial" pitchFamily="34" charset="-120"/>
              </a:rPr>
              <a:t>APPENDIX</a:t>
            </a:r>
            <a:endParaRPr lang="en-US" sz="1100" dirty="0"/>
          </a:p>
        </p:txBody>
      </p:sp>
      <p:sp>
        <p:nvSpPr>
          <p:cNvPr id="3" name="Text 1"/>
          <p:cNvSpPr/>
          <p:nvPr/>
        </p:nvSpPr>
        <p:spPr>
          <a:xfrm>
            <a:off x="1005840" y="2971800"/>
            <a:ext cx="822960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Supporting detail</a:t>
            </a:r>
            <a:endParaRPr lang="en-US" sz="3400" dirty="0"/>
          </a:p>
        </p:txBody>
      </p:sp>
      <p:sp>
        <p:nvSpPr>
          <p:cNvPr id="4" name="Text 2"/>
          <p:cNvSpPr/>
          <p:nvPr/>
        </p:nvSpPr>
        <p:spPr>
          <a:xfrm>
            <a:off x="1005840" y="3794760"/>
            <a:ext cx="7863840" cy="731520"/>
          </a:xfrm>
          <a:prstGeom prst="rect">
            <a:avLst/>
          </a:prstGeom>
          <a:noFill/>
          <a:ln/>
        </p:spPr>
        <p:txBody>
          <a:bodyPr wrap="square" lIns="0" tIns="0" rIns="0" bIns="0" rtlCol="0" anchor="ctr"/>
          <a:lstStyle/>
          <a:p>
            <a:pPr indent="0" marL="0">
              <a:lnSpc>
                <a:spcPct val="105000"/>
              </a:lnSpc>
              <a:buNone/>
            </a:pPr>
            <a:r>
              <a:rPr lang="en-US" sz="1200" dirty="0">
                <a:solidFill>
                  <a:srgbClr val="CFE4D8"/>
                </a:solidFill>
                <a:latin typeface="Arial" pitchFamily="34" charset="0"/>
                <a:ea typeface="Arial" pitchFamily="34" charset="-122"/>
                <a:cs typeface="Arial" pitchFamily="34" charset="-120"/>
              </a:rPr>
              <a:t>Full current-state step inventory, approval chains, Management Consulting treatment, reference-data dependencies, field duplication, target status model, scope boundary, roadmap, open decisions and risks.</a:t>
            </a:r>
            <a:endParaRPr lang="en-US" sz="1200" dirty="0"/>
          </a:p>
        </p:txBody>
      </p:sp>
      <p:sp>
        <p:nvSpPr>
          <p:cNvPr id="5" name="Text 3"/>
          <p:cNvSpPr/>
          <p:nvPr/>
        </p:nvSpPr>
        <p:spPr>
          <a:xfrm>
            <a:off x="411480" y="6455664"/>
            <a:ext cx="2743200" cy="237744"/>
          </a:xfrm>
          <a:prstGeom prst="rect">
            <a:avLst/>
          </a:prstGeom>
          <a:noFill/>
          <a:ln/>
        </p:spPr>
        <p:txBody>
          <a:bodyPr wrap="square" lIns="0" tIns="0" rIns="0" bIns="0" rtlCol="0" anchor="ctr"/>
          <a:lstStyle/>
          <a:p>
            <a:pPr indent="0" marL="0">
              <a:buNone/>
            </a:pPr>
            <a:r>
              <a:rPr lang="en-US" sz="800" dirty="0">
                <a:solidFill>
                  <a:srgbClr val="6E9B83"/>
                </a:solidFill>
                <a:latin typeface="Arial" pitchFamily="34" charset="0"/>
                <a:ea typeface="Arial" pitchFamily="34" charset="-122"/>
                <a:cs typeface="Arial" pitchFamily="34" charset="-120"/>
              </a:rPr>
              <a:t>Internal / Interne</a:t>
            </a:r>
            <a:endParaRPr lang="en-US" sz="800" dirty="0"/>
          </a:p>
        </p:txBody>
      </p:sp>
      <p:sp>
        <p:nvSpPr>
          <p:cNvPr id="6" name="Text 4"/>
          <p:cNvSpPr/>
          <p:nvPr/>
        </p:nvSpPr>
        <p:spPr>
          <a:xfrm>
            <a:off x="10863072" y="6455664"/>
            <a:ext cx="914400" cy="237744"/>
          </a:xfrm>
          <a:prstGeom prst="rect">
            <a:avLst/>
          </a:prstGeom>
          <a:noFill/>
          <a:ln/>
        </p:spPr>
        <p:txBody>
          <a:bodyPr wrap="square" lIns="0" tIns="0" rIns="0" bIns="0" rtlCol="0" anchor="ctr"/>
          <a:lstStyle/>
          <a:p>
            <a:pPr algn="r" indent="0" marL="0">
              <a:buNone/>
            </a:pPr>
            <a:r>
              <a:rPr lang="en-US" sz="800" dirty="0">
                <a:solidFill>
                  <a:srgbClr val="6E9B83"/>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11480" y="274320"/>
            <a:ext cx="10058400" cy="219456"/>
          </a:xfrm>
          <a:prstGeom prst="rect">
            <a:avLst/>
          </a:prstGeom>
          <a:noFill/>
          <a:ln/>
        </p:spPr>
        <p:txBody>
          <a:bodyPr wrap="square" lIns="0" tIns="0" rIns="0" bIns="0" rtlCol="0" anchor="ctr"/>
          <a:lstStyle/>
          <a:p>
            <a:pPr indent="0" marL="0">
              <a:buNone/>
            </a:pPr>
            <a:r>
              <a:rPr lang="en-US" sz="950" b="1" spc="160" kern="0" dirty="0">
                <a:solidFill>
                  <a:srgbClr val="008A00"/>
                </a:solidFill>
                <a:latin typeface="Arial" pitchFamily="34" charset="0"/>
                <a:ea typeface="Arial" pitchFamily="34" charset="-122"/>
                <a:cs typeface="Arial" pitchFamily="34" charset="-120"/>
              </a:rPr>
              <a:t>APPENDIX A1</a:t>
            </a:r>
            <a:endParaRPr lang="en-US" sz="950" dirty="0"/>
          </a:p>
        </p:txBody>
      </p:sp>
      <p:sp>
        <p:nvSpPr>
          <p:cNvPr id="3" name="Text 1"/>
          <p:cNvSpPr/>
          <p:nvPr/>
        </p:nvSpPr>
        <p:spPr>
          <a:xfrm>
            <a:off x="411480" y="502920"/>
            <a:ext cx="11365992" cy="566928"/>
          </a:xfrm>
          <a:prstGeom prst="rect">
            <a:avLst/>
          </a:prstGeom>
          <a:noFill/>
          <a:ln/>
        </p:spPr>
        <p:txBody>
          <a:bodyPr wrap="square" lIns="0" tIns="0" rIns="0" bIns="0" rtlCol="0" anchor="ctr"/>
          <a:lstStyle/>
          <a:p>
            <a:pPr indent="0" marL="0">
              <a:buNone/>
            </a:pPr>
            <a:r>
              <a:rPr lang="en-US" sz="2500" b="1" dirty="0">
                <a:solidFill>
                  <a:srgbClr val="1A5336"/>
                </a:solidFill>
                <a:latin typeface="Arial" pitchFamily="34" charset="0"/>
                <a:ea typeface="Arial" pitchFamily="34" charset="-122"/>
                <a:cs typeface="Arial" pitchFamily="34" charset="-120"/>
              </a:rPr>
              <a:t>Current state in full: the 22 documented steps</a:t>
            </a:r>
            <a:endParaRPr lang="en-US" sz="2500" dirty="0"/>
          </a:p>
        </p:txBody>
      </p:sp>
      <p:sp>
        <p:nvSpPr>
          <p:cNvPr id="4" name="Text 2"/>
          <p:cNvSpPr/>
          <p:nvPr/>
        </p:nvSpPr>
        <p:spPr>
          <a:xfrm>
            <a:off x="411480" y="1051560"/>
            <a:ext cx="11365992" cy="274320"/>
          </a:xfrm>
          <a:prstGeom prst="rect">
            <a:avLst/>
          </a:prstGeom>
          <a:noFill/>
          <a:ln/>
        </p:spPr>
        <p:txBody>
          <a:bodyPr wrap="square" lIns="0" tIns="0" rIns="0" bIns="0" rtlCol="0" anchor="ctr"/>
          <a:lstStyle/>
          <a:p>
            <a:pPr indent="0" marL="0">
              <a:buNone/>
            </a:pPr>
            <a:r>
              <a:rPr lang="en-US" sz="1150" dirty="0">
                <a:solidFill>
                  <a:srgbClr val="586460"/>
                </a:solidFill>
                <a:latin typeface="Arial" pitchFamily="34" charset="0"/>
                <a:ea typeface="Arial" pitchFamily="34" charset="-122"/>
                <a:cs typeface="Arial" pitchFamily="34" charset="-120"/>
              </a:rPr>
              <a:t>Source: the EMS team's own workflow diagram 01 and Consolidated Rulebook v3, tab 4. The step numbering is theirs, not ours.</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353312"/>
          <a:ext cx="11365992" cy="914400"/>
        </p:xfrm>
        <a:graphic>
          <a:graphicData uri="http://schemas.openxmlformats.org/drawingml/2006/table">
            <a:tbl>
              <a:tblPr/>
              <a:tblGrid>
                <a:gridCol w="384048"/>
                <a:gridCol w="2971800"/>
                <a:gridCol w="6272784"/>
                <a:gridCol w="1737360"/>
              </a:tblGrid>
              <a:tr h="202997">
                <a:tc>
                  <a:txBody>
                    <a:bodyPr/>
                    <a:lstStyle/>
                    <a:p>
                      <a:pPr indent="0" marL="0">
                        <a:buNone/>
                      </a:pPr>
                      <a:r>
                        <a:rPr lang="en-US" sz="850" b="1" dirty="0">
                          <a:solidFill>
                            <a:srgbClr val="FFFFFF"/>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Stage / action</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Condition or trigger</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Where it happens</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1</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EMS intake triage</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User enters via the GTS Management System SharePoint page; answers route the path</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EMS Power App</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2</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Pipeline intake submission</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Spend over $100K plus Management Consulting classification. Minimum 90 days before the engagement date</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EMS Power App</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3</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VP approval</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Only if a VP sits in the requestor's segment. Agenda and meeting required</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BOM agenda</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3a</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Skip VP, go to SVP</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If no VP exists in the segment. Skip logic applied from a reference table</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Reference table</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4</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SVP approval</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Agenda and meeting required</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BOM agenda</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5</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EVP approval</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Agenda and meeting required</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BOM agenda</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6</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FinAVP / FinEVP approval</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Agenda and meeting required</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BOM agenda</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7</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Expense Review Committee approval</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Agenda and meeting required</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BOM agenda</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8</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SEVP approval</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Final Pipeline sign-off. All MC approvals route to SEVP</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BOM agenda</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9</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Pipeline closed</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Pipeline approval complete. This is NOT contract execution approval</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EMS</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9C5A00"/>
                          </a:solidFill>
                          <a:latin typeface="Arial" pitchFamily="34" charset="0"/>
                          <a:ea typeface="Arial" pitchFamily="34" charset="-122"/>
                          <a:cs typeface="Arial" pitchFamily="34" charset="-120"/>
                        </a:rPr>
                        <a:t>10</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6E4300"/>
                          </a:solidFill>
                          <a:latin typeface="Arial" pitchFamily="34" charset="0"/>
                          <a:ea typeface="Arial" pitchFamily="34" charset="-122"/>
                          <a:cs typeface="Arial" pitchFamily="34" charset="-120"/>
                        </a:rPr>
                        <a:t>Management Consulting template completed</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6E4300"/>
                          </a:solidFill>
                          <a:latin typeface="Arial" pitchFamily="34" charset="0"/>
                          <a:ea typeface="Arial" pitchFamily="34" charset="-122"/>
                          <a:cs typeface="Arial" pitchFamily="34" charset="-120"/>
                        </a:rPr>
                        <a:t>Offline Excel template, outside EMS. Business has asked for this to come into the tool</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9C5A00"/>
                          </a:solidFill>
                          <a:latin typeface="Arial" pitchFamily="34" charset="0"/>
                          <a:ea typeface="Arial" pitchFamily="34" charset="-122"/>
                          <a:cs typeface="Arial" pitchFamily="34" charset="-120"/>
                        </a:rPr>
                        <a:t>Offline Excel</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9C5A00"/>
                          </a:solidFill>
                          <a:latin typeface="Arial" pitchFamily="34" charset="0"/>
                          <a:ea typeface="Arial" pitchFamily="34" charset="-122"/>
                          <a:cs typeface="Arial" pitchFamily="34" charset="-120"/>
                        </a:rPr>
                        <a:t>11</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6E4300"/>
                          </a:solidFill>
                          <a:latin typeface="Arial" pitchFamily="34" charset="0"/>
                          <a:ea typeface="Arial" pitchFamily="34" charset="-122"/>
                          <a:cs typeface="Arial" pitchFamily="34" charset="-120"/>
                        </a:rPr>
                        <a:t>Upload template plus SEVP approval email to the SR record</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6E4300"/>
                          </a:solidFill>
                          <a:latin typeface="Arial" pitchFamily="34" charset="0"/>
                          <a:ea typeface="Arial" pitchFamily="34" charset="-122"/>
                          <a:cs typeface="Arial" pitchFamily="34" charset="-120"/>
                        </a:rPr>
                        <a:t>Within 2 days of Pipeline approval - hard SLA. Creates the Sourcing Request record in Ariba</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9C5A00"/>
                          </a:solidFill>
                          <a:latin typeface="Arial" pitchFamily="34" charset="0"/>
                          <a:ea typeface="Arial" pitchFamily="34" charset="-122"/>
                          <a:cs typeface="Arial" pitchFamily="34" charset="-120"/>
                        </a:rPr>
                        <a:t>Ariba</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9C5A00"/>
                          </a:solidFill>
                          <a:latin typeface="Arial" pitchFamily="34" charset="0"/>
                          <a:ea typeface="Arial" pitchFamily="34" charset="-122"/>
                          <a:cs typeface="Arial" pitchFamily="34" charset="-120"/>
                        </a:rPr>
                        <a:t>12</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6E4300"/>
                          </a:solidFill>
                          <a:latin typeface="Arial" pitchFamily="34" charset="0"/>
                          <a:ea typeface="Arial" pitchFamily="34" charset="-122"/>
                          <a:cs typeface="Arial" pitchFamily="34" charset="-120"/>
                        </a:rPr>
                        <a:t>Complete procurement / SSG process</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6E4300"/>
                          </a:solidFill>
                          <a:latin typeface="Arial" pitchFamily="34" charset="0"/>
                          <a:ea typeface="Arial" pitchFamily="34" charset="-122"/>
                          <a:cs typeface="Arial" pitchFamily="34" charset="-120"/>
                        </a:rPr>
                        <a:t>External procurement process, handled outside EMS</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9C5A00"/>
                          </a:solidFill>
                          <a:latin typeface="Arial" pitchFamily="34" charset="0"/>
                          <a:ea typeface="Arial" pitchFamily="34" charset="-122"/>
                          <a:cs typeface="Arial" pitchFamily="34" charset="-120"/>
                        </a:rPr>
                        <a:t>Outside EMS</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9C5A00"/>
                          </a:solidFill>
                          <a:latin typeface="Arial" pitchFamily="34" charset="0"/>
                          <a:ea typeface="Arial" pitchFamily="34" charset="-122"/>
                          <a:cs typeface="Arial" pitchFamily="34" charset="-120"/>
                        </a:rPr>
                        <a:t>13</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6E4300"/>
                          </a:solidFill>
                          <a:latin typeface="Arial" pitchFamily="34" charset="0"/>
                          <a:ea typeface="Arial" pitchFamily="34" charset="-122"/>
                          <a:cs typeface="Arial" pitchFamily="34" charset="-120"/>
                        </a:rPr>
                        <a:t>Return to EMS: enter approved Pipeline # and SR #</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6E4300"/>
                          </a:solidFill>
                          <a:latin typeface="Arial" pitchFamily="34" charset="0"/>
                          <a:ea typeface="Arial" pitchFamily="34" charset="-122"/>
                          <a:cs typeface="Arial" pitchFamily="34" charset="-120"/>
                        </a:rPr>
                        <a:t>User re-enters EMS and re-keys the identifiers to link the records</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9C5A00"/>
                          </a:solidFill>
                          <a:latin typeface="Arial" pitchFamily="34" charset="0"/>
                          <a:ea typeface="Arial" pitchFamily="34" charset="-122"/>
                          <a:cs typeface="Arial" pitchFamily="34" charset="-120"/>
                        </a:rPr>
                        <a:t>EMS Power App</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14</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SPID template completion</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Pipeline data and Ariba details pre-populated from the prior steps</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SPID Power App</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15</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SPID: VP approval</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Agenda and meeting required</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BOM agenda</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16</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SPID: SVP approval</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Agenda and meeting required</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BOM agenda</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17</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SPID: EVP approval</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Agenda and meeting required</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BOM agenda</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18</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SPID: FinAVP approval</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Agenda and meeting required</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BOM agenda</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19</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SPID: Expense Review Committee approval</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Agenda and meeting required</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BOM agenda</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20</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SPID: SEVP approval</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Final SPID sign-off</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BOM agenda</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21</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SPID record closed</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Signing authority granted</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SPID Power App</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2997">
                <a:tc>
                  <a:txBody>
                    <a:bodyPr/>
                    <a:lstStyle/>
                    <a:p>
                      <a:pPr indent="0" marL="0">
                        <a:buNone/>
                      </a:pPr>
                      <a:r>
                        <a:rPr lang="en-US" sz="710" b="1" dirty="0">
                          <a:solidFill>
                            <a:srgbClr val="1A5336"/>
                          </a:solidFill>
                          <a:latin typeface="Arial" pitchFamily="34" charset="0"/>
                          <a:ea typeface="Arial" pitchFamily="34" charset="-122"/>
                          <a:cs typeface="Arial" pitchFamily="34" charset="-120"/>
                        </a:rPr>
                        <a:t>22</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b="1" dirty="0">
                          <a:solidFill>
                            <a:srgbClr val="1E2522"/>
                          </a:solidFill>
                          <a:latin typeface="Arial" pitchFamily="34" charset="0"/>
                          <a:ea typeface="Arial" pitchFamily="34" charset="-122"/>
                          <a:cs typeface="Arial" pitchFamily="34" charset="-120"/>
                        </a:rPr>
                        <a:t>Ariba DocuSign process</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1E2522"/>
                          </a:solidFill>
                          <a:latin typeface="Arial" pitchFamily="34" charset="0"/>
                          <a:ea typeface="Arial" pitchFamily="34" charset="-122"/>
                          <a:cs typeface="Arial" pitchFamily="34" charset="-120"/>
                        </a:rPr>
                        <a:t>Contract execution</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10" dirty="0">
                          <a:solidFill>
                            <a:srgbClr val="2E6B4F"/>
                          </a:solidFill>
                          <a:latin typeface="Arial" pitchFamily="34" charset="0"/>
                          <a:ea typeface="Arial" pitchFamily="34" charset="-122"/>
                          <a:cs typeface="Arial" pitchFamily="34" charset="-120"/>
                        </a:rPr>
                        <a:t>Ariba / DocuSign</a:t>
                      </a:r>
                      <a:endParaRPr lang="en-US" sz="71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bl>
          </a:graphicData>
        </a:graphic>
      </p:graphicFrame>
      <p:sp>
        <p:nvSpPr>
          <p:cNvPr id="6" name="Text 3"/>
          <p:cNvSpPr/>
          <p:nvPr/>
        </p:nvSpPr>
        <p:spPr>
          <a:xfrm>
            <a:off x="411480" y="6217920"/>
            <a:ext cx="8686800" cy="219456"/>
          </a:xfrm>
          <a:prstGeom prst="rect">
            <a:avLst/>
          </a:prstGeom>
          <a:noFill/>
          <a:ln/>
        </p:spPr>
        <p:txBody>
          <a:bodyPr wrap="square" lIns="0" tIns="0" rIns="0" bIns="0" rtlCol="0" anchor="ctr"/>
          <a:lstStyle/>
          <a:p>
            <a:pPr indent="0" marL="0">
              <a:buNone/>
            </a:pPr>
            <a:r>
              <a:rPr lang="en-US" sz="750" dirty="0">
                <a:solidFill>
                  <a:srgbClr val="9C5A00"/>
                </a:solidFill>
                <a:latin typeface="Arial" pitchFamily="34" charset="0"/>
                <a:ea typeface="Arial" pitchFamily="34" charset="-122"/>
                <a:cs typeface="Arial" pitchFamily="34" charset="-120"/>
              </a:rPr>
              <a:t>Highlighted rows happen outside EMS: an offline Excel package, an external procurement process, and manual re-keying to get back in.</a:t>
            </a:r>
            <a:endParaRPr lang="en-US" sz="750" dirty="0"/>
          </a:p>
        </p:txBody>
      </p:sp>
      <p:sp>
        <p:nvSpPr>
          <p:cNvPr id="7" name="Text 4"/>
          <p:cNvSpPr/>
          <p:nvPr/>
        </p:nvSpPr>
        <p:spPr>
          <a:xfrm>
            <a:off x="411480" y="6455664"/>
            <a:ext cx="2743200" cy="237744"/>
          </a:xfrm>
          <a:prstGeom prst="rect">
            <a:avLst/>
          </a:prstGeom>
          <a:noFill/>
          <a:ln/>
        </p:spPr>
        <p:txBody>
          <a:bodyPr wrap="square" lIns="0" tIns="0" rIns="0" bIns="0" rtlCol="0" anchor="ctr"/>
          <a:lstStyle/>
          <a:p>
            <a:pPr algn="l" indent="0" marL="0">
              <a:buNone/>
            </a:pPr>
            <a:r>
              <a:rPr lang="en-US" sz="800" dirty="0">
                <a:solidFill>
                  <a:srgbClr val="9AA6A0"/>
                </a:solidFill>
                <a:latin typeface="Arial" pitchFamily="34" charset="0"/>
                <a:ea typeface="Arial" pitchFamily="34" charset="-122"/>
                <a:cs typeface="Arial" pitchFamily="34" charset="-120"/>
              </a:rPr>
              <a:t>Internal / Interne</a:t>
            </a:r>
            <a:endParaRPr lang="en-US" sz="800" dirty="0"/>
          </a:p>
        </p:txBody>
      </p:sp>
      <p:sp>
        <p:nvSpPr>
          <p:cNvPr id="8" name="Text 5"/>
          <p:cNvSpPr/>
          <p:nvPr/>
        </p:nvSpPr>
        <p:spPr>
          <a:xfrm>
            <a:off x="10863072" y="6455664"/>
            <a:ext cx="914400" cy="237744"/>
          </a:xfrm>
          <a:prstGeom prst="rect">
            <a:avLst/>
          </a:prstGeom>
          <a:noFill/>
          <a:ln/>
        </p:spPr>
        <p:txBody>
          <a:bodyPr wrap="square" lIns="0" tIns="0" rIns="0" bIns="0" rtlCol="0" anchor="ctr"/>
          <a:lstStyle/>
          <a:p>
            <a:pPr algn="r" indent="0" marL="0">
              <a:buNone/>
            </a:pPr>
            <a:r>
              <a:rPr lang="en-US" sz="800" dirty="0">
                <a:solidFill>
                  <a:srgbClr val="9AA6A0"/>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11480" y="274320"/>
            <a:ext cx="10058400" cy="219456"/>
          </a:xfrm>
          <a:prstGeom prst="rect">
            <a:avLst/>
          </a:prstGeom>
          <a:noFill/>
          <a:ln/>
        </p:spPr>
        <p:txBody>
          <a:bodyPr wrap="square" lIns="0" tIns="0" rIns="0" bIns="0" rtlCol="0" anchor="ctr"/>
          <a:lstStyle/>
          <a:p>
            <a:pPr indent="0" marL="0">
              <a:buNone/>
            </a:pPr>
            <a:r>
              <a:rPr lang="en-US" sz="950" b="1" spc="160" kern="0" dirty="0">
                <a:solidFill>
                  <a:srgbClr val="008A00"/>
                </a:solidFill>
                <a:latin typeface="Arial" pitchFamily="34" charset="0"/>
                <a:ea typeface="Arial" pitchFamily="34" charset="-122"/>
                <a:cs typeface="Arial" pitchFamily="34" charset="-120"/>
              </a:rPr>
              <a:t>APPENDIX A2</a:t>
            </a:r>
            <a:endParaRPr lang="en-US" sz="950" dirty="0"/>
          </a:p>
        </p:txBody>
      </p:sp>
      <p:sp>
        <p:nvSpPr>
          <p:cNvPr id="3" name="Text 1"/>
          <p:cNvSpPr/>
          <p:nvPr/>
        </p:nvSpPr>
        <p:spPr>
          <a:xfrm>
            <a:off x="411480" y="502920"/>
            <a:ext cx="11365992" cy="566928"/>
          </a:xfrm>
          <a:prstGeom prst="rect">
            <a:avLst/>
          </a:prstGeom>
          <a:noFill/>
          <a:ln/>
        </p:spPr>
        <p:txBody>
          <a:bodyPr wrap="square" lIns="0" tIns="0" rIns="0" bIns="0" rtlCol="0" anchor="ctr"/>
          <a:lstStyle/>
          <a:p>
            <a:pPr indent="0" marL="0">
              <a:buNone/>
            </a:pPr>
            <a:r>
              <a:rPr lang="en-US" sz="2500" b="1" dirty="0">
                <a:solidFill>
                  <a:srgbClr val="1A5336"/>
                </a:solidFill>
                <a:latin typeface="Arial" pitchFamily="34" charset="0"/>
                <a:ea typeface="Arial" pitchFamily="34" charset="-122"/>
                <a:cs typeface="Arial" pitchFamily="34" charset="-120"/>
              </a:rPr>
              <a:t>Three different approval chains - why a single tracker does not fit</a:t>
            </a:r>
            <a:endParaRPr lang="en-US" sz="2500" dirty="0"/>
          </a:p>
        </p:txBody>
      </p:sp>
      <p:sp>
        <p:nvSpPr>
          <p:cNvPr id="4" name="Text 2"/>
          <p:cNvSpPr/>
          <p:nvPr/>
        </p:nvSpPr>
        <p:spPr>
          <a:xfrm>
            <a:off x="411480" y="1051560"/>
            <a:ext cx="11365992" cy="274320"/>
          </a:xfrm>
          <a:prstGeom prst="rect">
            <a:avLst/>
          </a:prstGeom>
          <a:noFill/>
          <a:ln/>
        </p:spPr>
        <p:txBody>
          <a:bodyPr wrap="square" lIns="0" tIns="0" rIns="0" bIns="0" rtlCol="0" anchor="ctr"/>
          <a:lstStyle/>
          <a:p>
            <a:pPr indent="0" marL="0">
              <a:buNone/>
            </a:pPr>
            <a:r>
              <a:rPr lang="en-US" sz="1150" dirty="0">
                <a:solidFill>
                  <a:srgbClr val="586460"/>
                </a:solidFill>
                <a:latin typeface="Arial" pitchFamily="34" charset="0"/>
                <a:ea typeface="Arial" pitchFamily="34" charset="-122"/>
                <a:cs typeface="Arial" pitchFamily="34" charset="-120"/>
              </a:rPr>
              <a:t>The application must select the chain automatically from GTS status, spend band and Management Consulting classification, then show the right number of steps.</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463040"/>
          <a:ext cx="11365992" cy="914400"/>
        </p:xfrm>
        <a:graphic>
          <a:graphicData uri="http://schemas.openxmlformats.org/drawingml/2006/table">
            <a:tbl>
              <a:tblPr/>
              <a:tblGrid>
                <a:gridCol w="640080"/>
                <a:gridCol w="2331720"/>
                <a:gridCol w="5742432"/>
                <a:gridCol w="822960"/>
                <a:gridCol w="1828800"/>
              </a:tblGrid>
              <a:tr h="292608">
                <a:tc>
                  <a:txBody>
                    <a:bodyPr/>
                    <a:lstStyle/>
                    <a:p>
                      <a:pPr indent="0" marL="0">
                        <a:buNone/>
                      </a:pPr>
                      <a:r>
                        <a:rPr lang="en-US" sz="850" b="1" dirty="0">
                          <a:solidFill>
                            <a:srgbClr val="FFFFFF"/>
                          </a:solidFill>
                          <a:latin typeface="Arial" pitchFamily="34" charset="0"/>
                          <a:ea typeface="Arial" pitchFamily="34" charset="-122"/>
                          <a:cs typeface="Arial" pitchFamily="34" charset="-120"/>
                        </a:rPr>
                        <a:t>Chain</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Applies to</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Approval sequence</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Approvals</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Meeting based?</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r>
              <a:tr h="512064">
                <a:tc>
                  <a:txBody>
                    <a:bodyPr/>
                    <a:lstStyle/>
                    <a:p>
                      <a:pPr indent="0" marL="0">
                        <a:buNone/>
                      </a:pPr>
                      <a:r>
                        <a:rPr lang="en-US" sz="850" b="1" dirty="0">
                          <a:solidFill>
                            <a:srgbClr val="1A5336"/>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Non-GTS request - today's USF flow, unchanged</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Funding Approval (Finance Partner)  &gt;  Final Approval (Business Sponsor / Risk Owner)</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b="1" dirty="0">
                          <a:solidFill>
                            <a:srgbClr val="1E2522"/>
                          </a:solidFill>
                          <a:latin typeface="Arial" pitchFamily="34" charset="0"/>
                          <a:ea typeface="Arial" pitchFamily="34" charset="-122"/>
                          <a:cs typeface="Arial" pitchFamily="34" charset="-120"/>
                        </a:rPr>
                        <a:t>2</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No - digital sign-off</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512064">
                <a:tc>
                  <a:txBody>
                    <a:bodyPr/>
                    <a:lstStyle/>
                    <a:p>
                      <a:pPr indent="0" marL="0">
                        <a:buNone/>
                      </a:pPr>
                      <a:r>
                        <a:rPr lang="en-US" sz="850" b="1" dirty="0">
                          <a:solidFill>
                            <a:srgbClr val="1A5336"/>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GTS request under $100K - no Pipeline, no Management Consulting</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AVP  &gt;  VP  &gt;  SVP (if required by LOB)  &gt;  EVP (if required by LOB)  &gt;  record closed</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b="1" dirty="0">
                          <a:solidFill>
                            <a:srgbClr val="1E2522"/>
                          </a:solidFill>
                          <a:latin typeface="Arial" pitchFamily="34" charset="0"/>
                          <a:ea typeface="Arial" pitchFamily="34" charset="-122"/>
                          <a:cs typeface="Arial" pitchFamily="34" charset="-120"/>
                        </a:rPr>
                        <a:t>2 to 4</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Yes - agenda and meeting, or email review on some flows</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859536">
                <a:tc>
                  <a:txBody>
                    <a:bodyPr/>
                    <a:lstStyle/>
                    <a:p>
                      <a:pPr indent="0" marL="0">
                        <a:buNone/>
                      </a:pPr>
                      <a:r>
                        <a:rPr lang="en-US" sz="850" b="1" dirty="0">
                          <a:solidFill>
                            <a:srgbClr val="9C5A00"/>
                          </a:solidFill>
                          <a:latin typeface="Arial" pitchFamily="34" charset="0"/>
                          <a:ea typeface="Arial" pitchFamily="34" charset="-122"/>
                          <a:cs typeface="Arial" pitchFamily="34" charset="-120"/>
                        </a:rPr>
                        <a:t>C</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GTS request at or over $100K with Management Consulting triggered</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PIPELINE: VP  &gt;  SVP  &gt;  EVP  &gt;  FinAVP / FinEVP  &gt;  Expense Review Committee  &gt;  SEVP     then     SPID: VP  &gt;  SVP  &gt;  EVP  &gt;  FinAVP  &gt;  Expense Review Committee  &gt;  SEVP</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b="1" dirty="0">
                          <a:solidFill>
                            <a:srgbClr val="9C5A00"/>
                          </a:solidFill>
                          <a:latin typeface="Arial" pitchFamily="34" charset="0"/>
                          <a:ea typeface="Arial" pitchFamily="34" charset="-122"/>
                          <a:cs typeface="Arial" pitchFamily="34" charset="-120"/>
                        </a:rPr>
                        <a:t>12</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Yes - every single level</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bl>
          </a:graphicData>
        </a:graphic>
      </p:graphicFrame>
      <p:sp>
        <p:nvSpPr>
          <p:cNvPr id="6" name="Shape 3"/>
          <p:cNvSpPr/>
          <p:nvPr/>
        </p:nvSpPr>
        <p:spPr>
          <a:xfrm>
            <a:off x="411480" y="3877056"/>
            <a:ext cx="5532120" cy="2450592"/>
          </a:xfrm>
          <a:prstGeom prst="roundRect">
            <a:avLst>
              <a:gd name="adj" fmla="val 1866"/>
            </a:avLst>
          </a:prstGeom>
          <a:solidFill>
            <a:srgbClr val="E7EFEA"/>
          </a:solidFill>
          <a:ln w="9525">
            <a:solidFill>
              <a:srgbClr val="CBDBD1"/>
            </a:solidFill>
            <a:prstDash val="solid"/>
          </a:ln>
        </p:spPr>
      </p:sp>
      <p:sp>
        <p:nvSpPr>
          <p:cNvPr id="7" name="Text 4"/>
          <p:cNvSpPr/>
          <p:nvPr/>
        </p:nvSpPr>
        <p:spPr>
          <a:xfrm>
            <a:off x="576072" y="3968496"/>
            <a:ext cx="5212080" cy="219456"/>
          </a:xfrm>
          <a:prstGeom prst="rect">
            <a:avLst/>
          </a:prstGeom>
          <a:noFill/>
          <a:ln/>
        </p:spPr>
        <p:txBody>
          <a:bodyPr wrap="square" lIns="0" tIns="0" rIns="0" bIns="0" rtlCol="0" anchor="ctr"/>
          <a:lstStyle/>
          <a:p>
            <a:pPr indent="0" marL="0">
              <a:buNone/>
            </a:pPr>
            <a:r>
              <a:rPr lang="en-US" sz="1050" b="1" dirty="0">
                <a:solidFill>
                  <a:srgbClr val="1A5336"/>
                </a:solidFill>
                <a:latin typeface="Arial" pitchFamily="34" charset="0"/>
                <a:ea typeface="Arial" pitchFamily="34" charset="-122"/>
                <a:cs typeface="Arial" pitchFamily="34" charset="-120"/>
              </a:rPr>
              <a:t>Rules that govern the chain</a:t>
            </a:r>
            <a:endParaRPr lang="en-US" sz="1050" dirty="0"/>
          </a:p>
        </p:txBody>
      </p:sp>
      <p:sp>
        <p:nvSpPr>
          <p:cNvPr id="8" name="Text 5"/>
          <p:cNvSpPr/>
          <p:nvPr/>
        </p:nvSpPr>
        <p:spPr>
          <a:xfrm>
            <a:off x="576072" y="4224528"/>
            <a:ext cx="5212080" cy="2048256"/>
          </a:xfrm>
          <a:prstGeom prst="rect">
            <a:avLst/>
          </a:prstGeom>
          <a:noFill/>
          <a:ln/>
        </p:spPr>
        <p:txBody>
          <a:bodyPr wrap="square" lIns="0" tIns="0" rIns="0" bIns="0" rtlCol="0" anchor="t"/>
          <a:lstStyle/>
          <a:p>
            <a:pPr marL="139700" indent="-139700">
              <a:spcAft>
                <a:spcPts val="500"/>
              </a:spcAft>
              <a:buSzPct val="100000"/>
              <a:buChar char="•"/>
            </a:pPr>
            <a:r>
              <a:rPr lang="en-US" sz="850" dirty="0">
                <a:solidFill>
                  <a:srgbClr val="2E6B4F"/>
                </a:solidFill>
                <a:latin typeface="Arial" pitchFamily="34" charset="0"/>
                <a:ea typeface="Arial" pitchFamily="34" charset="-122"/>
                <a:cs typeface="Arial" pitchFamily="34" charset="-120"/>
              </a:rPr>
              <a:t>VP is the floor for Pipeline - AVP does not apply</a:t>
            </a:r>
            <a:endParaRPr lang="en-US" sz="850" dirty="0"/>
          </a:p>
          <a:p>
            <a:pPr marL="139700" indent="-139700">
              <a:spcAft>
                <a:spcPts val="500"/>
              </a:spcAft>
              <a:buSzPct val="100000"/>
              <a:buChar char="•"/>
            </a:pPr>
            <a:r>
              <a:rPr lang="en-US" sz="850" dirty="0">
                <a:solidFill>
                  <a:srgbClr val="2E6B4F"/>
                </a:solidFill>
                <a:latin typeface="Arial" pitchFamily="34" charset="0"/>
                <a:ea typeface="Arial" pitchFamily="34" charset="-122"/>
                <a:cs typeface="Arial" pitchFamily="34" charset="-120"/>
              </a:rPr>
              <a:t>Skip logic bypasses a level when no appropriate titled approver sits in the segment; it is driven by a reference table, not by hierarchy assumptions</a:t>
            </a:r>
            <a:endParaRPr lang="en-US" sz="850" dirty="0"/>
          </a:p>
          <a:p>
            <a:pPr marL="139700" indent="-139700">
              <a:spcAft>
                <a:spcPts val="500"/>
              </a:spcAft>
              <a:buSzPct val="100000"/>
              <a:buChar char="•"/>
            </a:pPr>
            <a:r>
              <a:rPr lang="en-US" sz="850" dirty="0">
                <a:solidFill>
                  <a:srgbClr val="2E6B4F"/>
                </a:solidFill>
                <a:latin typeface="Arial" pitchFamily="34" charset="0"/>
                <a:ea typeface="Arial" pitchFamily="34" charset="-122"/>
                <a:cs typeface="Arial" pitchFamily="34" charset="-120"/>
              </a:rPr>
              <a:t>Being on an agenda does not confer authority - authority comes from the Financial Approval Matrix</a:t>
            </a:r>
            <a:endParaRPr lang="en-US" sz="850" dirty="0"/>
          </a:p>
          <a:p>
            <a:pPr marL="139700" indent="-139700">
              <a:spcAft>
                <a:spcPts val="500"/>
              </a:spcAft>
              <a:buSzPct val="100000"/>
              <a:buChar char="•"/>
            </a:pPr>
            <a:r>
              <a:rPr lang="en-US" sz="850" dirty="0">
                <a:solidFill>
                  <a:srgbClr val="2E6B4F"/>
                </a:solidFill>
                <a:latin typeface="Arial" pitchFamily="34" charset="0"/>
                <a:ea typeface="Arial" pitchFamily="34" charset="-122"/>
                <a:cs typeface="Arial" pitchFamily="34" charset="-120"/>
              </a:rPr>
              <a:t>If the requestor is also an approver, the request still runs the normal chain. No self-approval</a:t>
            </a:r>
            <a:endParaRPr lang="en-US" sz="850" dirty="0"/>
          </a:p>
          <a:p>
            <a:pPr marL="139700" indent="-139700">
              <a:spcAft>
                <a:spcPts val="500"/>
              </a:spcAft>
              <a:buSzPct val="100000"/>
              <a:buChar char="•"/>
            </a:pPr>
            <a:r>
              <a:rPr lang="en-US" sz="850" dirty="0">
                <a:solidFill>
                  <a:srgbClr val="2E6B4F"/>
                </a:solidFill>
                <a:latin typeface="Arial" pitchFamily="34" charset="0"/>
                <a:ea typeface="Arial" pitchFamily="34" charset="-122"/>
                <a:cs typeface="Arial" pitchFamily="34" charset="-120"/>
              </a:rPr>
              <a:t>A Pipeline intake can sit on only one active agenda at a time</a:t>
            </a:r>
            <a:endParaRPr lang="en-US" sz="850" dirty="0"/>
          </a:p>
          <a:p>
            <a:pPr marL="139700" indent="-139700">
              <a:spcAft>
                <a:spcPts val="500"/>
              </a:spcAft>
              <a:buSzPct val="100000"/>
              <a:buChar char="•"/>
            </a:pPr>
            <a:r>
              <a:rPr lang="en-US" sz="850" dirty="0">
                <a:solidFill>
                  <a:srgbClr val="2E6B4F"/>
                </a:solidFill>
                <a:latin typeface="Arial" pitchFamily="34" charset="0"/>
                <a:ea typeface="Arial" pitchFamily="34" charset="-122"/>
                <a:cs typeface="Arial" pitchFamily="34" charset="-120"/>
              </a:rPr>
              <a:t>Pipeline must be submitted at least 90 days before the procurement engagement date</a:t>
            </a:r>
            <a:endParaRPr lang="en-US" sz="850" dirty="0"/>
          </a:p>
          <a:p>
            <a:pPr marL="139700" indent="-139700">
              <a:spcAft>
                <a:spcPts val="500"/>
              </a:spcAft>
              <a:buSzPct val="100000"/>
              <a:buChar char="•"/>
            </a:pPr>
            <a:r>
              <a:rPr lang="en-US" sz="850" dirty="0">
                <a:solidFill>
                  <a:srgbClr val="2E6B4F"/>
                </a:solidFill>
                <a:latin typeface="Arial" pitchFamily="34" charset="0"/>
                <a:ea typeface="Arial" pitchFamily="34" charset="-122"/>
                <a:cs typeface="Arial" pitchFamily="34" charset="-120"/>
              </a:rPr>
              <a:t>Approvers never edit request data. A change is requested through Send Back, and only the requestor edits</a:t>
            </a:r>
            <a:endParaRPr lang="en-US" sz="850" dirty="0"/>
          </a:p>
          <a:p>
            <a:pPr marL="139700" indent="-139700">
              <a:spcAft>
                <a:spcPts val="500"/>
              </a:spcAft>
              <a:buSzPct val="100000"/>
              <a:buChar char="•"/>
            </a:pPr>
            <a:r>
              <a:rPr lang="en-US" sz="850" dirty="0">
                <a:solidFill>
                  <a:srgbClr val="2E6B4F"/>
                </a:solidFill>
                <a:latin typeface="Arial" pitchFamily="34" charset="0"/>
                <a:ea typeface="Arial" pitchFamily="34" charset="-122"/>
                <a:cs typeface="Arial" pitchFamily="34" charset="-120"/>
              </a:rPr>
              <a:t>Adding spend to an already-approved SOW re-triggers Pipeline</a:t>
            </a:r>
            <a:endParaRPr lang="en-US" sz="850" dirty="0"/>
          </a:p>
          <a:p>
            <a:pPr marL="139700" indent="-139700">
              <a:spcAft>
                <a:spcPts val="500"/>
              </a:spcAft>
              <a:buSzPct val="100000"/>
              <a:buChar char="•"/>
            </a:pPr>
            <a:r>
              <a:rPr lang="en-US" sz="850" dirty="0">
                <a:solidFill>
                  <a:srgbClr val="2E6B4F"/>
                </a:solidFill>
                <a:latin typeface="Arial" pitchFamily="34" charset="0"/>
                <a:ea typeface="Arial" pitchFamily="34" charset="-122"/>
                <a:cs typeface="Arial" pitchFamily="34" charset="-120"/>
              </a:rPr>
              <a:t>Where no route can be found the request goes to an approved fallback owner - current guidance points to the Segment BOM Lead, an individual rather than a shared mailbox</a:t>
            </a:r>
            <a:endParaRPr lang="en-US" sz="850" dirty="0"/>
          </a:p>
        </p:txBody>
      </p:sp>
      <p:sp>
        <p:nvSpPr>
          <p:cNvPr id="9" name="Shape 6"/>
          <p:cNvSpPr/>
          <p:nvPr/>
        </p:nvSpPr>
        <p:spPr>
          <a:xfrm>
            <a:off x="6245352" y="3877056"/>
            <a:ext cx="5532120" cy="2450592"/>
          </a:xfrm>
          <a:prstGeom prst="roundRect">
            <a:avLst>
              <a:gd name="adj" fmla="val 1866"/>
            </a:avLst>
          </a:prstGeom>
          <a:solidFill>
            <a:srgbClr val="FBEEDA"/>
          </a:solidFill>
          <a:ln w="9525">
            <a:solidFill>
              <a:srgbClr val="EAD3AF"/>
            </a:solidFill>
            <a:prstDash val="solid"/>
          </a:ln>
        </p:spPr>
      </p:sp>
      <p:sp>
        <p:nvSpPr>
          <p:cNvPr id="10" name="Text 7"/>
          <p:cNvSpPr/>
          <p:nvPr/>
        </p:nvSpPr>
        <p:spPr>
          <a:xfrm>
            <a:off x="6409944" y="3968496"/>
            <a:ext cx="5212080" cy="219456"/>
          </a:xfrm>
          <a:prstGeom prst="rect">
            <a:avLst/>
          </a:prstGeom>
          <a:noFill/>
          <a:ln/>
        </p:spPr>
        <p:txBody>
          <a:bodyPr wrap="square" lIns="0" tIns="0" rIns="0" bIns="0" rtlCol="0" anchor="ctr"/>
          <a:lstStyle/>
          <a:p>
            <a:pPr indent="0" marL="0">
              <a:buNone/>
            </a:pPr>
            <a:r>
              <a:rPr lang="en-US" sz="1050" b="1" dirty="0">
                <a:solidFill>
                  <a:srgbClr val="9C5A00"/>
                </a:solidFill>
                <a:latin typeface="Arial" pitchFamily="34" charset="0"/>
                <a:ea typeface="Arial" pitchFamily="34" charset="-122"/>
                <a:cs typeface="Arial" pitchFamily="34" charset="-120"/>
              </a:rPr>
              <a:t>Open conflict to resolve before build</a:t>
            </a:r>
            <a:endParaRPr lang="en-US" sz="1050" dirty="0"/>
          </a:p>
        </p:txBody>
      </p:sp>
      <p:sp>
        <p:nvSpPr>
          <p:cNvPr id="11" name="Text 8"/>
          <p:cNvSpPr/>
          <p:nvPr/>
        </p:nvSpPr>
        <p:spPr>
          <a:xfrm>
            <a:off x="6409944" y="4224528"/>
            <a:ext cx="5212080" cy="2048256"/>
          </a:xfrm>
          <a:prstGeom prst="rect">
            <a:avLst/>
          </a:prstGeom>
          <a:noFill/>
          <a:ln/>
        </p:spPr>
        <p:txBody>
          <a:bodyPr wrap="square" lIns="0" tIns="0" rIns="0" bIns="0" rtlCol="0" anchor="t"/>
          <a:lstStyle/>
          <a:p>
            <a:pPr indent="0" marL="0">
              <a:lnSpc>
                <a:spcPct val="102000"/>
              </a:lnSpc>
              <a:buNone/>
            </a:pPr>
            <a:r>
              <a:rPr lang="en-US" sz="850" dirty="0">
                <a:solidFill>
                  <a:srgbClr val="6E4300"/>
                </a:solidFill>
                <a:latin typeface="Arial" pitchFamily="34" charset="0"/>
                <a:ea typeface="Arial" pitchFamily="34" charset="-122"/>
                <a:cs typeface="Arial" pitchFamily="34" charset="-120"/>
              </a:rPr>
              <a:t>Decision values: older EMS notes use Approve / Reject / Skipped, where a skipped item rolls to the next agenda. The MVP1 requirement is Approve / Reject / Send Back, with every item decided before the agenda closes. Both cannot be built - the business has to pick one.</a:t>
            </a:r>
            <a:endParaRPr lang="en-US" sz="850" dirty="0"/>
          </a:p>
          <a:p>
            <a:pPr indent="0" marL="0">
              <a:lnSpc>
                <a:spcPct val="102000"/>
              </a:lnSpc>
              <a:buNone/>
            </a:pPr>
            <a:endParaRPr lang="en-US" sz="850" dirty="0"/>
          </a:p>
          <a:p>
            <a:pPr indent="0" marL="0">
              <a:lnSpc>
                <a:spcPct val="102000"/>
              </a:lnSpc>
              <a:buNone/>
            </a:pPr>
            <a:r>
              <a:rPr lang="en-US" sz="850" dirty="0">
                <a:solidFill>
                  <a:srgbClr val="6E4300"/>
                </a:solidFill>
                <a:latin typeface="Arial" pitchFamily="34" charset="0"/>
                <a:ea typeface="Arial" pitchFamily="34" charset="-122"/>
                <a:cs typeface="Arial" pitchFamily="34" charset="-120"/>
              </a:rPr>
              <a:t>SPID re-approval: the same six levels run a second time for contract execution. Whether SPID can be fast-tracked when nothing material changed since Pipeline is an open question, not an MVP1 commitment.</a:t>
            </a:r>
            <a:endParaRPr lang="en-US" sz="850" dirty="0"/>
          </a:p>
          <a:p>
            <a:pPr indent="0" marL="0">
              <a:lnSpc>
                <a:spcPct val="102000"/>
              </a:lnSpc>
              <a:buNone/>
            </a:pPr>
            <a:endParaRPr lang="en-US" sz="850" dirty="0"/>
          </a:p>
          <a:p>
            <a:pPr indent="0" marL="0">
              <a:lnSpc>
                <a:spcPct val="102000"/>
              </a:lnSpc>
              <a:buNone/>
            </a:pPr>
            <a:r>
              <a:rPr lang="en-US" sz="850" dirty="0">
                <a:solidFill>
                  <a:srgbClr val="6E4300"/>
                </a:solidFill>
                <a:latin typeface="Arial" pitchFamily="34" charset="0"/>
                <a:ea typeface="Arial" pitchFamily="34" charset="-122"/>
                <a:cs typeface="Arial" pitchFamily="34" charset="-120"/>
              </a:rPr>
              <a:t>Agenda access: BOM Leads build agendas on a separate website today. Access to that site has been requested and not granted, so the in-app replacement is being designed from description rather than observation.</a:t>
            </a:r>
            <a:endParaRPr lang="en-US" sz="850" dirty="0"/>
          </a:p>
          <a:p>
            <a:pPr indent="0" marL="0">
              <a:lnSpc>
                <a:spcPct val="102000"/>
              </a:lnSpc>
              <a:buNone/>
            </a:pPr>
            <a:endParaRPr lang="en-US" sz="850" dirty="0"/>
          </a:p>
          <a:p>
            <a:pPr indent="0" marL="0">
              <a:lnSpc>
                <a:spcPct val="102000"/>
              </a:lnSpc>
              <a:buNone/>
            </a:pPr>
            <a:r>
              <a:rPr lang="en-US" sz="850" dirty="0">
                <a:solidFill>
                  <a:srgbClr val="6E4300"/>
                </a:solidFill>
                <a:latin typeface="Arial" pitchFamily="34" charset="0"/>
                <a:ea typeface="Arial" pitchFamily="34" charset="-122"/>
                <a:cs typeface="Arial" pitchFamily="34" charset="-120"/>
              </a:rPr>
              <a:t>One more conflict to close: older material assumes full EMS absorption and live Ariba ingestion. The MVP1 decision is Vendor Expense only, with procurement handled manually. Both cannot be true.</a:t>
            </a:r>
            <a:endParaRPr lang="en-US" sz="850" dirty="0"/>
          </a:p>
        </p:txBody>
      </p:sp>
      <p:sp>
        <p:nvSpPr>
          <p:cNvPr id="12" name="Text 9"/>
          <p:cNvSpPr/>
          <p:nvPr/>
        </p:nvSpPr>
        <p:spPr>
          <a:xfrm>
            <a:off x="411480" y="6455664"/>
            <a:ext cx="2743200" cy="237744"/>
          </a:xfrm>
          <a:prstGeom prst="rect">
            <a:avLst/>
          </a:prstGeom>
          <a:noFill/>
          <a:ln/>
        </p:spPr>
        <p:txBody>
          <a:bodyPr wrap="square" lIns="0" tIns="0" rIns="0" bIns="0" rtlCol="0" anchor="ctr"/>
          <a:lstStyle/>
          <a:p>
            <a:pPr algn="l" indent="0" marL="0">
              <a:buNone/>
            </a:pPr>
            <a:r>
              <a:rPr lang="en-US" sz="800" dirty="0">
                <a:solidFill>
                  <a:srgbClr val="9AA6A0"/>
                </a:solidFill>
                <a:latin typeface="Arial" pitchFamily="34" charset="0"/>
                <a:ea typeface="Arial" pitchFamily="34" charset="-122"/>
                <a:cs typeface="Arial" pitchFamily="34" charset="-120"/>
              </a:rPr>
              <a:t>Internal / Interne</a:t>
            </a:r>
            <a:endParaRPr lang="en-US" sz="800" dirty="0"/>
          </a:p>
        </p:txBody>
      </p:sp>
      <p:sp>
        <p:nvSpPr>
          <p:cNvPr id="13" name="Text 10"/>
          <p:cNvSpPr/>
          <p:nvPr/>
        </p:nvSpPr>
        <p:spPr>
          <a:xfrm>
            <a:off x="10863072" y="6455664"/>
            <a:ext cx="914400" cy="237744"/>
          </a:xfrm>
          <a:prstGeom prst="rect">
            <a:avLst/>
          </a:prstGeom>
          <a:noFill/>
          <a:ln/>
        </p:spPr>
        <p:txBody>
          <a:bodyPr wrap="square" lIns="0" tIns="0" rIns="0" bIns="0" rtlCol="0" anchor="ctr"/>
          <a:lstStyle/>
          <a:p>
            <a:pPr algn="r" indent="0" marL="0">
              <a:buNone/>
            </a:pPr>
            <a:r>
              <a:rPr lang="en-US" sz="800" dirty="0">
                <a:solidFill>
                  <a:srgbClr val="9AA6A0"/>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11480" y="274320"/>
            <a:ext cx="10058400" cy="219456"/>
          </a:xfrm>
          <a:prstGeom prst="rect">
            <a:avLst/>
          </a:prstGeom>
          <a:noFill/>
          <a:ln/>
        </p:spPr>
        <p:txBody>
          <a:bodyPr wrap="square" lIns="0" tIns="0" rIns="0" bIns="0" rtlCol="0" anchor="ctr"/>
          <a:lstStyle/>
          <a:p>
            <a:pPr indent="0" marL="0">
              <a:buNone/>
            </a:pPr>
            <a:r>
              <a:rPr lang="en-US" sz="950" b="1" spc="160" kern="0" dirty="0">
                <a:solidFill>
                  <a:srgbClr val="008A00"/>
                </a:solidFill>
                <a:latin typeface="Arial" pitchFamily="34" charset="0"/>
                <a:ea typeface="Arial" pitchFamily="34" charset="-122"/>
                <a:cs typeface="Arial" pitchFamily="34" charset="-120"/>
              </a:rPr>
              <a:t>APPENDIX A3</a:t>
            </a:r>
            <a:endParaRPr lang="en-US" sz="950" dirty="0"/>
          </a:p>
        </p:txBody>
      </p:sp>
      <p:sp>
        <p:nvSpPr>
          <p:cNvPr id="3" name="Text 1"/>
          <p:cNvSpPr/>
          <p:nvPr/>
        </p:nvSpPr>
        <p:spPr>
          <a:xfrm>
            <a:off x="411480" y="502920"/>
            <a:ext cx="11365992" cy="566928"/>
          </a:xfrm>
          <a:prstGeom prst="rect">
            <a:avLst/>
          </a:prstGeom>
          <a:noFill/>
          <a:ln/>
        </p:spPr>
        <p:txBody>
          <a:bodyPr wrap="square" lIns="0" tIns="0" rIns="0" bIns="0" rtlCol="0" anchor="ctr"/>
          <a:lstStyle/>
          <a:p>
            <a:pPr indent="0" marL="0">
              <a:buNone/>
            </a:pPr>
            <a:r>
              <a:rPr lang="en-US" sz="2500" b="1" dirty="0">
                <a:solidFill>
                  <a:srgbClr val="1A5336"/>
                </a:solidFill>
                <a:latin typeface="Arial" pitchFamily="34" charset="0"/>
                <a:ea typeface="Arial" pitchFamily="34" charset="-122"/>
                <a:cs typeface="Arial" pitchFamily="34" charset="-120"/>
              </a:rPr>
              <a:t>Management Consulting: how it works today and what changes</a:t>
            </a:r>
            <a:endParaRPr lang="en-US" sz="2500" dirty="0"/>
          </a:p>
        </p:txBody>
      </p:sp>
      <p:sp>
        <p:nvSpPr>
          <p:cNvPr id="4" name="Text 2"/>
          <p:cNvSpPr/>
          <p:nvPr/>
        </p:nvSpPr>
        <p:spPr>
          <a:xfrm>
            <a:off x="411480" y="1051560"/>
            <a:ext cx="11365992" cy="274320"/>
          </a:xfrm>
          <a:prstGeom prst="rect">
            <a:avLst/>
          </a:prstGeom>
          <a:noFill/>
          <a:ln/>
        </p:spPr>
        <p:txBody>
          <a:bodyPr wrap="square" lIns="0" tIns="0" rIns="0" bIns="0" rtlCol="0" anchor="ctr"/>
          <a:lstStyle/>
          <a:p>
            <a:pPr indent="0" marL="0">
              <a:buNone/>
            </a:pPr>
            <a:r>
              <a:rPr lang="en-US" sz="1150" dirty="0">
                <a:solidFill>
                  <a:srgbClr val="586460"/>
                </a:solidFill>
                <a:latin typeface="Arial" pitchFamily="34" charset="0"/>
                <a:ea typeface="Arial" pitchFamily="34" charset="-122"/>
                <a:cs typeface="Arial" pitchFamily="34" charset="-120"/>
              </a:rPr>
              <a:t>MC is a policy-driven classification, not a request type and not something the requestor chooses.</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463040"/>
          <a:ext cx="11365992" cy="914400"/>
        </p:xfrm>
        <a:graphic>
          <a:graphicData uri="http://schemas.openxmlformats.org/drawingml/2006/table">
            <a:tbl>
              <a:tblPr/>
              <a:tblGrid>
                <a:gridCol w="1874520"/>
                <a:gridCol w="4745736"/>
                <a:gridCol w="4745736"/>
              </a:tblGrid>
              <a:tr h="525780">
                <a:tc>
                  <a:txBody>
                    <a:bodyPr/>
                    <a:lstStyle/>
                    <a:p>
                      <a:pPr indent="0" marL="0">
                        <a:buNone/>
                      </a:pPr>
                      <a:r>
                        <a:rPr lang="en-US" sz="850" b="1" dirty="0">
                          <a:solidFill>
                            <a:srgbClr val="FFFFFF"/>
                          </a:solidFill>
                          <a:latin typeface="Arial" pitchFamily="34" charset="0"/>
                          <a:ea typeface="Arial" pitchFamily="34" charset="-122"/>
                          <a:cs typeface="Arial" pitchFamily="34" charset="-120"/>
                        </a:rPr>
                        <a:t>Aspect</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Today</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MVP1 in USF</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r>
              <a:tr h="525780">
                <a:tc>
                  <a:txBody>
                    <a:bodyPr/>
                    <a:lstStyle/>
                    <a:p>
                      <a:pPr indent="0" marL="0">
                        <a:buNone/>
                      </a:pPr>
                      <a:r>
                        <a:rPr lang="en-US" sz="850" dirty="0">
                          <a:solidFill>
                            <a:srgbClr val="1E2522"/>
                          </a:solidFill>
                          <a:latin typeface="Arial" pitchFamily="34" charset="0"/>
                          <a:ea typeface="Arial" pitchFamily="34" charset="-122"/>
                          <a:cs typeface="Arial" pitchFamily="34" charset="-120"/>
                        </a:rPr>
                        <a:t>How it is classified</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Derived from the procurement policy. GTS plus spend at or over $100K alone is NOT the rule</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Derived by the application from the intake answers plus the approved exemption list</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525780">
                <a:tc>
                  <a:txBody>
                    <a:bodyPr/>
                    <a:lstStyle/>
                    <a:p>
                      <a:pPr indent="0" marL="0">
                        <a:buNone/>
                      </a:pPr>
                      <a:r>
                        <a:rPr lang="en-US" sz="850" dirty="0">
                          <a:solidFill>
                            <a:srgbClr val="1E2522"/>
                          </a:solidFill>
                          <a:latin typeface="Arial" pitchFamily="34" charset="0"/>
                          <a:ea typeface="Arial" pitchFamily="34" charset="-122"/>
                          <a:cs typeface="Arial" pitchFamily="34" charset="-120"/>
                        </a:rPr>
                        <a:t>Who selects it</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Nobody selects it - it is a classification, not a role or a tile</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System-derived flag. Hidden from the submitter; visible to admins and BOM Leads</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525780">
                <a:tc>
                  <a:txBody>
                    <a:bodyPr/>
                    <a:lstStyle/>
                    <a:p>
                      <a:pPr indent="0" marL="0">
                        <a:buNone/>
                      </a:pPr>
                      <a:r>
                        <a:rPr lang="en-US" sz="850" dirty="0">
                          <a:solidFill>
                            <a:srgbClr val="1E2522"/>
                          </a:solidFill>
                          <a:latin typeface="Arial" pitchFamily="34" charset="0"/>
                          <a:ea typeface="Arial" pitchFamily="34" charset="-122"/>
                          <a:cs typeface="Arial" pitchFamily="34" charset="-120"/>
                        </a:rPr>
                        <a:t>Trigger scope</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New SOWs and renewals at or over $100K. In scope: advisory and strategic, implementation and transformation, operational improvement, specialised expertise, staff augmentation</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Same policy rules, encoded once the procurement policy is formally provided</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525780">
                <a:tc>
                  <a:txBody>
                    <a:bodyPr/>
                    <a:lstStyle/>
                    <a:p>
                      <a:pPr indent="0" marL="0">
                        <a:buNone/>
                      </a:pPr>
                      <a:r>
                        <a:rPr lang="en-US" sz="850" dirty="0">
                          <a:solidFill>
                            <a:srgbClr val="1E2522"/>
                          </a:solidFill>
                          <a:latin typeface="Arial" pitchFamily="34" charset="0"/>
                          <a:ea typeface="Arial" pitchFamily="34" charset="-122"/>
                          <a:cs typeface="Arial" pitchFamily="34" charset="-120"/>
                        </a:rPr>
                        <a:t>Exemptions</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Low-cost Global Delivery vendors (Cognizant, TCS, Wipro), Eagle-funded remediation, OEM services. Approval to Hire never routes to MC</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Maintained as an MC exemption reference list with a named owner</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525780">
                <a:tc>
                  <a:txBody>
                    <a:bodyPr/>
                    <a:lstStyle/>
                    <a:p>
                      <a:pPr indent="0" marL="0">
                        <a:buNone/>
                      </a:pPr>
                      <a:r>
                        <a:rPr lang="en-US" sz="850" dirty="0">
                          <a:solidFill>
                            <a:srgbClr val="1E2522"/>
                          </a:solidFill>
                          <a:latin typeface="Arial" pitchFamily="34" charset="0"/>
                          <a:ea typeface="Arial" pitchFamily="34" charset="-122"/>
                          <a:cs typeface="Arial" pitchFamily="34" charset="-120"/>
                        </a:rPr>
                        <a:t>Extra approvals added</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FinAVP / FinEVP and the Expense Review Committee join the Pipeline chain, and every MC approval routes to SEVP</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Unchanged - the same policy-driven levels, routed by the matrix</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525780">
                <a:tc>
                  <a:txBody>
                    <a:bodyPr/>
                    <a:lstStyle/>
                    <a:p>
                      <a:pPr indent="0" marL="0">
                        <a:buNone/>
                      </a:pPr>
                      <a:r>
                        <a:rPr lang="en-US" sz="850" dirty="0">
                          <a:solidFill>
                            <a:srgbClr val="1E2522"/>
                          </a:solidFill>
                          <a:latin typeface="Arial" pitchFamily="34" charset="0"/>
                          <a:ea typeface="Arial" pitchFamily="34" charset="-122"/>
                          <a:cs typeface="Arial" pitchFamily="34" charset="-120"/>
                        </a:rPr>
                        <a:t>The MC package</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Offline Excel template plus the 10 standard SOW justification questions, completed outside EMS</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Questions captured inside the intake; the package is generated rather than hand-assembled</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525780">
                <a:tc>
                  <a:txBody>
                    <a:bodyPr/>
                    <a:lstStyle/>
                    <a:p>
                      <a:pPr indent="0" marL="0">
                        <a:buNone/>
                      </a:pPr>
                      <a:r>
                        <a:rPr lang="en-US" sz="850" dirty="0">
                          <a:solidFill>
                            <a:srgbClr val="1E2522"/>
                          </a:solidFill>
                          <a:latin typeface="Arial" pitchFamily="34" charset="0"/>
                          <a:ea typeface="Arial" pitchFamily="34" charset="-122"/>
                          <a:cs typeface="Arial" pitchFamily="34" charset="-120"/>
                        </a:rPr>
                        <a:t>Hand-off after approval</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Template plus the SEVP approval email must be uploaded to the Ariba SR record within 2 days of Pipeline approval - a hard SLA with no system reminder</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1E2522"/>
                          </a:solidFill>
                          <a:latin typeface="Arial" pitchFamily="34" charset="0"/>
                          <a:ea typeface="Arial" pitchFamily="34" charset="-122"/>
                          <a:cs typeface="Arial" pitchFamily="34" charset="-120"/>
                        </a:rPr>
                        <a:t>Captured at intake and carried forward with the request, removing the 2-day scramble</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525780">
                <a:tc>
                  <a:txBody>
                    <a:bodyPr/>
                    <a:lstStyle/>
                    <a:p>
                      <a:pPr indent="0" marL="0">
                        <a:buNone/>
                      </a:pPr>
                      <a:r>
                        <a:rPr lang="en-US" sz="850" b="1" dirty="0">
                          <a:solidFill>
                            <a:srgbClr val="9C5A00"/>
                          </a:solidFill>
                          <a:latin typeface="Arial" pitchFamily="34" charset="0"/>
                          <a:ea typeface="Arial" pitchFamily="34" charset="-122"/>
                          <a:cs typeface="Arial" pitchFamily="34" charset="-120"/>
                        </a:rPr>
                        <a:t>Still owed by the business</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dirty="0">
                          <a:solidFill>
                            <a:srgbClr val="6E4300"/>
                          </a:solidFill>
                          <a:latin typeface="Arial" pitchFamily="34" charset="0"/>
                          <a:ea typeface="Arial" pitchFamily="34" charset="-122"/>
                          <a:cs typeface="Arial" pitchFamily="34" charset="-120"/>
                        </a:rPr>
                        <a:t>The procurement policy document that defines the MC trigger, the formal exemption list, the MC Excel template and the 10 standard questions, and the exact MC approval matrix</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50" b="1" dirty="0">
                          <a:solidFill>
                            <a:srgbClr val="6E4300"/>
                          </a:solidFill>
                          <a:latin typeface="Arial" pitchFamily="34" charset="0"/>
                          <a:ea typeface="Arial" pitchFamily="34" charset="-122"/>
                          <a:cs typeface="Arial" pitchFamily="34" charset="-120"/>
                        </a:rPr>
                        <a:t>None of this can be hard-coded from draft notes. It is a named dependency on the critical path</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bl>
          </a:graphicData>
        </a:graphic>
      </p:graphicFrame>
      <p:sp>
        <p:nvSpPr>
          <p:cNvPr id="6" name="Text 3"/>
          <p:cNvSpPr/>
          <p:nvPr/>
        </p:nvSpPr>
        <p:spPr>
          <a:xfrm>
            <a:off x="411480" y="6455664"/>
            <a:ext cx="2743200" cy="237744"/>
          </a:xfrm>
          <a:prstGeom prst="rect">
            <a:avLst/>
          </a:prstGeom>
          <a:noFill/>
          <a:ln/>
        </p:spPr>
        <p:txBody>
          <a:bodyPr wrap="square" lIns="0" tIns="0" rIns="0" bIns="0" rtlCol="0" anchor="ctr"/>
          <a:lstStyle/>
          <a:p>
            <a:pPr algn="l" indent="0" marL="0">
              <a:buNone/>
            </a:pPr>
            <a:r>
              <a:rPr lang="en-US" sz="800" dirty="0">
                <a:solidFill>
                  <a:srgbClr val="9AA6A0"/>
                </a:solidFill>
                <a:latin typeface="Arial" pitchFamily="34" charset="0"/>
                <a:ea typeface="Arial" pitchFamily="34" charset="-122"/>
                <a:cs typeface="Arial" pitchFamily="34" charset="-120"/>
              </a:rPr>
              <a:t>Internal / Interne</a:t>
            </a:r>
            <a:endParaRPr lang="en-US" sz="800" dirty="0"/>
          </a:p>
        </p:txBody>
      </p:sp>
      <p:sp>
        <p:nvSpPr>
          <p:cNvPr id="7" name="Text 4"/>
          <p:cNvSpPr/>
          <p:nvPr/>
        </p:nvSpPr>
        <p:spPr>
          <a:xfrm>
            <a:off x="10863072" y="6455664"/>
            <a:ext cx="914400" cy="237744"/>
          </a:xfrm>
          <a:prstGeom prst="rect">
            <a:avLst/>
          </a:prstGeom>
          <a:noFill/>
          <a:ln/>
        </p:spPr>
        <p:txBody>
          <a:bodyPr wrap="square" lIns="0" tIns="0" rIns="0" bIns="0" rtlCol="0" anchor="ctr"/>
          <a:lstStyle/>
          <a:p>
            <a:pPr algn="r" indent="0" marL="0">
              <a:buNone/>
            </a:pPr>
            <a:r>
              <a:rPr lang="en-US" sz="800" dirty="0">
                <a:solidFill>
                  <a:srgbClr val="9AA6A0"/>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11480" y="274320"/>
            <a:ext cx="10058400" cy="219456"/>
          </a:xfrm>
          <a:prstGeom prst="rect">
            <a:avLst/>
          </a:prstGeom>
          <a:noFill/>
          <a:ln/>
        </p:spPr>
        <p:txBody>
          <a:bodyPr wrap="square" lIns="0" tIns="0" rIns="0" bIns="0" rtlCol="0" anchor="ctr"/>
          <a:lstStyle/>
          <a:p>
            <a:pPr indent="0" marL="0">
              <a:buNone/>
            </a:pPr>
            <a:r>
              <a:rPr lang="en-US" sz="950" b="1" spc="160" kern="0" dirty="0">
                <a:solidFill>
                  <a:srgbClr val="008A00"/>
                </a:solidFill>
                <a:latin typeface="Arial" pitchFamily="34" charset="0"/>
                <a:ea typeface="Arial" pitchFamily="34" charset="-122"/>
                <a:cs typeface="Arial" pitchFamily="34" charset="-120"/>
              </a:rPr>
              <a:t>APPENDIX A4</a:t>
            </a:r>
            <a:endParaRPr lang="en-US" sz="950" dirty="0"/>
          </a:p>
        </p:txBody>
      </p:sp>
      <p:sp>
        <p:nvSpPr>
          <p:cNvPr id="3" name="Text 1"/>
          <p:cNvSpPr/>
          <p:nvPr/>
        </p:nvSpPr>
        <p:spPr>
          <a:xfrm>
            <a:off x="411480" y="502920"/>
            <a:ext cx="11365992" cy="566928"/>
          </a:xfrm>
          <a:prstGeom prst="rect">
            <a:avLst/>
          </a:prstGeom>
          <a:noFill/>
          <a:ln/>
        </p:spPr>
        <p:txBody>
          <a:bodyPr wrap="square" lIns="0" tIns="0" rIns="0" bIns="0" rtlCol="0" anchor="ctr"/>
          <a:lstStyle/>
          <a:p>
            <a:pPr indent="0" marL="0">
              <a:buNone/>
            </a:pPr>
            <a:r>
              <a:rPr lang="en-US" sz="2500" b="1" dirty="0">
                <a:solidFill>
                  <a:srgbClr val="1A5336"/>
                </a:solidFill>
                <a:latin typeface="Arial" pitchFamily="34" charset="0"/>
                <a:ea typeface="Arial" pitchFamily="34" charset="-122"/>
                <a:cs typeface="Arial" pitchFamily="34" charset="-120"/>
              </a:rPr>
              <a:t>The SharePoint lists and reports this flow depends on</a:t>
            </a:r>
            <a:endParaRPr lang="en-US" sz="2500" dirty="0"/>
          </a:p>
        </p:txBody>
      </p:sp>
      <p:sp>
        <p:nvSpPr>
          <p:cNvPr id="4" name="Text 2"/>
          <p:cNvSpPr/>
          <p:nvPr/>
        </p:nvSpPr>
        <p:spPr>
          <a:xfrm>
            <a:off x="411480" y="1051560"/>
            <a:ext cx="11365992" cy="274320"/>
          </a:xfrm>
          <a:prstGeom prst="rect">
            <a:avLst/>
          </a:prstGeom>
          <a:noFill/>
          <a:ln/>
        </p:spPr>
        <p:txBody>
          <a:bodyPr wrap="square" lIns="0" tIns="0" rIns="0" bIns="0" rtlCol="0" anchor="ctr"/>
          <a:lstStyle/>
          <a:p>
            <a:pPr indent="0" marL="0">
              <a:buNone/>
            </a:pPr>
            <a:r>
              <a:rPr lang="en-US" sz="1150" dirty="0">
                <a:solidFill>
                  <a:srgbClr val="586460"/>
                </a:solidFill>
                <a:latin typeface="Arial" pitchFamily="34" charset="0"/>
                <a:ea typeface="Arial" pitchFamily="34" charset="-122"/>
                <a:cs typeface="Arial" pitchFamily="34" charset="-120"/>
              </a:rPr>
              <a:t>Much of today's validation is fed by hand-maintained lists. Several have no documented owner or system of record - this is the largest quiet risk in the current state.</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426464"/>
          <a:ext cx="11365992" cy="914400"/>
        </p:xfrm>
        <a:graphic>
          <a:graphicData uri="http://schemas.openxmlformats.org/drawingml/2006/table">
            <a:tbl>
              <a:tblPr/>
              <a:tblGrid>
                <a:gridCol w="2788920"/>
                <a:gridCol w="5742432"/>
                <a:gridCol w="2834640"/>
              </a:tblGrid>
              <a:tr h="309067">
                <a:tc>
                  <a:txBody>
                    <a:bodyPr/>
                    <a:lstStyle/>
                    <a:p>
                      <a:pPr indent="0" marL="0">
                        <a:buNone/>
                      </a:pPr>
                      <a:r>
                        <a:rPr lang="en-US" sz="850" b="1" dirty="0">
                          <a:solidFill>
                            <a:srgbClr val="FFFFFF"/>
                          </a:solidFill>
                          <a:latin typeface="Arial" pitchFamily="34" charset="0"/>
                          <a:ea typeface="Arial" pitchFamily="34" charset="-122"/>
                          <a:cs typeface="Arial" pitchFamily="34" charset="-120"/>
                        </a:rPr>
                        <a:t>Data source</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What it is used for</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Confidence today</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r>
              <a:tr h="309067">
                <a:tc>
                  <a:txBody>
                    <a:bodyPr/>
                    <a:lstStyle/>
                    <a:p>
                      <a:pPr indent="0" marL="0">
                        <a:buNone/>
                      </a:pPr>
                      <a:r>
                        <a:rPr lang="en-US" sz="790" dirty="0">
                          <a:solidFill>
                            <a:srgbClr val="1E2522"/>
                          </a:solidFill>
                          <a:latin typeface="Arial" pitchFamily="34" charset="0"/>
                          <a:ea typeface="Arial" pitchFamily="34" charset="-122"/>
                          <a:cs typeface="Arial" pitchFamily="34" charset="-120"/>
                        </a:rPr>
                        <a:t>Valid Pipeline ID list / PL table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Validates an existing Pipeline before the request can continue. The Continue button is disabled on an invalid ID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9C5A00"/>
                          </a:solidFill>
                          <a:latin typeface="Arial" pitchFamily="34" charset="0"/>
                          <a:ea typeface="Arial" pitchFamily="34" charset="-122"/>
                          <a:cs typeface="Arial" pitchFamily="34" charset="-120"/>
                        </a:rPr>
                        <a:t>Dependency confirmed; list name and owner not captured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9067">
                <a:tc>
                  <a:txBody>
                    <a:bodyPr/>
                    <a:lstStyle/>
                    <a:p>
                      <a:pPr indent="0" marL="0">
                        <a:buNone/>
                      </a:pPr>
                      <a:r>
                        <a:rPr lang="en-US" sz="790" dirty="0">
                          <a:solidFill>
                            <a:srgbClr val="1E2522"/>
                          </a:solidFill>
                          <a:latin typeface="Arial" pitchFamily="34" charset="0"/>
                          <a:ea typeface="Arial" pitchFamily="34" charset="-122"/>
                          <a:cs typeface="Arial" pitchFamily="34" charset="-120"/>
                        </a:rPr>
                        <a:t>Ariba report / CSV feed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Source for SR, CW and PR values. Today it is exported from Ariba, pasted into a SharePoint list, and SPID validates against that list</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9C5A00"/>
                          </a:solidFill>
                          <a:latin typeface="Arial" pitchFamily="34" charset="0"/>
                          <a:ea typeface="Arial" pitchFamily="34" charset="-122"/>
                          <a:cs typeface="Arial" pitchFamily="34" charset="-120"/>
                        </a:rPr>
                        <a:t>Requested from the business; not yet received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9067">
                <a:tc>
                  <a:txBody>
                    <a:bodyPr/>
                    <a:lstStyle/>
                    <a:p>
                      <a:pPr indent="0" marL="0">
                        <a:buNone/>
                      </a:pPr>
                      <a:r>
                        <a:rPr lang="en-US" sz="790" dirty="0">
                          <a:solidFill>
                            <a:srgbClr val="1E2522"/>
                          </a:solidFill>
                          <a:latin typeface="Arial" pitchFamily="34" charset="0"/>
                          <a:ea typeface="Arial" pitchFamily="34" charset="-122"/>
                          <a:cs typeface="Arial" pitchFamily="34" charset="-120"/>
                        </a:rPr>
                        <a:t>PT Approval Tool - approved SPIDs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Possible source for approved SPIDs and SR / CW validation</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9C5A00"/>
                          </a:solidFill>
                          <a:latin typeface="Arial" pitchFamily="34" charset="0"/>
                          <a:ea typeface="Arial" pitchFamily="34" charset="-122"/>
                          <a:cs typeface="Arial" pitchFamily="34" charset="-120"/>
                        </a:rPr>
                        <a:t>Link known; operational use still open</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9067">
                <a:tc>
                  <a:txBody>
                    <a:bodyPr/>
                    <a:lstStyle/>
                    <a:p>
                      <a:pPr indent="0" marL="0">
                        <a:buNone/>
                      </a:pPr>
                      <a:r>
                        <a:rPr lang="en-US" sz="790" dirty="0">
                          <a:solidFill>
                            <a:srgbClr val="1E2522"/>
                          </a:solidFill>
                          <a:latin typeface="Arial" pitchFamily="34" charset="0"/>
                          <a:ea typeface="Arial" pitchFamily="34" charset="-122"/>
                          <a:cs typeface="Arial" pitchFamily="34" charset="-120"/>
                        </a:rPr>
                        <a:t>CW report (contract workspace)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Supports contract workspace and finance review mapping</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Example report identified; refresh rules not documented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9067">
                <a:tc>
                  <a:txBody>
                    <a:bodyPr/>
                    <a:lstStyle/>
                    <a:p>
                      <a:pPr indent="0" marL="0">
                        <a:buNone/>
                      </a:pPr>
                      <a:r>
                        <a:rPr lang="en-US" sz="790" dirty="0">
                          <a:solidFill>
                            <a:srgbClr val="1E2522"/>
                          </a:solidFill>
                          <a:latin typeface="Arial" pitchFamily="34" charset="0"/>
                          <a:ea typeface="Arial" pitchFamily="34" charset="-122"/>
                          <a:cs typeface="Arial" pitchFamily="34" charset="-120"/>
                        </a:rPr>
                        <a:t>Financial Approval Matrix</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Titled approvers, spend bands, skip logic, leads and delegates, BOM Lead scope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9C5A00"/>
                          </a:solidFill>
                          <a:latin typeface="Arial" pitchFamily="34" charset="0"/>
                          <a:ea typeface="Arial" pitchFamily="34" charset="-122"/>
                          <a:cs typeface="Arial" pitchFamily="34" charset="-120"/>
                        </a:rPr>
                        <a:t>Core control. Latest approved version still required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9067">
                <a:tc>
                  <a:txBody>
                    <a:bodyPr/>
                    <a:lstStyle/>
                    <a:p>
                      <a:pPr indent="0" marL="0">
                        <a:buNone/>
                      </a:pPr>
                      <a:r>
                        <a:rPr lang="en-US" sz="790" dirty="0">
                          <a:solidFill>
                            <a:srgbClr val="1E2522"/>
                          </a:solidFill>
                          <a:latin typeface="Arial" pitchFamily="34" charset="0"/>
                          <a:ea typeface="Arial" pitchFamily="34" charset="-122"/>
                          <a:cs typeface="Arial" pitchFamily="34" charset="-120"/>
                        </a:rPr>
                        <a:t>Approval skip-logic reference table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Drives which levels are bypassed when no titled approver sits in the segment</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9C5A00"/>
                          </a:solidFill>
                          <a:latin typeface="Arial" pitchFamily="34" charset="0"/>
                          <a:ea typeface="Arial" pitchFamily="34" charset="-122"/>
                          <a:cs typeface="Arial" pitchFamily="34" charset="-120"/>
                        </a:rPr>
                        <a:t>Promised on the July 6 call, not yet received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9067">
                <a:tc>
                  <a:txBody>
                    <a:bodyPr/>
                    <a:lstStyle/>
                    <a:p>
                      <a:pPr indent="0" marL="0">
                        <a:buNone/>
                      </a:pPr>
                      <a:r>
                        <a:rPr lang="en-US" sz="790" dirty="0">
                          <a:solidFill>
                            <a:srgbClr val="1E2522"/>
                          </a:solidFill>
                          <a:latin typeface="Arial" pitchFamily="34" charset="0"/>
                          <a:ea typeface="Arial" pitchFamily="34" charset="-122"/>
                          <a:cs typeface="Arial" pitchFamily="34" charset="-120"/>
                        </a:rPr>
                        <a:t>Agenda reference table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Maps request status to the agenda it lands on, and the lead approver per role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9C5A00"/>
                          </a:solidFill>
                          <a:latin typeface="Arial" pitchFamily="34" charset="0"/>
                          <a:ea typeface="Arial" pitchFamily="34" charset="-122"/>
                          <a:cs typeface="Arial" pitchFamily="34" charset="-120"/>
                        </a:rPr>
                        <a:t>Promised on the July 6 call, not yet received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9067">
                <a:tc>
                  <a:txBody>
                    <a:bodyPr/>
                    <a:lstStyle/>
                    <a:p>
                      <a:pPr indent="0" marL="0">
                        <a:buNone/>
                      </a:pPr>
                      <a:r>
                        <a:rPr lang="en-US" sz="790" dirty="0">
                          <a:solidFill>
                            <a:srgbClr val="1E2522"/>
                          </a:solidFill>
                          <a:latin typeface="Arial" pitchFamily="34" charset="0"/>
                          <a:ea typeface="Arial" pitchFamily="34" charset="-122"/>
                          <a:cs typeface="Arial" pitchFamily="34" charset="-120"/>
                        </a:rPr>
                        <a:t>Finance Partner Matrix</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Routes the sourcing request to the correct finance reviewer</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Existing USF capability, reused as-is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9067">
                <a:tc>
                  <a:txBody>
                    <a:bodyPr/>
                    <a:lstStyle/>
                    <a:p>
                      <a:pPr indent="0" marL="0">
                        <a:buNone/>
                      </a:pPr>
                      <a:r>
                        <a:rPr lang="en-US" sz="790" dirty="0">
                          <a:solidFill>
                            <a:srgbClr val="1E2522"/>
                          </a:solidFill>
                          <a:latin typeface="Arial" pitchFamily="34" charset="0"/>
                          <a:ea typeface="Arial" pitchFamily="34" charset="-122"/>
                          <a:cs typeface="Arial" pitchFamily="34" charset="-120"/>
                        </a:rPr>
                        <a:t>MC exemption list</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Excludes approved vendors and services from the Management Consulting path</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9C5A00"/>
                          </a:solidFill>
                          <a:latin typeface="Arial" pitchFamily="34" charset="0"/>
                          <a:ea typeface="Arial" pitchFamily="34" charset="-122"/>
                          <a:cs typeface="Arial" pitchFamily="34" charset="-120"/>
                        </a:rPr>
                        <a:t>Required in target; authoritative owner open</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9067">
                <a:tc>
                  <a:txBody>
                    <a:bodyPr/>
                    <a:lstStyle/>
                    <a:p>
                      <a:pPr indent="0" marL="0">
                        <a:buNone/>
                      </a:pPr>
                      <a:r>
                        <a:rPr lang="en-US" sz="790" dirty="0">
                          <a:solidFill>
                            <a:srgbClr val="1E2522"/>
                          </a:solidFill>
                          <a:latin typeface="Arial" pitchFamily="34" charset="0"/>
                          <a:ea typeface="Arial" pitchFamily="34" charset="-122"/>
                          <a:cs typeface="Arial" pitchFamily="34" charset="-120"/>
                        </a:rPr>
                        <a:t>Segment / Business Unit mapping</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Conditional BU values, approval routing and BOM Lead scoping</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Values exist; system of record uncertain</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9067">
                <a:tc>
                  <a:txBody>
                    <a:bodyPr/>
                    <a:lstStyle/>
                    <a:p>
                      <a:pPr indent="0" marL="0">
                        <a:buNone/>
                      </a:pPr>
                      <a:r>
                        <a:rPr lang="en-US" sz="790" dirty="0">
                          <a:solidFill>
                            <a:srgbClr val="1E2522"/>
                          </a:solidFill>
                          <a:latin typeface="Arial" pitchFamily="34" charset="0"/>
                          <a:ea typeface="Arial" pitchFamily="34" charset="-122"/>
                          <a:cs typeface="Arial" pitchFamily="34" charset="-120"/>
                        </a:rPr>
                        <a:t>Vendor master / vendor SR repository</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Vendor selection, and the SOW SR number list per vendor</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9C5A00"/>
                          </a:solidFill>
                          <a:latin typeface="Arial" pitchFamily="34" charset="0"/>
                          <a:ea typeface="Arial" pitchFamily="34" charset="-122"/>
                          <a:cs typeface="Arial" pitchFamily="34" charset="-120"/>
                        </a:rPr>
                        <a:t>Today includes free text and hard-coded vendor lists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9067">
                <a:tc>
                  <a:txBody>
                    <a:bodyPr/>
                    <a:lstStyle/>
                    <a:p>
                      <a:pPr indent="0" marL="0">
                        <a:buNone/>
                      </a:pPr>
                      <a:r>
                        <a:rPr lang="en-US" sz="790" dirty="0">
                          <a:solidFill>
                            <a:srgbClr val="1E2522"/>
                          </a:solidFill>
                          <a:latin typeface="Arial" pitchFamily="34" charset="0"/>
                          <a:ea typeface="Arial" pitchFamily="34" charset="-122"/>
                          <a:cs typeface="Arial" pitchFamily="34" charset="-120"/>
                        </a:rPr>
                        <a:t>Commodity codes / category hierarchy</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USF category and subcategory reference (L1 / L2 derived from L3)</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Known controlled-list reference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9067">
                <a:tc>
                  <a:txBody>
                    <a:bodyPr/>
                    <a:lstStyle/>
                    <a:p>
                      <a:pPr indent="0" marL="0">
                        <a:buNone/>
                      </a:pPr>
                      <a:r>
                        <a:rPr lang="en-US" sz="790" dirty="0">
                          <a:solidFill>
                            <a:srgbClr val="1E2522"/>
                          </a:solidFill>
                          <a:latin typeface="Arial" pitchFamily="34" charset="0"/>
                          <a:ea typeface="Arial" pitchFamily="34" charset="-122"/>
                          <a:cs typeface="Arial" pitchFamily="34" charset="-120"/>
                        </a:rPr>
                        <a:t>People lists (presenter, sponsor, risk owner, approvers)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People pickers and approval ownership. EMS asks the user to pick their own name from a dropdown</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Should move to the authoritative employee directory</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9067">
                <a:tc>
                  <a:txBody>
                    <a:bodyPr/>
                    <a:lstStyle/>
                    <a:p>
                      <a:pPr indent="0" marL="0">
                        <a:buNone/>
                      </a:pPr>
                      <a:r>
                        <a:rPr lang="en-US" sz="790" dirty="0">
                          <a:solidFill>
                            <a:srgbClr val="1E2522"/>
                          </a:solidFill>
                          <a:latin typeface="Arial" pitchFamily="34" charset="0"/>
                          <a:ea typeface="Arial" pitchFamily="34" charset="-122"/>
                          <a:cs typeface="Arial" pitchFamily="34" charset="-120"/>
                        </a:rPr>
                        <a:t>Shared data lake / downstream extracts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Feeds onboarding, invoicing and GD Hub. The EMS Power App shares a data lake with the onboarding portal</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9C5A00"/>
                          </a:solidFill>
                          <a:latin typeface="Arial" pitchFamily="34" charset="0"/>
                          <a:ea typeface="Arial" pitchFamily="34" charset="-122"/>
                          <a:cs typeface="Arial" pitchFamily="34" charset="-120"/>
                        </a:rPr>
                        <a:t>Schema, platform and access not documented. Must not be broken</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bl>
          </a:graphicData>
        </a:graphic>
      </p:graphicFrame>
      <p:sp>
        <p:nvSpPr>
          <p:cNvPr id="6" name="Text 3"/>
          <p:cNvSpPr/>
          <p:nvPr/>
        </p:nvSpPr>
        <p:spPr>
          <a:xfrm>
            <a:off x="411480" y="6455664"/>
            <a:ext cx="2743200" cy="237744"/>
          </a:xfrm>
          <a:prstGeom prst="rect">
            <a:avLst/>
          </a:prstGeom>
          <a:noFill/>
          <a:ln/>
        </p:spPr>
        <p:txBody>
          <a:bodyPr wrap="square" lIns="0" tIns="0" rIns="0" bIns="0" rtlCol="0" anchor="ctr"/>
          <a:lstStyle/>
          <a:p>
            <a:pPr algn="l" indent="0" marL="0">
              <a:buNone/>
            </a:pPr>
            <a:r>
              <a:rPr lang="en-US" sz="800" dirty="0">
                <a:solidFill>
                  <a:srgbClr val="9AA6A0"/>
                </a:solidFill>
                <a:latin typeface="Arial" pitchFamily="34" charset="0"/>
                <a:ea typeface="Arial" pitchFamily="34" charset="-122"/>
                <a:cs typeface="Arial" pitchFamily="34" charset="-120"/>
              </a:rPr>
              <a:t>Internal / Interne</a:t>
            </a:r>
            <a:endParaRPr lang="en-US" sz="800" dirty="0"/>
          </a:p>
        </p:txBody>
      </p:sp>
      <p:sp>
        <p:nvSpPr>
          <p:cNvPr id="7" name="Text 4"/>
          <p:cNvSpPr/>
          <p:nvPr/>
        </p:nvSpPr>
        <p:spPr>
          <a:xfrm>
            <a:off x="10863072" y="6455664"/>
            <a:ext cx="914400" cy="237744"/>
          </a:xfrm>
          <a:prstGeom prst="rect">
            <a:avLst/>
          </a:prstGeom>
          <a:noFill/>
          <a:ln/>
        </p:spPr>
        <p:txBody>
          <a:bodyPr wrap="square" lIns="0" tIns="0" rIns="0" bIns="0" rtlCol="0" anchor="ctr"/>
          <a:lstStyle/>
          <a:p>
            <a:pPr algn="r" indent="0" marL="0">
              <a:buNone/>
            </a:pPr>
            <a:r>
              <a:rPr lang="en-US" sz="800" dirty="0">
                <a:solidFill>
                  <a:srgbClr val="9AA6A0"/>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11480" y="274320"/>
            <a:ext cx="10058400" cy="219456"/>
          </a:xfrm>
          <a:prstGeom prst="rect">
            <a:avLst/>
          </a:prstGeom>
          <a:noFill/>
          <a:ln/>
        </p:spPr>
        <p:txBody>
          <a:bodyPr wrap="square" lIns="0" tIns="0" rIns="0" bIns="0" rtlCol="0" anchor="ctr"/>
          <a:lstStyle/>
          <a:p>
            <a:pPr indent="0" marL="0">
              <a:buNone/>
            </a:pPr>
            <a:r>
              <a:rPr lang="en-US" sz="950" b="1" spc="160" kern="0" dirty="0">
                <a:solidFill>
                  <a:srgbClr val="008A00"/>
                </a:solidFill>
                <a:latin typeface="Arial" pitchFamily="34" charset="0"/>
                <a:ea typeface="Arial" pitchFamily="34" charset="-122"/>
                <a:cs typeface="Arial" pitchFamily="34" charset="-120"/>
              </a:rPr>
              <a:t>APPENDIX A5</a:t>
            </a:r>
            <a:endParaRPr lang="en-US" sz="950" dirty="0"/>
          </a:p>
        </p:txBody>
      </p:sp>
      <p:sp>
        <p:nvSpPr>
          <p:cNvPr id="3" name="Text 1"/>
          <p:cNvSpPr/>
          <p:nvPr/>
        </p:nvSpPr>
        <p:spPr>
          <a:xfrm>
            <a:off x="411480" y="502920"/>
            <a:ext cx="11365992" cy="566928"/>
          </a:xfrm>
          <a:prstGeom prst="rect">
            <a:avLst/>
          </a:prstGeom>
          <a:noFill/>
          <a:ln/>
        </p:spPr>
        <p:txBody>
          <a:bodyPr wrap="square" lIns="0" tIns="0" rIns="0" bIns="0" rtlCol="0" anchor="ctr"/>
          <a:lstStyle/>
          <a:p>
            <a:pPr indent="0" marL="0">
              <a:buNone/>
            </a:pPr>
            <a:r>
              <a:rPr lang="en-US" sz="2500" b="1" dirty="0">
                <a:solidFill>
                  <a:srgbClr val="1A5336"/>
                </a:solidFill>
                <a:latin typeface="Arial" pitchFamily="34" charset="0"/>
                <a:ea typeface="Arial" pitchFamily="34" charset="-122"/>
                <a:cs typeface="Arial" pitchFamily="34" charset="-120"/>
              </a:rPr>
              <a:t>The same business facts are asked more than once</a:t>
            </a:r>
            <a:endParaRPr lang="en-US" sz="2500" dirty="0"/>
          </a:p>
        </p:txBody>
      </p:sp>
      <p:sp>
        <p:nvSpPr>
          <p:cNvPr id="4" name="Text 2"/>
          <p:cNvSpPr/>
          <p:nvPr/>
        </p:nvSpPr>
        <p:spPr>
          <a:xfrm>
            <a:off x="411480" y="1051560"/>
            <a:ext cx="11365992" cy="274320"/>
          </a:xfrm>
          <a:prstGeom prst="rect">
            <a:avLst/>
          </a:prstGeom>
          <a:noFill/>
          <a:ln/>
        </p:spPr>
        <p:txBody>
          <a:bodyPr wrap="square" lIns="0" tIns="0" rIns="0" bIns="0" rtlCol="0" anchor="ctr"/>
          <a:lstStyle/>
          <a:p>
            <a:pPr indent="0" marL="0">
              <a:buNone/>
            </a:pPr>
            <a:r>
              <a:rPr lang="en-US" sz="1150" dirty="0">
                <a:solidFill>
                  <a:srgbClr val="586460"/>
                </a:solidFill>
                <a:latin typeface="Arial" pitchFamily="34" charset="0"/>
                <a:ea typeface="Arial" pitchFamily="34" charset="-122"/>
                <a:cs typeface="Arial" pitchFamily="34" charset="-120"/>
              </a:rPr>
              <a:t>The field mapping across USF, Pipeline and SPID shows broad overlap. MVP1 collects each fact once and keeps a stage snapshot, rather than merging records.</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1444752"/>
          <a:ext cx="11365992" cy="914400"/>
        </p:xfrm>
        <a:graphic>
          <a:graphicData uri="http://schemas.openxmlformats.org/drawingml/2006/table">
            <a:tbl>
              <a:tblPr/>
              <a:tblGrid>
                <a:gridCol w="2971800"/>
                <a:gridCol w="1417320"/>
                <a:gridCol w="1691640"/>
                <a:gridCol w="1691640"/>
                <a:gridCol w="3593592"/>
              </a:tblGrid>
              <a:tr h="301752">
                <a:tc>
                  <a:txBody>
                    <a:bodyPr/>
                    <a:lstStyle/>
                    <a:p>
                      <a:pPr indent="0" marL="0">
                        <a:buNone/>
                      </a:pPr>
                      <a:r>
                        <a:rPr lang="en-US" sz="850" b="1" dirty="0">
                          <a:solidFill>
                            <a:srgbClr val="FFFFFF"/>
                          </a:solidFill>
                          <a:latin typeface="Arial" pitchFamily="34" charset="0"/>
                          <a:ea typeface="Arial" pitchFamily="34" charset="-122"/>
                          <a:cs typeface="Arial" pitchFamily="34" charset="-120"/>
                        </a:rPr>
                        <a:t>Business fact</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Pipeline</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USF sourcing</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SPID</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MVP1 treatment</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r>
              <a:tr h="301752">
                <a:tc>
                  <a:txBody>
                    <a:bodyPr/>
                    <a:lstStyle/>
                    <a:p>
                      <a:pPr indent="0" marL="0">
                        <a:buNone/>
                      </a:pPr>
                      <a:r>
                        <a:rPr lang="en-US" sz="790" dirty="0">
                          <a:solidFill>
                            <a:srgbClr val="1E2522"/>
                          </a:solidFill>
                          <a:latin typeface="Arial" pitchFamily="34" charset="0"/>
                          <a:ea typeface="Arial" pitchFamily="34" charset="-122"/>
                          <a:cs typeface="Arial" pitchFamily="34" charset="-120"/>
                        </a:rPr>
                        <a:t>Engagement title / initiative name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Collected once at intake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1752">
                <a:tc>
                  <a:txBody>
                    <a:bodyPr/>
                    <a:lstStyle/>
                    <a:p>
                      <a:pPr indent="0" marL="0">
                        <a:buNone/>
                      </a:pPr>
                      <a:r>
                        <a:rPr lang="en-US" sz="790" dirty="0">
                          <a:solidFill>
                            <a:srgbClr val="1E2522"/>
                          </a:solidFill>
                          <a:latin typeface="Arial" pitchFamily="34" charset="0"/>
                          <a:ea typeface="Arial" pitchFamily="34" charset="-122"/>
                          <a:cs typeface="Arial" pitchFamily="34" charset="-120"/>
                        </a:rPr>
                        <a:t>Business sponsor and risk owner</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Manual dropdown</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Auto-derived from org hierarchy</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Adopt USF's auto-derivation, keep the delegate option from EMS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1752">
                <a:tc>
                  <a:txBody>
                    <a:bodyPr/>
                    <a:lstStyle/>
                    <a:p>
                      <a:pPr indent="0" marL="0">
                        <a:buNone/>
                      </a:pPr>
                      <a:r>
                        <a:rPr lang="en-US" sz="790" dirty="0">
                          <a:solidFill>
                            <a:srgbClr val="1E2522"/>
                          </a:solidFill>
                          <a:latin typeface="Arial" pitchFamily="34" charset="0"/>
                          <a:ea typeface="Arial" pitchFamily="34" charset="-122"/>
                          <a:cs typeface="Arial" pitchFamily="34" charset="-120"/>
                        </a:rPr>
                        <a:t>Detailed justification and problem being solved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Collected once; reused in the Pipeline and SPID views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1752">
                <a:tc>
                  <a:txBody>
                    <a:bodyPr/>
                    <a:lstStyle/>
                    <a:p>
                      <a:pPr indent="0" marL="0">
                        <a:buNone/>
                      </a:pPr>
                      <a:r>
                        <a:rPr lang="en-US" sz="790" dirty="0">
                          <a:solidFill>
                            <a:srgbClr val="1E2522"/>
                          </a:solidFill>
                          <a:latin typeface="Arial" pitchFamily="34" charset="0"/>
                          <a:ea typeface="Arial" pitchFamily="34" charset="-122"/>
                          <a:cs typeface="Arial" pitchFamily="34" charset="-120"/>
                        </a:rPr>
                        <a:t>Why external capacity is required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Collected once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1752">
                <a:tc>
                  <a:txBody>
                    <a:bodyPr/>
                    <a:lstStyle/>
                    <a:p>
                      <a:pPr indent="0" marL="0">
                        <a:buNone/>
                      </a:pPr>
                      <a:r>
                        <a:rPr lang="en-US" sz="790" dirty="0">
                          <a:solidFill>
                            <a:srgbClr val="1E2522"/>
                          </a:solidFill>
                          <a:latin typeface="Arial" pitchFamily="34" charset="0"/>
                          <a:ea typeface="Arial" pitchFamily="34" charset="-122"/>
                          <a:cs typeface="Arial" pitchFamily="34" charset="-120"/>
                        </a:rPr>
                        <a:t>Expected benefits and risk if not completed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Collected once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1752">
                <a:tc>
                  <a:txBody>
                    <a:bodyPr/>
                    <a:lstStyle/>
                    <a:p>
                      <a:pPr indent="0" marL="0">
                        <a:buNone/>
                      </a:pPr>
                      <a:r>
                        <a:rPr lang="en-US" sz="790" dirty="0">
                          <a:solidFill>
                            <a:srgbClr val="1E2522"/>
                          </a:solidFill>
                          <a:latin typeface="Arial" pitchFamily="34" charset="0"/>
                          <a:ea typeface="Arial" pitchFamily="34" charset="-122"/>
                          <a:cs typeface="Arial" pitchFamily="34" charset="-120"/>
                        </a:rPr>
                        <a:t>Vendor</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Proposed vendor</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Vendor legal entity (lookup)</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Final legal entity</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9C5A00"/>
                          </a:solidFill>
                          <a:latin typeface="Arial" pitchFamily="34" charset="0"/>
                          <a:ea typeface="Arial" pitchFamily="34" charset="-122"/>
                          <a:cs typeface="Arial" pitchFamily="34" charset="-120"/>
                        </a:rPr>
                        <a:t>Kept separate - these are different facts, not one field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1752">
                <a:tc>
                  <a:txBody>
                    <a:bodyPr/>
                    <a:lstStyle/>
                    <a:p>
                      <a:pPr indent="0" marL="0">
                        <a:buNone/>
                      </a:pPr>
                      <a:r>
                        <a:rPr lang="en-US" sz="790" dirty="0">
                          <a:solidFill>
                            <a:srgbClr val="1E2522"/>
                          </a:solidFill>
                          <a:latin typeface="Arial" pitchFamily="34" charset="0"/>
                          <a:ea typeface="Arial" pitchFamily="34" charset="-122"/>
                          <a:cs typeface="Arial" pitchFamily="34" charset="-120"/>
                        </a:rPr>
                        <a:t>Start and end dates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Proposed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Sourcing / contract workspace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Final contract</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9C5A00"/>
                          </a:solidFill>
                          <a:latin typeface="Arial" pitchFamily="34" charset="0"/>
                          <a:ea typeface="Arial" pitchFamily="34" charset="-122"/>
                          <a:cs typeface="Arial" pitchFamily="34" charset="-120"/>
                        </a:rPr>
                        <a:t>Snapshot per stage; deltas flagged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1752">
                <a:tc>
                  <a:txBody>
                    <a:bodyPr/>
                    <a:lstStyle/>
                    <a:p>
                      <a:pPr indent="0" marL="0">
                        <a:buNone/>
                      </a:pPr>
                      <a:r>
                        <a:rPr lang="en-US" sz="790" dirty="0">
                          <a:solidFill>
                            <a:srgbClr val="1E2522"/>
                          </a:solidFill>
                          <a:latin typeface="Arial" pitchFamily="34" charset="0"/>
                          <a:ea typeface="Arial" pitchFamily="34" charset="-122"/>
                          <a:cs typeface="Arial" pitchFamily="34" charset="-120"/>
                        </a:rPr>
                        <a:t>Spend / contract value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Anticipated spend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Sourcing value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Current ask and total contract value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9C5A00"/>
                          </a:solidFill>
                          <a:latin typeface="Arial" pitchFamily="34" charset="0"/>
                          <a:ea typeface="Arial" pitchFamily="34" charset="-122"/>
                          <a:cs typeface="Arial" pitchFamily="34" charset="-120"/>
                        </a:rPr>
                        <a:t>Kept separate - semantically different</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1752">
                <a:tc>
                  <a:txBody>
                    <a:bodyPr/>
                    <a:lstStyle/>
                    <a:p>
                      <a:pPr indent="0" marL="0">
                        <a:buNone/>
                      </a:pPr>
                      <a:r>
                        <a:rPr lang="en-US" sz="790" dirty="0">
                          <a:solidFill>
                            <a:srgbClr val="1E2522"/>
                          </a:solidFill>
                          <a:latin typeface="Arial" pitchFamily="34" charset="0"/>
                          <a:ea typeface="Arial" pitchFamily="34" charset="-122"/>
                          <a:cs typeface="Arial" pitchFamily="34" charset="-120"/>
                        </a:rPr>
                        <a:t>Resource count, onshore / offshore split, hourly rate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Collected once; validated (onshore + offshore must equal the total)</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1752">
                <a:tc>
                  <a:txBody>
                    <a:bodyPr/>
                    <a:lstStyle/>
                    <a:p>
                      <a:pPr indent="0" marL="0">
                        <a:buNone/>
                      </a:pPr>
                      <a:r>
                        <a:rPr lang="en-US" sz="790" dirty="0">
                          <a:solidFill>
                            <a:srgbClr val="1E2522"/>
                          </a:solidFill>
                          <a:latin typeface="Arial" pitchFamily="34" charset="0"/>
                          <a:ea typeface="Arial" pitchFamily="34" charset="-122"/>
                          <a:cs typeface="Arial" pitchFamily="34" charset="-120"/>
                        </a:rPr>
                        <a:t>Funding type, cost centre, Clarity ID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Collected once; funding value sets still need rationalising (USF 4 values vs EMS 7)</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1752">
                <a:tc>
                  <a:txBody>
                    <a:bodyPr/>
                    <a:lstStyle/>
                    <a:p>
                      <a:pPr indent="0" marL="0">
                        <a:buNone/>
                      </a:pPr>
                      <a:r>
                        <a:rPr lang="en-US" sz="790" dirty="0">
                          <a:solidFill>
                            <a:srgbClr val="1E2522"/>
                          </a:solidFill>
                          <a:latin typeface="Arial" pitchFamily="34" charset="0"/>
                          <a:ea typeface="Arial" pitchFamily="34" charset="-122"/>
                          <a:cs typeface="Arial" pitchFamily="34" charset="-120"/>
                        </a:rPr>
                        <a:t>Segment and business unit</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LOB taxonomy</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9C5A00"/>
                          </a:solidFill>
                          <a:latin typeface="Arial" pitchFamily="34" charset="0"/>
                          <a:ea typeface="Arial" pitchFamily="34" charset="-122"/>
                          <a:cs typeface="Arial" pitchFamily="34" charset="-120"/>
                        </a:rPr>
                        <a:t>Needs a definitive Segment / BU to LOB crosswalk</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1752">
                <a:tc>
                  <a:txBody>
                    <a:bodyPr/>
                    <a:lstStyle/>
                    <a:p>
                      <a:pPr indent="0" marL="0">
                        <a:buNone/>
                      </a:pPr>
                      <a:r>
                        <a:rPr lang="en-US" sz="790" dirty="0">
                          <a:solidFill>
                            <a:srgbClr val="1E2522"/>
                          </a:solidFill>
                          <a:latin typeface="Arial" pitchFamily="34" charset="0"/>
                          <a:ea typeface="Arial" pitchFamily="34" charset="-122"/>
                          <a:cs typeface="Arial" pitchFamily="34" charset="-120"/>
                        </a:rPr>
                        <a:t>RFP status and rationale</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Collected once; procurement result shown at SPID</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1752">
                <a:tc>
                  <a:txBody>
                    <a:bodyPr/>
                    <a:lstStyle/>
                    <a:p>
                      <a:pPr indent="0" marL="0">
                        <a:buNone/>
                      </a:pPr>
                      <a:r>
                        <a:rPr lang="en-US" sz="790" dirty="0">
                          <a:solidFill>
                            <a:srgbClr val="1E2522"/>
                          </a:solidFill>
                          <a:latin typeface="Arial" pitchFamily="34" charset="0"/>
                          <a:ea typeface="Arial" pitchFamily="34" charset="-122"/>
                          <a:cs typeface="Arial" pitchFamily="34" charset="-120"/>
                        </a:rPr>
                        <a:t>Regulatory commitment</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Collected once, with conditional detail fields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01752">
                <a:tc>
                  <a:txBody>
                    <a:bodyPr/>
                    <a:lstStyle/>
                    <a:p>
                      <a:pPr indent="0" marL="0">
                        <a:buNone/>
                      </a:pPr>
                      <a:r>
                        <a:rPr lang="en-US" sz="790" dirty="0">
                          <a:solidFill>
                            <a:srgbClr val="1E2522"/>
                          </a:solidFill>
                          <a:latin typeface="Arial" pitchFamily="34" charset="0"/>
                          <a:ea typeface="Arial" pitchFamily="34" charset="-122"/>
                          <a:cs typeface="Arial" pitchFamily="34" charset="-120"/>
                        </a:rPr>
                        <a:t>Attachments and attestation</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Yes</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90" dirty="0">
                          <a:solidFill>
                            <a:srgbClr val="1E2522"/>
                          </a:solidFill>
                          <a:latin typeface="Arial" pitchFamily="34" charset="0"/>
                          <a:ea typeface="Arial" pitchFamily="34" charset="-122"/>
                          <a:cs typeface="Arial" pitchFamily="34" charset="-120"/>
                        </a:rPr>
                        <a:t>Single attachment set carried through the journey</a:t>
                      </a:r>
                      <a:endParaRPr lang="en-US" sz="79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bl>
          </a:graphicData>
        </a:graphic>
      </p:graphicFrame>
      <p:sp>
        <p:nvSpPr>
          <p:cNvPr id="6" name="Text 3"/>
          <p:cNvSpPr/>
          <p:nvPr/>
        </p:nvSpPr>
        <p:spPr>
          <a:xfrm>
            <a:off x="411480" y="6272784"/>
            <a:ext cx="9601200" cy="219456"/>
          </a:xfrm>
          <a:prstGeom prst="rect">
            <a:avLst/>
          </a:prstGeom>
          <a:noFill/>
          <a:ln/>
        </p:spPr>
        <p:txBody>
          <a:bodyPr wrap="square" lIns="0" tIns="0" rIns="0" bIns="0" rtlCol="0" anchor="ctr"/>
          <a:lstStyle/>
          <a:p>
            <a:pPr indent="0" marL="0">
              <a:buNone/>
            </a:pPr>
            <a:r>
              <a:rPr lang="en-US" sz="750" dirty="0">
                <a:solidFill>
                  <a:srgbClr val="9C5A00"/>
                </a:solidFill>
                <a:latin typeface="Arial" pitchFamily="34" charset="0"/>
                <a:ea typeface="Arial" pitchFamily="34" charset="-122"/>
                <a:cs typeface="Arial" pitchFamily="34" charset="-120"/>
              </a:rPr>
              <a:t>Rule applied: do not merge two fields because their labels look similar. Proposed vendor is not final legal entity; anticipated spend is not current ask.</a:t>
            </a:r>
            <a:endParaRPr lang="en-US" sz="750" dirty="0"/>
          </a:p>
        </p:txBody>
      </p:sp>
      <p:sp>
        <p:nvSpPr>
          <p:cNvPr id="7" name="Text 4"/>
          <p:cNvSpPr/>
          <p:nvPr/>
        </p:nvSpPr>
        <p:spPr>
          <a:xfrm>
            <a:off x="411480" y="6455664"/>
            <a:ext cx="2743200" cy="237744"/>
          </a:xfrm>
          <a:prstGeom prst="rect">
            <a:avLst/>
          </a:prstGeom>
          <a:noFill/>
          <a:ln/>
        </p:spPr>
        <p:txBody>
          <a:bodyPr wrap="square" lIns="0" tIns="0" rIns="0" bIns="0" rtlCol="0" anchor="ctr"/>
          <a:lstStyle/>
          <a:p>
            <a:pPr algn="l" indent="0" marL="0">
              <a:buNone/>
            </a:pPr>
            <a:r>
              <a:rPr lang="en-US" sz="800" dirty="0">
                <a:solidFill>
                  <a:srgbClr val="9AA6A0"/>
                </a:solidFill>
                <a:latin typeface="Arial" pitchFamily="34" charset="0"/>
                <a:ea typeface="Arial" pitchFamily="34" charset="-122"/>
                <a:cs typeface="Arial" pitchFamily="34" charset="-120"/>
              </a:rPr>
              <a:t>Internal / Interne</a:t>
            </a:r>
            <a:endParaRPr lang="en-US" sz="800" dirty="0"/>
          </a:p>
        </p:txBody>
      </p:sp>
      <p:sp>
        <p:nvSpPr>
          <p:cNvPr id="8" name="Text 5"/>
          <p:cNvSpPr/>
          <p:nvPr/>
        </p:nvSpPr>
        <p:spPr>
          <a:xfrm>
            <a:off x="10863072" y="6455664"/>
            <a:ext cx="914400" cy="237744"/>
          </a:xfrm>
          <a:prstGeom prst="rect">
            <a:avLst/>
          </a:prstGeom>
          <a:noFill/>
          <a:ln/>
        </p:spPr>
        <p:txBody>
          <a:bodyPr wrap="square" lIns="0" tIns="0" rIns="0" bIns="0" rtlCol="0" anchor="ctr"/>
          <a:lstStyle/>
          <a:p>
            <a:pPr algn="r" indent="0" marL="0">
              <a:buNone/>
            </a:pPr>
            <a:r>
              <a:rPr lang="en-US" sz="800" dirty="0">
                <a:solidFill>
                  <a:srgbClr val="9AA6A0"/>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11480" y="274320"/>
            <a:ext cx="10058400" cy="219456"/>
          </a:xfrm>
          <a:prstGeom prst="rect">
            <a:avLst/>
          </a:prstGeom>
          <a:noFill/>
          <a:ln/>
        </p:spPr>
        <p:txBody>
          <a:bodyPr wrap="square" lIns="0" tIns="0" rIns="0" bIns="0" rtlCol="0" anchor="ctr"/>
          <a:lstStyle/>
          <a:p>
            <a:pPr indent="0" marL="0">
              <a:buNone/>
            </a:pPr>
            <a:r>
              <a:rPr lang="en-US" sz="950" b="1" spc="160" kern="0" dirty="0">
                <a:solidFill>
                  <a:srgbClr val="008A00"/>
                </a:solidFill>
                <a:latin typeface="Arial" pitchFamily="34" charset="0"/>
                <a:ea typeface="Arial" pitchFamily="34" charset="-122"/>
                <a:cs typeface="Arial" pitchFamily="34" charset="-120"/>
              </a:rPr>
              <a:t>APPENDIX A6</a:t>
            </a:r>
            <a:endParaRPr lang="en-US" sz="950" dirty="0"/>
          </a:p>
        </p:txBody>
      </p:sp>
      <p:sp>
        <p:nvSpPr>
          <p:cNvPr id="3" name="Text 1"/>
          <p:cNvSpPr/>
          <p:nvPr/>
        </p:nvSpPr>
        <p:spPr>
          <a:xfrm>
            <a:off x="411480" y="502920"/>
            <a:ext cx="11365992" cy="566928"/>
          </a:xfrm>
          <a:prstGeom prst="rect">
            <a:avLst/>
          </a:prstGeom>
          <a:noFill/>
          <a:ln/>
        </p:spPr>
        <p:txBody>
          <a:bodyPr wrap="square" lIns="0" tIns="0" rIns="0" bIns="0" rtlCol="0" anchor="ctr"/>
          <a:lstStyle/>
          <a:p>
            <a:pPr indent="0" marL="0">
              <a:buNone/>
            </a:pPr>
            <a:r>
              <a:rPr lang="en-US" sz="2500" b="1" dirty="0">
                <a:solidFill>
                  <a:srgbClr val="1A5336"/>
                </a:solidFill>
                <a:latin typeface="Arial" pitchFamily="34" charset="0"/>
                <a:ea typeface="Arial" pitchFamily="34" charset="-122"/>
                <a:cs typeface="Arial" pitchFamily="34" charset="-120"/>
              </a:rPr>
              <a:t>Target status model and the delta review at SPID</a:t>
            </a:r>
            <a:endParaRPr lang="en-US" sz="2500" dirty="0"/>
          </a:p>
        </p:txBody>
      </p:sp>
      <p:sp>
        <p:nvSpPr>
          <p:cNvPr id="4" name="Text 2"/>
          <p:cNvSpPr/>
          <p:nvPr/>
        </p:nvSpPr>
        <p:spPr>
          <a:xfrm>
            <a:off x="411480" y="1051560"/>
            <a:ext cx="11365992" cy="274320"/>
          </a:xfrm>
          <a:prstGeom prst="rect">
            <a:avLst/>
          </a:prstGeom>
          <a:noFill/>
          <a:ln/>
        </p:spPr>
        <p:txBody>
          <a:bodyPr wrap="square" lIns="0" tIns="0" rIns="0" bIns="0" rtlCol="0" anchor="ctr"/>
          <a:lstStyle/>
          <a:p>
            <a:pPr indent="0" marL="0">
              <a:buNone/>
            </a:pPr>
            <a:r>
              <a:rPr lang="en-US" sz="1150" dirty="0">
                <a:solidFill>
                  <a:srgbClr val="586460"/>
                </a:solidFill>
                <a:latin typeface="Arial" pitchFamily="34" charset="0"/>
                <a:ea typeface="Arial" pitchFamily="34" charset="-122"/>
                <a:cs typeface="Arial" pitchFamily="34" charset="-120"/>
              </a:rPr>
              <a:t>One request, several linked records. Status and stage are tracked separately, and approved Pipeline values are never overwritten by final contract values.</a:t>
            </a:r>
            <a:endParaRPr lang="en-US" sz="1150" dirty="0"/>
          </a:p>
        </p:txBody>
      </p:sp>
      <p:sp>
        <p:nvSpPr>
          <p:cNvPr id="5" name="Text 3"/>
          <p:cNvSpPr/>
          <p:nvPr/>
        </p:nvSpPr>
        <p:spPr>
          <a:xfrm>
            <a:off x="411480" y="1444752"/>
            <a:ext cx="5486400" cy="219456"/>
          </a:xfrm>
          <a:prstGeom prst="rect">
            <a:avLst/>
          </a:prstGeom>
          <a:noFill/>
          <a:ln/>
        </p:spPr>
        <p:txBody>
          <a:bodyPr wrap="square" lIns="0" tIns="0" rIns="0" bIns="0" rtlCol="0" anchor="ctr"/>
          <a:lstStyle/>
          <a:p>
            <a:pPr indent="0" marL="0">
              <a:buNone/>
            </a:pPr>
            <a:r>
              <a:rPr lang="en-US" sz="1050" b="1" dirty="0">
                <a:solidFill>
                  <a:srgbClr val="1A5336"/>
                </a:solidFill>
                <a:latin typeface="Arial" pitchFamily="34" charset="0"/>
                <a:ea typeface="Arial" pitchFamily="34" charset="-122"/>
                <a:cs typeface="Arial" pitchFamily="34" charset="-120"/>
              </a:rPr>
              <a:t>Business Request status vocabulary</a:t>
            </a:r>
            <a:endParaRPr lang="en-US" sz="1050" dirty="0"/>
          </a:p>
        </p:txBody>
      </p:sp>
      <p:sp>
        <p:nvSpPr>
          <p:cNvPr id="6" name="Shape 4"/>
          <p:cNvSpPr/>
          <p:nvPr/>
        </p:nvSpPr>
        <p:spPr>
          <a:xfrm>
            <a:off x="411480" y="1700784"/>
            <a:ext cx="5532120" cy="1773936"/>
          </a:xfrm>
          <a:prstGeom prst="roundRect">
            <a:avLst>
              <a:gd name="adj" fmla="val 2577"/>
            </a:avLst>
          </a:prstGeom>
          <a:solidFill>
            <a:srgbClr val="F3F7F4"/>
          </a:solidFill>
          <a:ln w="9525">
            <a:solidFill>
              <a:srgbClr val="D3DDD7"/>
            </a:solidFill>
            <a:prstDash val="solid"/>
          </a:ln>
        </p:spPr>
      </p:sp>
      <p:sp>
        <p:nvSpPr>
          <p:cNvPr id="7" name="Text 5"/>
          <p:cNvSpPr/>
          <p:nvPr/>
        </p:nvSpPr>
        <p:spPr>
          <a:xfrm>
            <a:off x="576072" y="1792224"/>
            <a:ext cx="5212080" cy="1609344"/>
          </a:xfrm>
          <a:prstGeom prst="rect">
            <a:avLst/>
          </a:prstGeom>
          <a:noFill/>
          <a:ln/>
        </p:spPr>
        <p:txBody>
          <a:bodyPr wrap="square" lIns="0" tIns="0" rIns="0" bIns="0" rtlCol="0" anchor="t"/>
          <a:lstStyle/>
          <a:p>
            <a:pPr indent="0" marL="0">
              <a:spcAft>
                <a:spcPts val="500"/>
              </a:spcAft>
              <a:buNone/>
            </a:pPr>
            <a:r>
              <a:rPr lang="en-US" sz="850" dirty="0">
                <a:solidFill>
                  <a:srgbClr val="1E2522"/>
                </a:solidFill>
                <a:latin typeface="Arial" pitchFamily="34" charset="0"/>
                <a:ea typeface="Arial" pitchFamily="34" charset="-122"/>
                <a:cs typeface="Arial" pitchFamily="34" charset="-120"/>
              </a:rPr>
              <a:t>Draft  &gt;  Submitted  &gt;  In Pipeline  &gt;  Pipeline Sent Back / Pipeline Rejected / Pipeline Approved</a:t>
            </a:r>
            <a:endParaRPr lang="en-US" sz="850" dirty="0"/>
          </a:p>
          <a:p>
            <a:pPr indent="0" marL="0">
              <a:spcAft>
                <a:spcPts val="500"/>
              </a:spcAft>
              <a:buNone/>
            </a:pPr>
            <a:r>
              <a:rPr lang="en-US" sz="850" dirty="0">
                <a:solidFill>
                  <a:srgbClr val="1E2522"/>
                </a:solidFill>
                <a:latin typeface="Arial" pitchFamily="34" charset="0"/>
                <a:ea typeface="Arial" pitchFamily="34" charset="-122"/>
                <a:cs typeface="Arial" pitchFamily="34" charset="-120"/>
              </a:rPr>
              <a:t>Sourcing Intake In Progress  &gt;  Finance Review  &gt;  Finance More Information Required / Finance Declined</a:t>
            </a:r>
            <a:endParaRPr lang="en-US" sz="850" dirty="0"/>
          </a:p>
          <a:p>
            <a:pPr indent="0" marL="0">
              <a:spcAft>
                <a:spcPts val="500"/>
              </a:spcAft>
              <a:buNone/>
            </a:pPr>
            <a:r>
              <a:rPr lang="en-US" sz="850" dirty="0">
                <a:solidFill>
                  <a:srgbClr val="1E2522"/>
                </a:solidFill>
                <a:latin typeface="Arial" pitchFamily="34" charset="0"/>
                <a:ea typeface="Arial" pitchFamily="34" charset="-122"/>
                <a:cs typeface="Arial" pitchFamily="34" charset="-120"/>
              </a:rPr>
              <a:t>Procurement / Ariba In Progress  &gt;  Ready for SPID  &gt;  SPID Draft  &gt;  SPID In Approval  &gt;  SPID Sent Back / SPID Rejected / SPID Approved</a:t>
            </a:r>
            <a:endParaRPr lang="en-US" sz="850" dirty="0"/>
          </a:p>
          <a:p>
            <a:pPr indent="0" marL="0">
              <a:spcAft>
                <a:spcPts val="500"/>
              </a:spcAft>
              <a:buNone/>
            </a:pPr>
            <a:r>
              <a:rPr lang="en-US" sz="850" b="1" dirty="0">
                <a:solidFill>
                  <a:srgbClr val="1E2522"/>
                </a:solidFill>
                <a:latin typeface="Arial" pitchFamily="34" charset="0"/>
                <a:ea typeface="Arial" pitchFamily="34" charset="-122"/>
                <a:cs typeface="Arial" pitchFamily="34" charset="-120"/>
              </a:rPr>
              <a:t>Cancelled  |  Closed</a:t>
            </a:r>
            <a:endParaRPr lang="en-US" sz="850" dirty="0"/>
          </a:p>
          <a:p>
            <a:pPr indent="0" marL="0">
              <a:spcAft>
                <a:spcPts val="500"/>
              </a:spcAft>
              <a:buNone/>
            </a:pPr>
            <a:endParaRPr lang="en-US" sz="850" dirty="0"/>
          </a:p>
          <a:p>
            <a:pPr indent="0" marL="0">
              <a:spcAft>
                <a:spcPts val="500"/>
              </a:spcAft>
              <a:buNone/>
            </a:pPr>
            <a:r>
              <a:rPr lang="en-US" sz="850" dirty="0">
                <a:solidFill>
                  <a:srgbClr val="2E6B4F"/>
                </a:solidFill>
                <a:latin typeface="Arial" pitchFamily="34" charset="0"/>
                <a:ea typeface="Arial" pitchFamily="34" charset="-122"/>
                <a:cs typeface="Arial" pitchFamily="34" charset="-120"/>
              </a:rPr>
              <a:t>Agenda item: Eligible  &gt;  Added to Agenda  &gt;  Decision Pending  &gt;  Approved / Rejected / Sent Back</a:t>
            </a:r>
            <a:endParaRPr lang="en-US" sz="850" dirty="0"/>
          </a:p>
        </p:txBody>
      </p:sp>
      <p:sp>
        <p:nvSpPr>
          <p:cNvPr id="8" name="Text 6"/>
          <p:cNvSpPr/>
          <p:nvPr/>
        </p:nvSpPr>
        <p:spPr>
          <a:xfrm>
            <a:off x="411480" y="3639312"/>
            <a:ext cx="5486400" cy="219456"/>
          </a:xfrm>
          <a:prstGeom prst="rect">
            <a:avLst/>
          </a:prstGeom>
          <a:noFill/>
          <a:ln/>
        </p:spPr>
        <p:txBody>
          <a:bodyPr wrap="square" lIns="0" tIns="0" rIns="0" bIns="0" rtlCol="0" anchor="ctr"/>
          <a:lstStyle/>
          <a:p>
            <a:pPr indent="0" marL="0">
              <a:buNone/>
            </a:pPr>
            <a:r>
              <a:rPr lang="en-US" sz="1050" b="1" dirty="0">
                <a:solidFill>
                  <a:srgbClr val="1A5336"/>
                </a:solidFill>
                <a:latin typeface="Arial" pitchFamily="34" charset="0"/>
                <a:ea typeface="Arial" pitchFamily="34" charset="-122"/>
                <a:cs typeface="Arial" pitchFamily="34" charset="-120"/>
              </a:rPr>
              <a:t>Guardrails</a:t>
            </a:r>
            <a:endParaRPr lang="en-US" sz="1050" dirty="0"/>
          </a:p>
        </p:txBody>
      </p:sp>
      <p:sp>
        <p:nvSpPr>
          <p:cNvPr id="9" name="Text 7"/>
          <p:cNvSpPr/>
          <p:nvPr/>
        </p:nvSpPr>
        <p:spPr>
          <a:xfrm>
            <a:off x="429768" y="3895344"/>
            <a:ext cx="5486400" cy="1133856"/>
          </a:xfrm>
          <a:prstGeom prst="rect">
            <a:avLst/>
          </a:prstGeom>
          <a:noFill/>
          <a:ln/>
        </p:spPr>
        <p:txBody>
          <a:bodyPr wrap="square" lIns="0" tIns="0" rIns="0" bIns="0" rtlCol="0" anchor="t"/>
          <a:lstStyle/>
          <a:p>
            <a:pPr marL="139700" indent="-139700">
              <a:spcAft>
                <a:spcPts val="300"/>
              </a:spcAft>
              <a:buSzPct val="100000"/>
              <a:buChar char="•"/>
            </a:pPr>
            <a:r>
              <a:rPr lang="en-US" sz="850" dirty="0">
                <a:solidFill>
                  <a:srgbClr val="2E6B4F"/>
                </a:solidFill>
                <a:latin typeface="Arial" pitchFamily="34" charset="0"/>
                <a:ea typeface="Arial" pitchFamily="34" charset="-122"/>
                <a:cs typeface="Arial" pitchFamily="34" charset="-120"/>
              </a:rPr>
              <a:t>Stage and status are separate concepts and must not be conflated</a:t>
            </a:r>
            <a:endParaRPr lang="en-US" sz="850" dirty="0"/>
          </a:p>
          <a:p>
            <a:pPr marL="139700" indent="-139700">
              <a:spcAft>
                <a:spcPts val="300"/>
              </a:spcAft>
              <a:buSzPct val="100000"/>
              <a:buChar char="•"/>
            </a:pPr>
            <a:r>
              <a:rPr lang="en-US" sz="850" dirty="0">
                <a:solidFill>
                  <a:srgbClr val="2E6B4F"/>
                </a:solidFill>
                <a:latin typeface="Arial" pitchFamily="34" charset="0"/>
                <a:ea typeface="Arial" pitchFamily="34" charset="-122"/>
                <a:cs typeface="Arial" pitchFamily="34" charset="-120"/>
              </a:rPr>
              <a:t>Every transition records actor, timestamp, previous value, new value and reason</a:t>
            </a:r>
            <a:endParaRPr lang="en-US" sz="850" dirty="0"/>
          </a:p>
          <a:p>
            <a:pPr marL="139700" indent="-139700">
              <a:spcAft>
                <a:spcPts val="300"/>
              </a:spcAft>
              <a:buSzPct val="100000"/>
              <a:buChar char="•"/>
            </a:pPr>
            <a:r>
              <a:rPr lang="en-US" sz="850" dirty="0">
                <a:solidFill>
                  <a:srgbClr val="2E6B4F"/>
                </a:solidFill>
                <a:latin typeface="Arial" pitchFamily="34" charset="0"/>
                <a:ea typeface="Arial" pitchFamily="34" charset="-122"/>
                <a:cs typeface="Arial" pitchFamily="34" charset="-120"/>
              </a:rPr>
              <a:t>Pipeline Level, Status and State stay available where legacy reporting depends on them</a:t>
            </a:r>
            <a:endParaRPr lang="en-US" sz="850" dirty="0"/>
          </a:p>
          <a:p>
            <a:pPr marL="139700" indent="-139700">
              <a:spcAft>
                <a:spcPts val="300"/>
              </a:spcAft>
              <a:buSzPct val="100000"/>
              <a:buChar char="•"/>
            </a:pPr>
            <a:r>
              <a:rPr lang="en-US" sz="850" dirty="0">
                <a:solidFill>
                  <a:srgbClr val="2E6B4F"/>
                </a:solidFill>
                <a:latin typeface="Arial" pitchFamily="34" charset="0"/>
                <a:ea typeface="Arial" pitchFamily="34" charset="-122"/>
                <a:cs typeface="Arial" pitchFamily="34" charset="-120"/>
              </a:rPr>
              <a:t>Pipeline, Sourcing Request and SPID stay distinct records under one Business Request - never one mutable row</a:t>
            </a:r>
            <a:endParaRPr lang="en-US" sz="850" dirty="0"/>
          </a:p>
          <a:p>
            <a:pPr marL="139700" indent="-139700">
              <a:spcAft>
                <a:spcPts val="300"/>
              </a:spcAft>
              <a:buSzPct val="100000"/>
              <a:buChar char="•"/>
            </a:pPr>
            <a:r>
              <a:rPr lang="en-US" sz="850" dirty="0">
                <a:solidFill>
                  <a:srgbClr val="2E6B4F"/>
                </a:solidFill>
                <a:latin typeface="Arial" pitchFamily="34" charset="0"/>
                <a:ea typeface="Arial" pitchFamily="34" charset="-122"/>
                <a:cs typeface="Arial" pitchFamily="34" charset="-120"/>
              </a:rPr>
              <a:t>The approval matrix version used is stamped on each request so routing can be reconstructed later</a:t>
            </a:r>
            <a:endParaRPr lang="en-US" sz="850" dirty="0"/>
          </a:p>
        </p:txBody>
      </p:sp>
      <p:sp>
        <p:nvSpPr>
          <p:cNvPr id="10" name="Text 8"/>
          <p:cNvSpPr/>
          <p:nvPr/>
        </p:nvSpPr>
        <p:spPr>
          <a:xfrm>
            <a:off x="411480" y="4956048"/>
            <a:ext cx="5486400" cy="219456"/>
          </a:xfrm>
          <a:prstGeom prst="rect">
            <a:avLst/>
          </a:prstGeom>
          <a:noFill/>
          <a:ln/>
        </p:spPr>
        <p:txBody>
          <a:bodyPr wrap="square" lIns="0" tIns="0" rIns="0" bIns="0" rtlCol="0" anchor="ctr"/>
          <a:lstStyle/>
          <a:p>
            <a:pPr indent="0" marL="0">
              <a:buNone/>
            </a:pPr>
            <a:r>
              <a:rPr lang="en-US" sz="1050" b="1" dirty="0">
                <a:solidFill>
                  <a:srgbClr val="1A5336"/>
                </a:solidFill>
                <a:latin typeface="Arial" pitchFamily="34" charset="0"/>
                <a:ea typeface="Arial" pitchFamily="34" charset="-122"/>
                <a:cs typeface="Arial" pitchFamily="34" charset="-120"/>
              </a:rPr>
              <a:t>One journey, four linked records</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11480" y="5212080"/>
          <a:ext cx="5532120" cy="914400"/>
        </p:xfrm>
        <a:graphic>
          <a:graphicData uri="http://schemas.openxmlformats.org/drawingml/2006/table">
            <a:tbl>
              <a:tblPr/>
              <a:tblGrid>
                <a:gridCol w="1298448"/>
                <a:gridCol w="4233672"/>
              </a:tblGrid>
              <a:tr h="208483">
                <a:tc>
                  <a:txBody>
                    <a:bodyPr/>
                    <a:lstStyle/>
                    <a:p>
                      <a:pPr indent="0" marL="0">
                        <a:buNone/>
                      </a:pPr>
                      <a:r>
                        <a:rPr lang="en-US" sz="850" b="1" dirty="0">
                          <a:solidFill>
                            <a:srgbClr val="FFFFFF"/>
                          </a:solidFill>
                          <a:latin typeface="Arial" pitchFamily="34" charset="0"/>
                          <a:ea typeface="Arial" pitchFamily="34" charset="-122"/>
                          <a:cs typeface="Arial" pitchFamily="34" charset="-120"/>
                        </a:rPr>
                        <a:t>Record</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What it holds</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r>
              <a:tr h="208483">
                <a:tc>
                  <a:txBody>
                    <a:bodyPr/>
                    <a:lstStyle/>
                    <a:p>
                      <a:pPr indent="0" marL="0">
                        <a:buNone/>
                      </a:pPr>
                      <a:r>
                        <a:rPr lang="en-US" sz="720" dirty="0">
                          <a:solidFill>
                            <a:srgbClr val="1E2522"/>
                          </a:solidFill>
                          <a:latin typeface="Arial" pitchFamily="34" charset="0"/>
                          <a:ea typeface="Arial" pitchFamily="34" charset="-122"/>
                          <a:cs typeface="Arial" pitchFamily="34" charset="-120"/>
                        </a:rPr>
                        <a:t>Business Request</a:t>
                      </a:r>
                      <a:endParaRPr lang="en-US" sz="72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20" dirty="0">
                          <a:solidFill>
                            <a:srgbClr val="1E2522"/>
                          </a:solidFill>
                          <a:latin typeface="Arial" pitchFamily="34" charset="0"/>
                          <a:ea typeface="Arial" pitchFamily="34" charset="-122"/>
                          <a:cs typeface="Arial" pitchFamily="34" charset="-120"/>
                        </a:rPr>
                        <a:t>Request ID, stage, status, and the links to Pipeline, Sourcing, Ariba and SPID IDs</a:t>
                      </a:r>
                      <a:endParaRPr lang="en-US" sz="72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8483">
                <a:tc>
                  <a:txBody>
                    <a:bodyPr/>
                    <a:lstStyle/>
                    <a:p>
                      <a:pPr indent="0" marL="0">
                        <a:buNone/>
                      </a:pPr>
                      <a:r>
                        <a:rPr lang="en-US" sz="720" dirty="0">
                          <a:solidFill>
                            <a:srgbClr val="1E2522"/>
                          </a:solidFill>
                          <a:latin typeface="Arial" pitchFamily="34" charset="0"/>
                          <a:ea typeface="Arial" pitchFamily="34" charset="-122"/>
                          <a:cs typeface="Arial" pitchFamily="34" charset="-120"/>
                        </a:rPr>
                        <a:t>Pipeline record</a:t>
                      </a:r>
                      <a:endParaRPr lang="en-US" sz="72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20" dirty="0">
                          <a:solidFill>
                            <a:srgbClr val="1E2522"/>
                          </a:solidFill>
                          <a:latin typeface="Arial" pitchFamily="34" charset="0"/>
                          <a:ea typeface="Arial" pitchFamily="34" charset="-122"/>
                          <a:cs typeface="Arial" pitchFamily="34" charset="-120"/>
                        </a:rPr>
                        <a:t>Pipeline ID, level, status, state, agenda references and the immutable approved snapshot</a:t>
                      </a:r>
                      <a:endParaRPr lang="en-US" sz="72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8483">
                <a:tc>
                  <a:txBody>
                    <a:bodyPr/>
                    <a:lstStyle/>
                    <a:p>
                      <a:pPr indent="0" marL="0">
                        <a:buNone/>
                      </a:pPr>
                      <a:r>
                        <a:rPr lang="en-US" sz="720" dirty="0">
                          <a:solidFill>
                            <a:srgbClr val="1E2522"/>
                          </a:solidFill>
                          <a:latin typeface="Arial" pitchFamily="34" charset="0"/>
                          <a:ea typeface="Arial" pitchFamily="34" charset="-122"/>
                          <a:cs typeface="Arial" pitchFamily="34" charset="-120"/>
                        </a:rPr>
                        <a:t>Sourcing Request</a:t>
                      </a:r>
                      <a:endParaRPr lang="en-US" sz="72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20" dirty="0">
                          <a:solidFill>
                            <a:srgbClr val="1E2522"/>
                          </a:solidFill>
                          <a:latin typeface="Arial" pitchFamily="34" charset="0"/>
                          <a:ea typeface="Arial" pitchFamily="34" charset="-122"/>
                          <a:cs typeface="Arial" pitchFamily="34" charset="-120"/>
                        </a:rPr>
                        <a:t>USF Request ID, finance routing and outcome, vendor and cost detail, Ariba references</a:t>
                      </a:r>
                      <a:endParaRPr lang="en-US" sz="72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08483">
                <a:tc>
                  <a:txBody>
                    <a:bodyPr/>
                    <a:lstStyle/>
                    <a:p>
                      <a:pPr indent="0" marL="0">
                        <a:buNone/>
                      </a:pPr>
                      <a:r>
                        <a:rPr lang="en-US" sz="720" dirty="0">
                          <a:solidFill>
                            <a:srgbClr val="1E2522"/>
                          </a:solidFill>
                          <a:latin typeface="Arial" pitchFamily="34" charset="0"/>
                          <a:ea typeface="Arial" pitchFamily="34" charset="-122"/>
                          <a:cs typeface="Arial" pitchFamily="34" charset="-120"/>
                        </a:rPr>
                        <a:t>SPID record</a:t>
                      </a:r>
                      <a:endParaRPr lang="en-US" sz="72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20" dirty="0">
                          <a:solidFill>
                            <a:srgbClr val="1E2522"/>
                          </a:solidFill>
                          <a:latin typeface="Arial" pitchFamily="34" charset="0"/>
                          <a:ea typeface="Arial" pitchFamily="34" charset="-122"/>
                          <a:cs typeface="Arial" pitchFamily="34" charset="-120"/>
                        </a:rPr>
                        <a:t>SPID ID, final contract data, delta indicators with rationale, and approval evidence</a:t>
                      </a:r>
                      <a:endParaRPr lang="en-US" sz="72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bl>
          </a:graphicData>
        </a:graphic>
      </p:graphicFrame>
      <p:sp>
        <p:nvSpPr>
          <p:cNvPr id="12" name="Text 9"/>
          <p:cNvSpPr/>
          <p:nvPr/>
        </p:nvSpPr>
        <p:spPr>
          <a:xfrm>
            <a:off x="6245352" y="1444752"/>
            <a:ext cx="5577840" cy="219456"/>
          </a:xfrm>
          <a:prstGeom prst="rect">
            <a:avLst/>
          </a:prstGeom>
          <a:noFill/>
          <a:ln/>
        </p:spPr>
        <p:txBody>
          <a:bodyPr wrap="square" lIns="0" tIns="0" rIns="0" bIns="0" rtlCol="0" anchor="ctr"/>
          <a:lstStyle/>
          <a:p>
            <a:pPr indent="0" marL="0">
              <a:buNone/>
            </a:pPr>
            <a:r>
              <a:rPr lang="en-US" sz="1050" b="1" dirty="0">
                <a:solidFill>
                  <a:srgbClr val="1A5336"/>
                </a:solidFill>
                <a:latin typeface="Arial" pitchFamily="34" charset="0"/>
                <a:ea typeface="Arial" pitchFamily="34" charset="-122"/>
                <a:cs typeface="Arial" pitchFamily="34" charset="-120"/>
              </a:rPr>
              <a:t>Delta review - shown side by side at SPID, never silently overwritten</a:t>
            </a:r>
            <a:endParaRPr lang="en-US" sz="105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245352" y="1700784"/>
          <a:ext cx="5532120" cy="914400"/>
        </p:xfrm>
        <a:graphic>
          <a:graphicData uri="http://schemas.openxmlformats.org/drawingml/2006/table">
            <a:tbl>
              <a:tblPr/>
              <a:tblGrid>
                <a:gridCol w="1600200"/>
                <a:gridCol w="1325880"/>
                <a:gridCol w="1325880"/>
                <a:gridCol w="1280160"/>
              </a:tblGrid>
              <a:tr h="274320">
                <a:tc>
                  <a:txBody>
                    <a:bodyPr/>
                    <a:lstStyle/>
                    <a:p>
                      <a:pPr indent="0" marL="0">
                        <a:buNone/>
                      </a:pPr>
                      <a:r>
                        <a:rPr lang="en-US" sz="850" b="1" dirty="0">
                          <a:solidFill>
                            <a:srgbClr val="FFFFFF"/>
                          </a:solidFill>
                          <a:latin typeface="Arial" pitchFamily="34" charset="0"/>
                          <a:ea typeface="Arial" pitchFamily="34" charset="-122"/>
                          <a:cs typeface="Arial" pitchFamily="34" charset="-120"/>
                        </a:rPr>
                        <a:t>Data point</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Pipeline approved</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USF / Ariba</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Final SPID</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r>
              <a:tr h="274320">
                <a:tc>
                  <a:txBody>
                    <a:bodyPr/>
                    <a:lstStyle/>
                    <a:p>
                      <a:pPr indent="0" marL="0">
                        <a:buNone/>
                      </a:pPr>
                      <a:r>
                        <a:rPr lang="en-US" sz="800" dirty="0">
                          <a:solidFill>
                            <a:srgbClr val="1E2522"/>
                          </a:solidFill>
                          <a:latin typeface="Arial" pitchFamily="34" charset="0"/>
                          <a:ea typeface="Arial" pitchFamily="34" charset="-122"/>
                          <a:cs typeface="Arial" pitchFamily="34" charset="-120"/>
                        </a:rPr>
                        <a:t>Vendor</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Proposed</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Procurement value</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Final legal entity</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74320">
                <a:tc>
                  <a:txBody>
                    <a:bodyPr/>
                    <a:lstStyle/>
                    <a:p>
                      <a:pPr indent="0" marL="0">
                        <a:buNone/>
                      </a:pPr>
                      <a:r>
                        <a:rPr lang="en-US" sz="800" dirty="0">
                          <a:solidFill>
                            <a:srgbClr val="1E2522"/>
                          </a:solidFill>
                          <a:latin typeface="Arial" pitchFamily="34" charset="0"/>
                          <a:ea typeface="Arial" pitchFamily="34" charset="-122"/>
                          <a:cs typeface="Arial" pitchFamily="34" charset="-120"/>
                        </a:rPr>
                        <a:t>Start / end dates</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Proposed</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Contract workspace</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Final contract</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74320">
                <a:tc>
                  <a:txBody>
                    <a:bodyPr/>
                    <a:lstStyle/>
                    <a:p>
                      <a:pPr indent="0" marL="0">
                        <a:buNone/>
                      </a:pPr>
                      <a:r>
                        <a:rPr lang="en-US" sz="800" dirty="0">
                          <a:solidFill>
                            <a:srgbClr val="1E2522"/>
                          </a:solidFill>
                          <a:latin typeface="Arial" pitchFamily="34" charset="0"/>
                          <a:ea typeface="Arial" pitchFamily="34" charset="-122"/>
                          <a:cs typeface="Arial" pitchFamily="34" charset="-120"/>
                        </a:rPr>
                        <a:t>Spend / value</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Anticipated</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Sourcing value</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Final ask</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74320">
                <a:tc>
                  <a:txBody>
                    <a:bodyPr/>
                    <a:lstStyle/>
                    <a:p>
                      <a:pPr indent="0" marL="0">
                        <a:buNone/>
                      </a:pPr>
                      <a:r>
                        <a:rPr lang="en-US" sz="800" dirty="0">
                          <a:solidFill>
                            <a:srgbClr val="1E2522"/>
                          </a:solidFill>
                          <a:latin typeface="Arial" pitchFamily="34" charset="0"/>
                          <a:ea typeface="Arial" pitchFamily="34" charset="-122"/>
                          <a:cs typeface="Arial" pitchFamily="34" charset="-120"/>
                        </a:rPr>
                        <a:t>Resource count and mix</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Planned</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SOW / workspace</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Final signing request</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74320">
                <a:tc>
                  <a:txBody>
                    <a:bodyPr/>
                    <a:lstStyle/>
                    <a:p>
                      <a:pPr indent="0" marL="0">
                        <a:buNone/>
                      </a:pPr>
                      <a:r>
                        <a:rPr lang="en-US" sz="800" dirty="0">
                          <a:solidFill>
                            <a:srgbClr val="1E2522"/>
                          </a:solidFill>
                          <a:latin typeface="Arial" pitchFamily="34" charset="0"/>
                          <a:ea typeface="Arial" pitchFamily="34" charset="-122"/>
                          <a:cs typeface="Arial" pitchFamily="34" charset="-120"/>
                        </a:rPr>
                        <a:t>RFP / competitive due diligence</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Planned answer</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Procurement result</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Final evidence</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74320">
                <a:tc>
                  <a:txBody>
                    <a:bodyPr/>
                    <a:lstStyle/>
                    <a:p>
                      <a:pPr indent="0" marL="0">
                        <a:buNone/>
                      </a:pPr>
                      <a:r>
                        <a:rPr lang="en-US" sz="800" dirty="0">
                          <a:solidFill>
                            <a:srgbClr val="1E2522"/>
                          </a:solidFill>
                          <a:latin typeface="Arial" pitchFamily="34" charset="0"/>
                          <a:ea typeface="Arial" pitchFamily="34" charset="-122"/>
                          <a:cs typeface="Arial" pitchFamily="34" charset="-120"/>
                        </a:rPr>
                        <a:t>Funding</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Initial source</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Finance confirmed</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Final evidence</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bl>
          </a:graphicData>
        </a:graphic>
      </p:graphicFrame>
      <p:sp>
        <p:nvSpPr>
          <p:cNvPr id="14" name="Shape 10"/>
          <p:cNvSpPr/>
          <p:nvPr/>
        </p:nvSpPr>
        <p:spPr>
          <a:xfrm>
            <a:off x="6245352" y="3712464"/>
            <a:ext cx="5532120" cy="2615184"/>
          </a:xfrm>
          <a:prstGeom prst="roundRect">
            <a:avLst>
              <a:gd name="adj" fmla="val 1748"/>
            </a:avLst>
          </a:prstGeom>
          <a:solidFill>
            <a:srgbClr val="FBEEDA"/>
          </a:solidFill>
          <a:ln w="9525">
            <a:solidFill>
              <a:srgbClr val="EAD3AF"/>
            </a:solidFill>
            <a:prstDash val="solid"/>
          </a:ln>
        </p:spPr>
      </p:sp>
      <p:sp>
        <p:nvSpPr>
          <p:cNvPr id="15" name="Text 11"/>
          <p:cNvSpPr/>
          <p:nvPr/>
        </p:nvSpPr>
        <p:spPr>
          <a:xfrm>
            <a:off x="6409944" y="3803904"/>
            <a:ext cx="5212080" cy="219456"/>
          </a:xfrm>
          <a:prstGeom prst="rect">
            <a:avLst/>
          </a:prstGeom>
          <a:noFill/>
          <a:ln/>
        </p:spPr>
        <p:txBody>
          <a:bodyPr wrap="square" lIns="0" tIns="0" rIns="0" bIns="0" rtlCol="0" anchor="ctr"/>
          <a:lstStyle/>
          <a:p>
            <a:pPr indent="0" marL="0">
              <a:buNone/>
            </a:pPr>
            <a:r>
              <a:rPr lang="en-US" sz="1050" b="1" dirty="0">
                <a:solidFill>
                  <a:srgbClr val="9C5A00"/>
                </a:solidFill>
                <a:latin typeface="Arial" pitchFamily="34" charset="0"/>
                <a:ea typeface="Arial" pitchFamily="34" charset="-122"/>
                <a:cs typeface="Arial" pitchFamily="34" charset="-120"/>
              </a:rPr>
              <a:t>Why this matters</a:t>
            </a:r>
            <a:endParaRPr lang="en-US" sz="1050" dirty="0"/>
          </a:p>
        </p:txBody>
      </p:sp>
      <p:sp>
        <p:nvSpPr>
          <p:cNvPr id="16" name="Text 12"/>
          <p:cNvSpPr/>
          <p:nvPr/>
        </p:nvSpPr>
        <p:spPr>
          <a:xfrm>
            <a:off x="6409944" y="4059936"/>
            <a:ext cx="5212080" cy="2194560"/>
          </a:xfrm>
          <a:prstGeom prst="rect">
            <a:avLst/>
          </a:prstGeom>
          <a:noFill/>
          <a:ln/>
        </p:spPr>
        <p:txBody>
          <a:bodyPr wrap="square" lIns="0" tIns="0" rIns="0" bIns="0" rtlCol="0" anchor="t"/>
          <a:lstStyle/>
          <a:p>
            <a:pPr indent="0" marL="0">
              <a:lnSpc>
                <a:spcPct val="103000"/>
              </a:lnSpc>
              <a:buNone/>
            </a:pPr>
            <a:r>
              <a:rPr lang="en-US" sz="850" dirty="0">
                <a:solidFill>
                  <a:srgbClr val="6E4300"/>
                </a:solidFill>
                <a:latin typeface="Arial" pitchFamily="34" charset="0"/>
                <a:ea typeface="Arial" pitchFamily="34" charset="-122"/>
                <a:cs typeface="Arial" pitchFamily="34" charset="-120"/>
              </a:rPr>
              <a:t>Working sessions found duplicate and misaligned data today when users edit Ariba-derived values in SPID. There is no controlled distinction between authoritative source data and requestor-entered final detail.</a:t>
            </a:r>
            <a:endParaRPr lang="en-US" sz="850" dirty="0"/>
          </a:p>
          <a:p>
            <a:pPr indent="0" marL="0">
              <a:lnSpc>
                <a:spcPct val="103000"/>
              </a:lnSpc>
              <a:buNone/>
            </a:pPr>
            <a:endParaRPr lang="en-US" sz="850" dirty="0"/>
          </a:p>
          <a:p>
            <a:pPr indent="0" marL="0">
              <a:lnSpc>
                <a:spcPct val="103000"/>
              </a:lnSpc>
              <a:buNone/>
            </a:pPr>
            <a:r>
              <a:rPr lang="en-US" sz="850" dirty="0">
                <a:solidFill>
                  <a:srgbClr val="6E4300"/>
                </a:solidFill>
                <a:latin typeface="Arial" pitchFamily="34" charset="0"/>
                <a:ea typeface="Arial" pitchFamily="34" charset="-122"/>
                <a:cs typeface="Arial" pitchFamily="34" charset="-120"/>
              </a:rPr>
              <a:t>In MVP1: approved Pipeline values become immutable, Ariba-derived values are read-only where they are authoritative, and any difference at SPID is flagged for the approver with a rationale from the requestor.</a:t>
            </a:r>
            <a:endParaRPr lang="en-US" sz="850" dirty="0"/>
          </a:p>
          <a:p>
            <a:pPr indent="0" marL="0">
              <a:lnSpc>
                <a:spcPct val="103000"/>
              </a:lnSpc>
              <a:buNone/>
            </a:pPr>
            <a:endParaRPr lang="en-US" sz="850" dirty="0"/>
          </a:p>
          <a:p>
            <a:pPr indent="0" marL="0">
              <a:lnSpc>
                <a:spcPct val="103000"/>
              </a:lnSpc>
              <a:buNone/>
            </a:pPr>
            <a:r>
              <a:rPr lang="en-US" sz="850" b="1" dirty="0">
                <a:solidFill>
                  <a:srgbClr val="6E4300"/>
                </a:solidFill>
                <a:latin typeface="Arial" pitchFamily="34" charset="0"/>
                <a:ea typeface="Arial" pitchFamily="34" charset="-122"/>
                <a:cs typeface="Arial" pitchFamily="34" charset="-120"/>
              </a:rPr>
              <a:t>This is what lets an approver see what actually changed between strategic approval and signing - which is not visible anywhere today.</a:t>
            </a:r>
            <a:endParaRPr lang="en-US" sz="850" dirty="0"/>
          </a:p>
          <a:p>
            <a:pPr indent="0" marL="0">
              <a:lnSpc>
                <a:spcPct val="103000"/>
              </a:lnSpc>
              <a:buNone/>
            </a:pPr>
            <a:endParaRPr lang="en-US" sz="850" dirty="0"/>
          </a:p>
          <a:p>
            <a:pPr indent="0" marL="0">
              <a:lnSpc>
                <a:spcPct val="103000"/>
              </a:lnSpc>
              <a:buNone/>
            </a:pPr>
            <a:r>
              <a:rPr lang="en-US" sz="850" dirty="0">
                <a:solidFill>
                  <a:srgbClr val="6E4300"/>
                </a:solidFill>
                <a:latin typeface="Arial" pitchFamily="34" charset="0"/>
                <a:ea typeface="Arial" pitchFamily="34" charset="-122"/>
                <a:cs typeface="Arial" pitchFamily="34" charset="-120"/>
              </a:rPr>
              <a:t>It matters commercially as well as procedurally. The gap between Pipeline approval and SPID is highly variable - business feedback is that it ranges widely, so vendor, dates, resource mix and contract value frequently move. Today nothing forces those movements to be explained, and Pipeline approval is not signing authority.</a:t>
            </a:r>
            <a:endParaRPr lang="en-US" sz="850" dirty="0"/>
          </a:p>
        </p:txBody>
      </p:sp>
      <p:sp>
        <p:nvSpPr>
          <p:cNvPr id="17" name="Text 13"/>
          <p:cNvSpPr/>
          <p:nvPr/>
        </p:nvSpPr>
        <p:spPr>
          <a:xfrm>
            <a:off x="411480" y="6455664"/>
            <a:ext cx="2743200" cy="237744"/>
          </a:xfrm>
          <a:prstGeom prst="rect">
            <a:avLst/>
          </a:prstGeom>
          <a:noFill/>
          <a:ln/>
        </p:spPr>
        <p:txBody>
          <a:bodyPr wrap="square" lIns="0" tIns="0" rIns="0" bIns="0" rtlCol="0" anchor="ctr"/>
          <a:lstStyle/>
          <a:p>
            <a:pPr algn="l" indent="0" marL="0">
              <a:buNone/>
            </a:pPr>
            <a:r>
              <a:rPr lang="en-US" sz="800" dirty="0">
                <a:solidFill>
                  <a:srgbClr val="9AA6A0"/>
                </a:solidFill>
                <a:latin typeface="Arial" pitchFamily="34" charset="0"/>
                <a:ea typeface="Arial" pitchFamily="34" charset="-122"/>
                <a:cs typeface="Arial" pitchFamily="34" charset="-120"/>
              </a:rPr>
              <a:t>Internal / Interne</a:t>
            </a:r>
            <a:endParaRPr lang="en-US" sz="800" dirty="0"/>
          </a:p>
        </p:txBody>
      </p:sp>
      <p:sp>
        <p:nvSpPr>
          <p:cNvPr id="18" name="Text 14"/>
          <p:cNvSpPr/>
          <p:nvPr/>
        </p:nvSpPr>
        <p:spPr>
          <a:xfrm>
            <a:off x="10863072" y="6455664"/>
            <a:ext cx="914400" cy="237744"/>
          </a:xfrm>
          <a:prstGeom prst="rect">
            <a:avLst/>
          </a:prstGeom>
          <a:noFill/>
          <a:ln/>
        </p:spPr>
        <p:txBody>
          <a:bodyPr wrap="square" lIns="0" tIns="0" rIns="0" bIns="0" rtlCol="0" anchor="ctr"/>
          <a:lstStyle/>
          <a:p>
            <a:pPr algn="r" indent="0" marL="0">
              <a:buNone/>
            </a:pPr>
            <a:r>
              <a:rPr lang="en-US" sz="800" dirty="0">
                <a:solidFill>
                  <a:srgbClr val="9AA6A0"/>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11480" y="274320"/>
            <a:ext cx="10058400" cy="219456"/>
          </a:xfrm>
          <a:prstGeom prst="rect">
            <a:avLst/>
          </a:prstGeom>
          <a:noFill/>
          <a:ln/>
        </p:spPr>
        <p:txBody>
          <a:bodyPr wrap="square" lIns="0" tIns="0" rIns="0" bIns="0" rtlCol="0" anchor="ctr"/>
          <a:lstStyle/>
          <a:p>
            <a:pPr indent="0" marL="0">
              <a:buNone/>
            </a:pPr>
            <a:r>
              <a:rPr lang="en-US" sz="950" b="1" spc="160" kern="0" dirty="0">
                <a:solidFill>
                  <a:srgbClr val="008A00"/>
                </a:solidFill>
                <a:latin typeface="Arial" pitchFamily="34" charset="0"/>
                <a:ea typeface="Arial" pitchFamily="34" charset="-122"/>
                <a:cs typeface="Arial" pitchFamily="34" charset="-120"/>
              </a:rPr>
              <a:t>APPENDIX A7</a:t>
            </a:r>
            <a:endParaRPr lang="en-US" sz="950" dirty="0"/>
          </a:p>
        </p:txBody>
      </p:sp>
      <p:sp>
        <p:nvSpPr>
          <p:cNvPr id="3" name="Text 1"/>
          <p:cNvSpPr/>
          <p:nvPr/>
        </p:nvSpPr>
        <p:spPr>
          <a:xfrm>
            <a:off x="411480" y="502920"/>
            <a:ext cx="11365992" cy="566928"/>
          </a:xfrm>
          <a:prstGeom prst="rect">
            <a:avLst/>
          </a:prstGeom>
          <a:noFill/>
          <a:ln/>
        </p:spPr>
        <p:txBody>
          <a:bodyPr wrap="square" lIns="0" tIns="0" rIns="0" bIns="0" rtlCol="0" anchor="ctr"/>
          <a:lstStyle/>
          <a:p>
            <a:pPr indent="0" marL="0">
              <a:buNone/>
            </a:pPr>
            <a:r>
              <a:rPr lang="en-US" sz="2500" b="1" dirty="0">
                <a:solidFill>
                  <a:srgbClr val="1A5336"/>
                </a:solidFill>
                <a:latin typeface="Arial" pitchFamily="34" charset="0"/>
                <a:ea typeface="Arial" pitchFamily="34" charset="-122"/>
                <a:cs typeface="Arial" pitchFamily="34" charset="-120"/>
              </a:rPr>
              <a:t>Scope boundary: Vendor Expense only, and what stays in EMS</a:t>
            </a:r>
            <a:endParaRPr lang="en-US" sz="2500" dirty="0"/>
          </a:p>
        </p:txBody>
      </p:sp>
      <p:sp>
        <p:nvSpPr>
          <p:cNvPr id="4" name="Text 2"/>
          <p:cNvSpPr/>
          <p:nvPr/>
        </p:nvSpPr>
        <p:spPr>
          <a:xfrm>
            <a:off x="411480" y="1051560"/>
            <a:ext cx="11365992" cy="274320"/>
          </a:xfrm>
          <a:prstGeom prst="rect">
            <a:avLst/>
          </a:prstGeom>
          <a:noFill/>
          <a:ln/>
        </p:spPr>
        <p:txBody>
          <a:bodyPr wrap="square" lIns="0" tIns="0" rIns="0" bIns="0" rtlCol="0" anchor="ctr"/>
          <a:lstStyle/>
          <a:p>
            <a:pPr indent="0" marL="0">
              <a:buNone/>
            </a:pPr>
            <a:r>
              <a:rPr lang="en-US" sz="1150" dirty="0">
                <a:solidFill>
                  <a:srgbClr val="586460"/>
                </a:solidFill>
                <a:latin typeface="Arial" pitchFamily="34" charset="0"/>
                <a:ea typeface="Arial" pitchFamily="34" charset="-122"/>
                <a:cs typeface="Arial" pitchFamily="34" charset="-120"/>
              </a:rPr>
              <a:t>EMS runs several other GTS flows. MVP1 deliberately takes one end-to-end rather than partially rebuilding all of them and leaving broken paths.</a:t>
            </a:r>
            <a:endParaRPr lang="en-US" sz="1150" dirty="0"/>
          </a:p>
        </p:txBody>
      </p:sp>
      <p:sp>
        <p:nvSpPr>
          <p:cNvPr id="5" name="Text 3"/>
          <p:cNvSpPr/>
          <p:nvPr/>
        </p:nvSpPr>
        <p:spPr>
          <a:xfrm>
            <a:off x="411480" y="1444752"/>
            <a:ext cx="5486400" cy="219456"/>
          </a:xfrm>
          <a:prstGeom prst="rect">
            <a:avLst/>
          </a:prstGeom>
          <a:noFill/>
          <a:ln/>
        </p:spPr>
        <p:txBody>
          <a:bodyPr wrap="square" lIns="0" tIns="0" rIns="0" bIns="0" rtlCol="0" anchor="ctr"/>
          <a:lstStyle/>
          <a:p>
            <a:pPr indent="0" marL="0">
              <a:buNone/>
            </a:pPr>
            <a:r>
              <a:rPr lang="en-US" sz="1050" b="1" dirty="0">
                <a:solidFill>
                  <a:srgbClr val="1A5336"/>
                </a:solidFill>
                <a:latin typeface="Arial" pitchFamily="34" charset="0"/>
                <a:ea typeface="Arial" pitchFamily="34" charset="-122"/>
                <a:cs typeface="Arial" pitchFamily="34" charset="-120"/>
              </a:rPr>
              <a:t>In scope for MVP1</a:t>
            </a:r>
            <a:endParaRPr lang="en-US" sz="1050" dirty="0"/>
          </a:p>
        </p:txBody>
      </p:sp>
      <p:sp>
        <p:nvSpPr>
          <p:cNvPr id="6" name="Shape 4"/>
          <p:cNvSpPr/>
          <p:nvPr/>
        </p:nvSpPr>
        <p:spPr>
          <a:xfrm>
            <a:off x="411480" y="1700784"/>
            <a:ext cx="5532120" cy="2743200"/>
          </a:xfrm>
          <a:prstGeom prst="roundRect">
            <a:avLst>
              <a:gd name="adj" fmla="val 1667"/>
            </a:avLst>
          </a:prstGeom>
          <a:solidFill>
            <a:srgbClr val="E7EFEA"/>
          </a:solidFill>
          <a:ln w="9525">
            <a:solidFill>
              <a:srgbClr val="CBDBD1"/>
            </a:solidFill>
            <a:prstDash val="solid"/>
          </a:ln>
        </p:spPr>
      </p:sp>
      <p:sp>
        <p:nvSpPr>
          <p:cNvPr id="7" name="Text 5"/>
          <p:cNvSpPr/>
          <p:nvPr/>
        </p:nvSpPr>
        <p:spPr>
          <a:xfrm>
            <a:off x="576072" y="1792224"/>
            <a:ext cx="5212080" cy="2560320"/>
          </a:xfrm>
          <a:prstGeom prst="rect">
            <a:avLst/>
          </a:prstGeom>
          <a:noFill/>
          <a:ln/>
        </p:spPr>
        <p:txBody>
          <a:bodyPr wrap="square" lIns="0" tIns="0" rIns="0" bIns="0" rtlCol="0" anchor="t"/>
          <a:lstStyle/>
          <a:p>
            <a:pPr marL="139700" indent="-139700">
              <a:spcAft>
                <a:spcPts val="600"/>
              </a:spcAft>
              <a:buSzPct val="100000"/>
              <a:buChar char="•"/>
            </a:pPr>
            <a:r>
              <a:rPr lang="en-US" sz="850" dirty="0">
                <a:solidFill>
                  <a:srgbClr val="2E6B4F"/>
                </a:solidFill>
                <a:latin typeface="Arial" pitchFamily="34" charset="0"/>
                <a:ea typeface="Arial" pitchFamily="34" charset="-122"/>
                <a:cs typeface="Arial" pitchFamily="34" charset="-120"/>
              </a:rPr>
              <a:t>USF Vendor Expense entry point and GTS / non-GTS routing</a:t>
            </a:r>
            <a:endParaRPr lang="en-US" sz="850" dirty="0"/>
          </a:p>
          <a:p>
            <a:pPr marL="139700" indent="-139700">
              <a:spcAft>
                <a:spcPts val="600"/>
              </a:spcAft>
              <a:buSzPct val="100000"/>
              <a:buChar char="•"/>
            </a:pPr>
            <a:r>
              <a:rPr lang="en-US" sz="850" dirty="0">
                <a:solidFill>
                  <a:srgbClr val="2E6B4F"/>
                </a:solidFill>
                <a:latin typeface="Arial" pitchFamily="34" charset="0"/>
                <a:ea typeface="Arial" pitchFamily="34" charset="-122"/>
                <a:cs typeface="Arial" pitchFamily="34" charset="-120"/>
              </a:rPr>
              <a:t>Unified intake covering USF sourcing, Pipeline, Management Consulting and SPID fields</a:t>
            </a:r>
            <a:endParaRPr lang="en-US" sz="850" dirty="0"/>
          </a:p>
          <a:p>
            <a:pPr marL="139700" indent="-139700">
              <a:spcAft>
                <a:spcPts val="600"/>
              </a:spcAft>
              <a:buSzPct val="100000"/>
              <a:buChar char="•"/>
            </a:pPr>
            <a:r>
              <a:rPr lang="en-US" sz="850" dirty="0">
                <a:solidFill>
                  <a:srgbClr val="2E6B4F"/>
                </a:solidFill>
                <a:latin typeface="Arial" pitchFamily="34" charset="0"/>
                <a:ea typeface="Arial" pitchFamily="34" charset="-122"/>
                <a:cs typeface="Arial" pitchFamily="34" charset="-120"/>
              </a:rPr>
              <a:t>Routing and decision engine, MC classification flag, skip logic</a:t>
            </a:r>
            <a:endParaRPr lang="en-US" sz="850" dirty="0"/>
          </a:p>
          <a:p>
            <a:pPr marL="139700" indent="-139700">
              <a:spcAft>
                <a:spcPts val="600"/>
              </a:spcAft>
              <a:buSzPct val="100000"/>
              <a:buChar char="•"/>
            </a:pPr>
            <a:r>
              <a:rPr lang="en-US" sz="850" dirty="0">
                <a:solidFill>
                  <a:srgbClr val="2E6B4F"/>
                </a:solidFill>
                <a:latin typeface="Arial" pitchFamily="34" charset="0"/>
                <a:ea typeface="Arial" pitchFamily="34" charset="-122"/>
                <a:cs typeface="Arial" pitchFamily="34" charset="-120"/>
              </a:rPr>
              <a:t>BOM Lead agenda workflow with approve, send back, reject and stamped decision dates</a:t>
            </a:r>
            <a:endParaRPr lang="en-US" sz="850" dirty="0"/>
          </a:p>
          <a:p>
            <a:pPr marL="139700" indent="-139700">
              <a:spcAft>
                <a:spcPts val="600"/>
              </a:spcAft>
              <a:buSzPct val="100000"/>
              <a:buChar char="•"/>
            </a:pPr>
            <a:r>
              <a:rPr lang="en-US" sz="850" dirty="0">
                <a:solidFill>
                  <a:srgbClr val="2E6B4F"/>
                </a:solidFill>
                <a:latin typeface="Arial" pitchFamily="34" charset="0"/>
                <a:ea typeface="Arial" pitchFamily="34" charset="-122"/>
                <a:cs typeface="Arial" pitchFamily="34" charset="-120"/>
              </a:rPr>
              <a:t>Carry-forward of approved Pipeline data into the sourcing intake</a:t>
            </a:r>
            <a:endParaRPr lang="en-US" sz="850" dirty="0"/>
          </a:p>
          <a:p>
            <a:pPr marL="139700" indent="-139700">
              <a:spcAft>
                <a:spcPts val="600"/>
              </a:spcAft>
              <a:buSzPct val="100000"/>
              <a:buChar char="•"/>
            </a:pPr>
            <a:r>
              <a:rPr lang="en-US" sz="850" dirty="0">
                <a:solidFill>
                  <a:srgbClr val="2E6B4F"/>
                </a:solidFill>
                <a:latin typeface="Arial" pitchFamily="34" charset="0"/>
                <a:ea typeface="Arial" pitchFamily="34" charset="-122"/>
                <a:cs typeface="Arial" pitchFamily="34" charset="-120"/>
              </a:rPr>
              <a:t>Existing Finance Partner Matrix review, reused</a:t>
            </a:r>
            <a:endParaRPr lang="en-US" sz="850" dirty="0"/>
          </a:p>
          <a:p>
            <a:pPr marL="139700" indent="-139700">
              <a:spcAft>
                <a:spcPts val="600"/>
              </a:spcAft>
              <a:buSzPct val="100000"/>
              <a:buChar char="•"/>
            </a:pPr>
            <a:r>
              <a:rPr lang="en-US" sz="850" dirty="0">
                <a:solidFill>
                  <a:srgbClr val="2E6B4F"/>
                </a:solidFill>
                <a:latin typeface="Arial" pitchFamily="34" charset="0"/>
                <a:ea typeface="Arial" pitchFamily="34" charset="-122"/>
                <a:cs typeface="Arial" pitchFamily="34" charset="-120"/>
              </a:rPr>
              <a:t>Manual SPID initiation, delta display and SPID approval workflow</a:t>
            </a:r>
            <a:endParaRPr lang="en-US" sz="850" dirty="0"/>
          </a:p>
          <a:p>
            <a:pPr marL="139700" indent="-139700">
              <a:spcAft>
                <a:spcPts val="600"/>
              </a:spcAft>
              <a:buSzPct val="100000"/>
              <a:buChar char="•"/>
            </a:pPr>
            <a:r>
              <a:rPr lang="en-US" sz="850" dirty="0">
                <a:solidFill>
                  <a:srgbClr val="2E6B4F"/>
                </a:solidFill>
                <a:latin typeface="Arial" pitchFamily="34" charset="0"/>
                <a:ea typeface="Arial" pitchFamily="34" charset="-122"/>
                <a:cs typeface="Arial" pitchFamily="34" charset="-120"/>
              </a:rPr>
              <a:t>GTS / non-GTS route decision at the front door</a:t>
            </a:r>
            <a:endParaRPr lang="en-US" sz="850" dirty="0"/>
          </a:p>
          <a:p>
            <a:pPr marL="139700" indent="-139700">
              <a:spcAft>
                <a:spcPts val="600"/>
              </a:spcAft>
              <a:buSzPct val="100000"/>
              <a:buChar char="•"/>
            </a:pPr>
            <a:r>
              <a:rPr lang="en-US" sz="850" dirty="0">
                <a:solidFill>
                  <a:srgbClr val="2E6B4F"/>
                </a:solidFill>
                <a:latin typeface="Arial" pitchFamily="34" charset="0"/>
                <a:ea typeface="Arial" pitchFamily="34" charset="-122"/>
                <a:cs typeface="Arial" pitchFamily="34" charset="-120"/>
              </a:rPr>
              <a:t>Sequential approvals with Send Back, Reject and cancellation controls</a:t>
            </a:r>
            <a:endParaRPr lang="en-US" sz="850" dirty="0"/>
          </a:p>
          <a:p>
            <a:pPr marL="139700" indent="-139700">
              <a:spcAft>
                <a:spcPts val="600"/>
              </a:spcAft>
              <a:buSzPct val="100000"/>
              <a:buChar char="•"/>
            </a:pPr>
            <a:r>
              <a:rPr lang="en-US" sz="850" dirty="0">
                <a:solidFill>
                  <a:srgbClr val="2E6B4F"/>
                </a:solidFill>
                <a:latin typeface="Arial" pitchFamily="34" charset="0"/>
                <a:ea typeface="Arial" pitchFamily="34" charset="-122"/>
                <a:cs typeface="Arial" pitchFamily="34" charset="-120"/>
              </a:rPr>
              <a:t>Ariba hand-off visibility, SR references and status evidence</a:t>
            </a:r>
            <a:endParaRPr lang="en-US" sz="850" dirty="0"/>
          </a:p>
          <a:p>
            <a:pPr marL="139700" indent="-139700">
              <a:spcAft>
                <a:spcPts val="600"/>
              </a:spcAft>
              <a:buSzPct val="100000"/>
              <a:buChar char="•"/>
            </a:pPr>
            <a:r>
              <a:rPr lang="en-US" sz="850" dirty="0">
                <a:solidFill>
                  <a:srgbClr val="2E6B4F"/>
                </a:solidFill>
                <a:latin typeface="Arial" pitchFamily="34" charset="0"/>
                <a:ea typeface="Arial" pitchFamily="34" charset="-122"/>
                <a:cs typeface="Arial" pitchFamily="34" charset="-120"/>
              </a:rPr>
              <a:t>Pipeline dashboard and agenda export by Segment / BU / Level</a:t>
            </a:r>
            <a:endParaRPr lang="en-US" sz="850" dirty="0"/>
          </a:p>
          <a:p>
            <a:pPr marL="139700" indent="-139700">
              <a:spcAft>
                <a:spcPts val="600"/>
              </a:spcAft>
              <a:buSzPct val="100000"/>
              <a:buChar char="•"/>
            </a:pPr>
            <a:r>
              <a:rPr lang="en-US" sz="850" dirty="0">
                <a:solidFill>
                  <a:srgbClr val="2E6B4F"/>
                </a:solidFill>
                <a:latin typeface="Arial" pitchFamily="34" charset="0"/>
                <a:ea typeface="Arial" pitchFamily="34" charset="-122"/>
                <a:cs typeface="Arial" pitchFamily="34" charset="-120"/>
              </a:rPr>
              <a:t>One My Requests view, role-filtered queues, admin portal, notifications and audit trail</a:t>
            </a:r>
            <a:endParaRPr lang="en-US" sz="850" dirty="0"/>
          </a:p>
        </p:txBody>
      </p:sp>
      <p:sp>
        <p:nvSpPr>
          <p:cNvPr id="8" name="Text 6"/>
          <p:cNvSpPr/>
          <p:nvPr/>
        </p:nvSpPr>
        <p:spPr>
          <a:xfrm>
            <a:off x="6245352" y="1444752"/>
            <a:ext cx="5577840" cy="219456"/>
          </a:xfrm>
          <a:prstGeom prst="rect">
            <a:avLst/>
          </a:prstGeom>
          <a:noFill/>
          <a:ln/>
        </p:spPr>
        <p:txBody>
          <a:bodyPr wrap="square" lIns="0" tIns="0" rIns="0" bIns="0" rtlCol="0" anchor="ctr"/>
          <a:lstStyle/>
          <a:p>
            <a:pPr indent="0" marL="0">
              <a:buNone/>
            </a:pPr>
            <a:r>
              <a:rPr lang="en-US" sz="1050" b="1" dirty="0">
                <a:solidFill>
                  <a:srgbClr val="9C5A00"/>
                </a:solidFill>
                <a:latin typeface="Arial" pitchFamily="34" charset="0"/>
                <a:ea typeface="Arial" pitchFamily="34" charset="-122"/>
                <a:cs typeface="Arial" pitchFamily="34" charset="-120"/>
              </a:rPr>
              <a:t>Out of scope for MVP1 - stays in EMS today</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245352" y="1700784"/>
          <a:ext cx="5532120" cy="914400"/>
        </p:xfrm>
        <a:graphic>
          <a:graphicData uri="http://schemas.openxmlformats.org/drawingml/2006/table">
            <a:tbl>
              <a:tblPr/>
              <a:tblGrid>
                <a:gridCol w="2240280"/>
                <a:gridCol w="3291840"/>
              </a:tblGrid>
              <a:tr h="294437">
                <a:tc>
                  <a:txBody>
                    <a:bodyPr/>
                    <a:lstStyle/>
                    <a:p>
                      <a:pPr indent="0" marL="0">
                        <a:buNone/>
                      </a:pPr>
                      <a:r>
                        <a:rPr lang="en-US" sz="850" b="1" dirty="0">
                          <a:solidFill>
                            <a:srgbClr val="FFFFFF"/>
                          </a:solidFill>
                          <a:latin typeface="Arial" pitchFamily="34" charset="0"/>
                          <a:ea typeface="Arial" pitchFamily="34" charset="-122"/>
                          <a:cs typeface="Arial" pitchFamily="34" charset="-120"/>
                        </a:rPr>
                        <a:t>EMS flow</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Why it is out of MVP1</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r>
              <a:tr h="294437">
                <a:tc>
                  <a:txBody>
                    <a:bodyPr/>
                    <a:lstStyle/>
                    <a:p>
                      <a:pPr indent="0" marL="0">
                        <a:buNone/>
                      </a:pPr>
                      <a:r>
                        <a:rPr lang="en-US" sz="780" dirty="0">
                          <a:solidFill>
                            <a:srgbClr val="1E2522"/>
                          </a:solidFill>
                          <a:latin typeface="Arial" pitchFamily="34" charset="0"/>
                          <a:ea typeface="Arial" pitchFamily="34" charset="-122"/>
                          <a:cs typeface="Arial" pitchFamily="34" charset="-120"/>
                        </a:rPr>
                        <a:t>Approval to Hire - existing SOW (non-GD)</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Different chain (AVP first, no Pipeline) plus an onboarding record</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94437">
                <a:tc>
                  <a:txBody>
                    <a:bodyPr/>
                    <a:lstStyle/>
                    <a:p>
                      <a:pPr indent="0" marL="0">
                        <a:buNone/>
                      </a:pPr>
                      <a:r>
                        <a:rPr lang="en-US" sz="780" dirty="0">
                          <a:solidFill>
                            <a:srgbClr val="1E2522"/>
                          </a:solidFill>
                          <a:latin typeface="Arial" pitchFamily="34" charset="0"/>
                          <a:ea typeface="Arial" pitchFamily="34" charset="-122"/>
                          <a:cs typeface="Arial" pitchFamily="34" charset="-120"/>
                        </a:rPr>
                        <a:t>Approval to Hire - existing Global Delivery SOW</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Feeds GD Hub through an automated process we have no spec for</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94437">
                <a:tc>
                  <a:txBody>
                    <a:bodyPr/>
                    <a:lstStyle/>
                    <a:p>
                      <a:pPr indent="0" marL="0">
                        <a:buNone/>
                      </a:pPr>
                      <a:r>
                        <a:rPr lang="en-US" sz="780" dirty="0">
                          <a:solidFill>
                            <a:srgbClr val="1E2522"/>
                          </a:solidFill>
                          <a:latin typeface="Arial" pitchFamily="34" charset="0"/>
                          <a:ea typeface="Arial" pitchFamily="34" charset="-122"/>
                          <a:cs typeface="Arial" pitchFamily="34" charset="-120"/>
                        </a:rPr>
                        <a:t>Software license renewal over $100K</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Same Pipeline and SPID shape, no MC template step</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94437">
                <a:tc>
                  <a:txBody>
                    <a:bodyPr/>
                    <a:lstStyle/>
                    <a:p>
                      <a:pPr indent="0" marL="0">
                        <a:buNone/>
                      </a:pPr>
                      <a:r>
                        <a:rPr lang="en-US" sz="780" dirty="0">
                          <a:solidFill>
                            <a:srgbClr val="1E2522"/>
                          </a:solidFill>
                          <a:latin typeface="Arial" pitchFamily="34" charset="0"/>
                          <a:ea typeface="Arial" pitchFamily="34" charset="-122"/>
                          <a:cs typeface="Arial" pitchFamily="34" charset="-120"/>
                        </a:rPr>
                        <a:t>Invoice submission (Ariba and non-Ariba)</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Branches to the BAU invoicing team; mailbox and fields needed</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94437">
                <a:tc>
                  <a:txBody>
                    <a:bodyPr/>
                    <a:lstStyle/>
                    <a:p>
                      <a:pPr indent="0" marL="0">
                        <a:buNone/>
                      </a:pPr>
                      <a:r>
                        <a:rPr lang="en-US" sz="780" dirty="0">
                          <a:solidFill>
                            <a:srgbClr val="1E2522"/>
                          </a:solidFill>
                          <a:latin typeface="Arial" pitchFamily="34" charset="0"/>
                          <a:ea typeface="Arial" pitchFamily="34" charset="-122"/>
                          <a:cs typeface="Arial" pitchFamily="34" charset="-120"/>
                        </a:rPr>
                        <a:t>Contractor extension over tenure</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Pipeline is re-triggered by tenure, not spend</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94437">
                <a:tc>
                  <a:txBody>
                    <a:bodyPr/>
                    <a:lstStyle/>
                    <a:p>
                      <a:pPr indent="0" marL="0">
                        <a:buNone/>
                      </a:pPr>
                      <a:r>
                        <a:rPr lang="en-US" sz="780" dirty="0">
                          <a:solidFill>
                            <a:srgbClr val="1E2522"/>
                          </a:solidFill>
                          <a:latin typeface="Arial" pitchFamily="34" charset="0"/>
                          <a:ea typeface="Arial" pitchFamily="34" charset="-122"/>
                          <a:cs typeface="Arial" pitchFamily="34" charset="-120"/>
                        </a:rPr>
                        <a:t>GD staff augmentation - existing SOW</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Depends on the per-vendor SOW SR repository</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94437">
                <a:tc>
                  <a:txBody>
                    <a:bodyPr/>
                    <a:lstStyle/>
                    <a:p>
                      <a:pPr indent="0" marL="0">
                        <a:buNone/>
                      </a:pPr>
                      <a:r>
                        <a:rPr lang="en-US" sz="780" dirty="0">
                          <a:solidFill>
                            <a:srgbClr val="1E2522"/>
                          </a:solidFill>
                          <a:latin typeface="Arial" pitchFamily="34" charset="0"/>
                          <a:ea typeface="Arial" pitchFamily="34" charset="-122"/>
                          <a:cs typeface="Arial" pitchFamily="34" charset="-120"/>
                        </a:rPr>
                        <a:t>Project Request and Other Approval Requests</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Not started; sequenced after MVP1</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94437">
                <a:tc>
                  <a:txBody>
                    <a:bodyPr/>
                    <a:lstStyle/>
                    <a:p>
                      <a:pPr indent="0" marL="0">
                        <a:buNone/>
                      </a:pPr>
                      <a:r>
                        <a:rPr lang="en-US" sz="780" b="1" dirty="0">
                          <a:solidFill>
                            <a:srgbClr val="9C5A00"/>
                          </a:solidFill>
                          <a:latin typeface="Arial" pitchFamily="34" charset="0"/>
                          <a:ea typeface="Arial" pitchFamily="34" charset="-122"/>
                          <a:cs typeface="Arial" pitchFamily="34" charset="-120"/>
                        </a:rPr>
                        <a:t>Historical EMS record migration</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6E4300"/>
                          </a:solidFill>
                          <a:latin typeface="Arial" pitchFamily="34" charset="0"/>
                          <a:ea typeface="Arial" pitchFamily="34" charset="-122"/>
                          <a:cs typeface="Arial" pitchFamily="34" charset="-120"/>
                        </a:rPr>
                        <a:t>Not in MVP1. Legacy EMS stays the record for existing requests</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bl>
          </a:graphicData>
        </a:graphic>
      </p:graphicFrame>
      <p:sp>
        <p:nvSpPr>
          <p:cNvPr id="10" name="Shape 7"/>
          <p:cNvSpPr/>
          <p:nvPr/>
        </p:nvSpPr>
        <p:spPr>
          <a:xfrm>
            <a:off x="411480" y="4590288"/>
            <a:ext cx="11365992" cy="1755648"/>
          </a:xfrm>
          <a:prstGeom prst="roundRect">
            <a:avLst>
              <a:gd name="adj" fmla="val 2604"/>
            </a:avLst>
          </a:prstGeom>
          <a:solidFill>
            <a:srgbClr val="F3F7F4"/>
          </a:solidFill>
          <a:ln w="9525">
            <a:solidFill>
              <a:srgbClr val="D3DDD7"/>
            </a:solidFill>
            <a:prstDash val="solid"/>
          </a:ln>
        </p:spPr>
      </p:sp>
      <p:sp>
        <p:nvSpPr>
          <p:cNvPr id="11" name="Text 8"/>
          <p:cNvSpPr/>
          <p:nvPr/>
        </p:nvSpPr>
        <p:spPr>
          <a:xfrm>
            <a:off x="576072" y="4681728"/>
            <a:ext cx="7315200" cy="219456"/>
          </a:xfrm>
          <a:prstGeom prst="rect">
            <a:avLst/>
          </a:prstGeom>
          <a:noFill/>
          <a:ln/>
        </p:spPr>
        <p:txBody>
          <a:bodyPr wrap="square" lIns="0" tIns="0" rIns="0" bIns="0" rtlCol="0" anchor="ctr"/>
          <a:lstStyle/>
          <a:p>
            <a:pPr indent="0" marL="0">
              <a:buNone/>
            </a:pPr>
            <a:r>
              <a:rPr lang="en-US" sz="1050" b="1" dirty="0">
                <a:solidFill>
                  <a:srgbClr val="1A5336"/>
                </a:solidFill>
                <a:latin typeface="Arial" pitchFamily="34" charset="0"/>
                <a:ea typeface="Arial" pitchFamily="34" charset="-122"/>
                <a:cs typeface="Arial" pitchFamily="34" charset="-120"/>
              </a:rPr>
              <a:t>Non-breaking principle for everything downstream</a:t>
            </a:r>
            <a:endParaRPr lang="en-US" sz="1050" dirty="0"/>
          </a:p>
        </p:txBody>
      </p:sp>
      <p:sp>
        <p:nvSpPr>
          <p:cNvPr id="12" name="Text 9"/>
          <p:cNvSpPr/>
          <p:nvPr/>
        </p:nvSpPr>
        <p:spPr>
          <a:xfrm>
            <a:off x="576072" y="4937760"/>
            <a:ext cx="11036808" cy="1316736"/>
          </a:xfrm>
          <a:prstGeom prst="rect">
            <a:avLst/>
          </a:prstGeom>
          <a:noFill/>
          <a:ln/>
        </p:spPr>
        <p:txBody>
          <a:bodyPr wrap="square" lIns="0" tIns="0" rIns="0" bIns="0" rtlCol="0" anchor="t"/>
          <a:lstStyle/>
          <a:p>
            <a:pPr indent="0" marL="0">
              <a:lnSpc>
                <a:spcPct val="103000"/>
              </a:lnSpc>
              <a:buNone/>
            </a:pPr>
            <a:r>
              <a:rPr lang="en-US" sz="850" dirty="0">
                <a:solidFill>
                  <a:srgbClr val="2E6B4F"/>
                </a:solidFill>
                <a:latin typeface="Arial" pitchFamily="34" charset="0"/>
                <a:ea typeface="Arial" pitchFamily="34" charset="-122"/>
                <a:cs typeface="Arial" pitchFamily="34" charset="-120"/>
              </a:rPr>
              <a:t>USF owns the front door, the intake, the approvals and the record. For every system we do not own - the onboarding portal, the invoicing portal, GD Hub, the shared data lake - USF emits data in the shape that system already consumes, keyed on the same identifiers (ATH#, PL#, SR#). No downstream team is asked to change anything on day one.</a:t>
            </a:r>
            <a:endParaRPr lang="en-US" sz="850" dirty="0"/>
          </a:p>
          <a:p>
            <a:pPr indent="0" marL="0">
              <a:lnSpc>
                <a:spcPct val="103000"/>
              </a:lnSpc>
              <a:buNone/>
            </a:pPr>
            <a:endParaRPr lang="en-US" sz="850" dirty="0"/>
          </a:p>
          <a:p>
            <a:pPr indent="0" marL="0">
              <a:lnSpc>
                <a:spcPct val="103000"/>
              </a:lnSpc>
              <a:buNone/>
            </a:pPr>
            <a:r>
              <a:rPr lang="en-US" sz="850" b="1" dirty="0">
                <a:solidFill>
                  <a:srgbClr val="2E6B4F"/>
                </a:solidFill>
                <a:latin typeface="Arial" pitchFamily="34" charset="0"/>
                <a:ea typeface="Arial" pitchFamily="34" charset="-122"/>
                <a:cs typeface="Arial" pitchFamily="34" charset="-120"/>
              </a:rPr>
              <a:t>No SharePoint list is retired until its owner, schema, consumers and replacement are confirmed. Existing extracts are preserved until consumers certify the replacement data contract.</a:t>
            </a:r>
            <a:endParaRPr lang="en-US" sz="850" dirty="0"/>
          </a:p>
          <a:p>
            <a:pPr indent="0" marL="0">
              <a:lnSpc>
                <a:spcPct val="103000"/>
              </a:lnSpc>
              <a:buNone/>
            </a:pPr>
            <a:endParaRPr lang="en-US" sz="850" dirty="0"/>
          </a:p>
          <a:p>
            <a:pPr indent="0" marL="0">
              <a:lnSpc>
                <a:spcPct val="103000"/>
              </a:lnSpc>
              <a:buNone/>
            </a:pPr>
            <a:r>
              <a:rPr lang="en-US" sz="850" dirty="0">
                <a:solidFill>
                  <a:srgbClr val="2E6B4F"/>
                </a:solidFill>
                <a:latin typeface="Arial" pitchFamily="34" charset="0"/>
                <a:ea typeface="Arial" pitchFamily="34" charset="-122"/>
                <a:cs typeface="Arial" pitchFamily="34" charset="-120"/>
              </a:rPr>
              <a:t>Reporting continuity is part of that contract. CSV and Excel export is the hand-off the business actually uses today, and the business has been explicit that it does not want new downstream application integrations. Exports stay.</a:t>
            </a:r>
            <a:endParaRPr lang="en-US" sz="850" dirty="0"/>
          </a:p>
        </p:txBody>
      </p:sp>
      <p:sp>
        <p:nvSpPr>
          <p:cNvPr id="13" name="Text 10"/>
          <p:cNvSpPr/>
          <p:nvPr/>
        </p:nvSpPr>
        <p:spPr>
          <a:xfrm>
            <a:off x="411480" y="6455664"/>
            <a:ext cx="2743200" cy="237744"/>
          </a:xfrm>
          <a:prstGeom prst="rect">
            <a:avLst/>
          </a:prstGeom>
          <a:noFill/>
          <a:ln/>
        </p:spPr>
        <p:txBody>
          <a:bodyPr wrap="square" lIns="0" tIns="0" rIns="0" bIns="0" rtlCol="0" anchor="ctr"/>
          <a:lstStyle/>
          <a:p>
            <a:pPr algn="l" indent="0" marL="0">
              <a:buNone/>
            </a:pPr>
            <a:r>
              <a:rPr lang="en-US" sz="800" dirty="0">
                <a:solidFill>
                  <a:srgbClr val="9AA6A0"/>
                </a:solidFill>
                <a:latin typeface="Arial" pitchFamily="34" charset="0"/>
                <a:ea typeface="Arial" pitchFamily="34" charset="-122"/>
                <a:cs typeface="Arial" pitchFamily="34" charset="-120"/>
              </a:rPr>
              <a:t>Internal / Interne</a:t>
            </a:r>
            <a:endParaRPr lang="en-US" sz="800" dirty="0"/>
          </a:p>
        </p:txBody>
      </p:sp>
      <p:sp>
        <p:nvSpPr>
          <p:cNvPr id="14" name="Text 11"/>
          <p:cNvSpPr/>
          <p:nvPr/>
        </p:nvSpPr>
        <p:spPr>
          <a:xfrm>
            <a:off x="10863072" y="6455664"/>
            <a:ext cx="914400" cy="237744"/>
          </a:xfrm>
          <a:prstGeom prst="rect">
            <a:avLst/>
          </a:prstGeom>
          <a:noFill/>
          <a:ln/>
        </p:spPr>
        <p:txBody>
          <a:bodyPr wrap="square" lIns="0" tIns="0" rIns="0" bIns="0" rtlCol="0" anchor="ctr"/>
          <a:lstStyle/>
          <a:p>
            <a:pPr algn="r" indent="0" marL="0">
              <a:buNone/>
            </a:pPr>
            <a:r>
              <a:rPr lang="en-US" sz="800" dirty="0">
                <a:solidFill>
                  <a:srgbClr val="9AA6A0"/>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11480" y="274320"/>
            <a:ext cx="10058400" cy="219456"/>
          </a:xfrm>
          <a:prstGeom prst="rect">
            <a:avLst/>
          </a:prstGeom>
          <a:noFill/>
          <a:ln/>
        </p:spPr>
        <p:txBody>
          <a:bodyPr wrap="square" lIns="0" tIns="0" rIns="0" bIns="0" rtlCol="0" anchor="ctr"/>
          <a:lstStyle/>
          <a:p>
            <a:pPr indent="0" marL="0">
              <a:buNone/>
            </a:pPr>
            <a:r>
              <a:rPr lang="en-US" sz="950" b="1" spc="160" kern="0" dirty="0">
                <a:solidFill>
                  <a:srgbClr val="008A00"/>
                </a:solidFill>
                <a:latin typeface="Arial" pitchFamily="34" charset="0"/>
                <a:ea typeface="Arial" pitchFamily="34" charset="-122"/>
                <a:cs typeface="Arial" pitchFamily="34" charset="-120"/>
              </a:rPr>
              <a:t>APPENDIX A8</a:t>
            </a:r>
            <a:endParaRPr lang="en-US" sz="950" dirty="0"/>
          </a:p>
        </p:txBody>
      </p:sp>
      <p:sp>
        <p:nvSpPr>
          <p:cNvPr id="3" name="Text 1"/>
          <p:cNvSpPr/>
          <p:nvPr/>
        </p:nvSpPr>
        <p:spPr>
          <a:xfrm>
            <a:off x="411480" y="502920"/>
            <a:ext cx="11365992" cy="566928"/>
          </a:xfrm>
          <a:prstGeom prst="rect">
            <a:avLst/>
          </a:prstGeom>
          <a:noFill/>
          <a:ln/>
        </p:spPr>
        <p:txBody>
          <a:bodyPr wrap="square" lIns="0" tIns="0" rIns="0" bIns="0" rtlCol="0" anchor="ctr"/>
          <a:lstStyle/>
          <a:p>
            <a:pPr indent="0" marL="0">
              <a:buNone/>
            </a:pPr>
            <a:r>
              <a:rPr lang="en-US" sz="2500" b="1" dirty="0">
                <a:solidFill>
                  <a:srgbClr val="1A5336"/>
                </a:solidFill>
                <a:latin typeface="Arial" pitchFamily="34" charset="0"/>
                <a:ea typeface="Arial" pitchFamily="34" charset="-122"/>
                <a:cs typeface="Arial" pitchFamily="34" charset="-120"/>
              </a:rPr>
              <a:t>Path to production, October 23, 2026</a:t>
            </a:r>
            <a:endParaRPr lang="en-US" sz="2500" dirty="0"/>
          </a:p>
        </p:txBody>
      </p:sp>
      <p:sp>
        <p:nvSpPr>
          <p:cNvPr id="4" name="Text 2"/>
          <p:cNvSpPr/>
          <p:nvPr/>
        </p:nvSpPr>
        <p:spPr>
          <a:xfrm>
            <a:off x="411480" y="1051560"/>
            <a:ext cx="11365992" cy="274320"/>
          </a:xfrm>
          <a:prstGeom prst="rect">
            <a:avLst/>
          </a:prstGeom>
          <a:noFill/>
          <a:ln/>
        </p:spPr>
        <p:txBody>
          <a:bodyPr wrap="square" lIns="0" tIns="0" rIns="0" bIns="0" rtlCol="0" anchor="ctr"/>
          <a:lstStyle/>
          <a:p>
            <a:pPr indent="0" marL="0">
              <a:buNone/>
            </a:pPr>
            <a:r>
              <a:rPr lang="en-US" sz="1150" dirty="0">
                <a:solidFill>
                  <a:srgbClr val="586460"/>
                </a:solidFill>
                <a:latin typeface="Arial" pitchFamily="34" charset="0"/>
                <a:ea typeface="Arial" pitchFamily="34" charset="-122"/>
                <a:cs typeface="Arial" pitchFamily="34" charset="-120"/>
              </a:rPr>
              <a:t>Requirements lockdown is the gate. Everything after it is build, and the deployment window is fixed.</a:t>
            </a:r>
            <a:endParaRPr lang="en-US" sz="1150" dirty="0"/>
          </a:p>
        </p:txBody>
      </p:sp>
      <p:sp>
        <p:nvSpPr>
          <p:cNvPr id="5" name="Shape 3"/>
          <p:cNvSpPr/>
          <p:nvPr/>
        </p:nvSpPr>
        <p:spPr>
          <a:xfrm>
            <a:off x="411480" y="1444752"/>
            <a:ext cx="11365992" cy="1280160"/>
          </a:xfrm>
          <a:prstGeom prst="roundRect">
            <a:avLst>
              <a:gd name="adj" fmla="val 3571"/>
            </a:avLst>
          </a:prstGeom>
          <a:solidFill>
            <a:srgbClr val="F3F7F4"/>
          </a:solidFill>
          <a:ln w="9525">
            <a:solidFill>
              <a:srgbClr val="D3DDD7"/>
            </a:solidFill>
            <a:prstDash val="solid"/>
          </a:ln>
        </p:spPr>
      </p:sp>
      <p:sp>
        <p:nvSpPr>
          <p:cNvPr id="6" name="Text 4"/>
          <p:cNvSpPr/>
          <p:nvPr/>
        </p:nvSpPr>
        <p:spPr>
          <a:xfrm>
            <a:off x="576072" y="1517904"/>
            <a:ext cx="3657600" cy="201168"/>
          </a:xfrm>
          <a:prstGeom prst="rect">
            <a:avLst/>
          </a:prstGeom>
          <a:noFill/>
          <a:ln/>
        </p:spPr>
        <p:txBody>
          <a:bodyPr wrap="square" lIns="0" tIns="0" rIns="0" bIns="0" rtlCol="0" anchor="ctr"/>
          <a:lstStyle/>
          <a:p>
            <a:pPr indent="0" marL="0">
              <a:buNone/>
            </a:pPr>
            <a:r>
              <a:rPr lang="en-US" sz="1000" b="1" dirty="0">
                <a:solidFill>
                  <a:srgbClr val="1A5336"/>
                </a:solidFill>
                <a:latin typeface="Arial" pitchFamily="34" charset="0"/>
                <a:ea typeface="Arial" pitchFamily="34" charset="-122"/>
                <a:cs typeface="Arial" pitchFamily="34" charset="-120"/>
              </a:rPr>
              <a:t>Build sequence</a:t>
            </a:r>
            <a:endParaRPr lang="en-US" sz="1000" dirty="0"/>
          </a:p>
        </p:txBody>
      </p:sp>
      <p:sp>
        <p:nvSpPr>
          <p:cNvPr id="7" name="Shape 5"/>
          <p:cNvSpPr/>
          <p:nvPr/>
        </p:nvSpPr>
        <p:spPr>
          <a:xfrm>
            <a:off x="576072" y="1810512"/>
            <a:ext cx="1112520" cy="786384"/>
          </a:xfrm>
          <a:prstGeom prst="roundRect">
            <a:avLst>
              <a:gd name="adj" fmla="val 5814"/>
            </a:avLst>
          </a:prstGeom>
          <a:solidFill>
            <a:srgbClr val="FBEEDA"/>
          </a:solidFill>
          <a:ln w="9525">
            <a:solidFill>
              <a:srgbClr val="EAD3AF"/>
            </a:solidFill>
            <a:prstDash val="solid"/>
          </a:ln>
        </p:spPr>
      </p:sp>
      <p:sp>
        <p:nvSpPr>
          <p:cNvPr id="8" name="Text 6"/>
          <p:cNvSpPr/>
          <p:nvPr/>
        </p:nvSpPr>
        <p:spPr>
          <a:xfrm>
            <a:off x="630936" y="1847088"/>
            <a:ext cx="1002792" cy="713232"/>
          </a:xfrm>
          <a:prstGeom prst="rect">
            <a:avLst/>
          </a:prstGeom>
          <a:noFill/>
          <a:ln/>
        </p:spPr>
        <p:txBody>
          <a:bodyPr wrap="square" lIns="0" tIns="0" rIns="0" bIns="0" rtlCol="0" anchor="ctr"/>
          <a:lstStyle/>
          <a:p>
            <a:pPr algn="ctr" indent="0" marL="0">
              <a:lnSpc>
                <a:spcPct val="95000"/>
              </a:lnSpc>
              <a:buNone/>
            </a:pPr>
            <a:r>
              <a:rPr lang="en-US" sz="800" b="1" dirty="0">
                <a:solidFill>
                  <a:srgbClr val="6E4300"/>
                </a:solidFill>
                <a:latin typeface="Arial" pitchFamily="34" charset="0"/>
                <a:ea typeface="Arial" pitchFamily="34" charset="-122"/>
                <a:cs typeface="Arial" pitchFamily="34" charset="-120"/>
              </a:rPr>
              <a:t>Requirements lockdown</a:t>
            </a:r>
            <a:endParaRPr lang="en-US" sz="800" dirty="0"/>
          </a:p>
          <a:p>
            <a:pPr algn="ctr" indent="0" marL="0">
              <a:lnSpc>
                <a:spcPct val="95000"/>
              </a:lnSpc>
              <a:buNone/>
            </a:pPr>
            <a:r>
              <a:rPr lang="en-US" sz="680" dirty="0">
                <a:solidFill>
                  <a:srgbClr val="9C5A00"/>
                </a:solidFill>
                <a:latin typeface="Arial" pitchFamily="34" charset="0"/>
                <a:ea typeface="Arial" pitchFamily="34" charset="-122"/>
                <a:cs typeface="Arial" pitchFamily="34" charset="-120"/>
              </a:rPr>
              <a:t>THE GATE</a:t>
            </a:r>
            <a:endParaRPr lang="en-US" sz="800" dirty="0"/>
          </a:p>
        </p:txBody>
      </p:sp>
      <p:sp>
        <p:nvSpPr>
          <p:cNvPr id="9" name="Shape 7"/>
          <p:cNvSpPr/>
          <p:nvPr/>
        </p:nvSpPr>
        <p:spPr>
          <a:xfrm>
            <a:off x="1816608" y="1810512"/>
            <a:ext cx="1112520" cy="786384"/>
          </a:xfrm>
          <a:prstGeom prst="roundRect">
            <a:avLst>
              <a:gd name="adj" fmla="val 5814"/>
            </a:avLst>
          </a:prstGeom>
          <a:solidFill>
            <a:srgbClr val="E7EFEA"/>
          </a:solidFill>
          <a:ln w="9525">
            <a:solidFill>
              <a:srgbClr val="CBDBD1"/>
            </a:solidFill>
            <a:prstDash val="solid"/>
          </a:ln>
        </p:spPr>
      </p:sp>
      <p:sp>
        <p:nvSpPr>
          <p:cNvPr id="10" name="Text 8"/>
          <p:cNvSpPr/>
          <p:nvPr/>
        </p:nvSpPr>
        <p:spPr>
          <a:xfrm>
            <a:off x="1871472" y="1847088"/>
            <a:ext cx="1002792" cy="713232"/>
          </a:xfrm>
          <a:prstGeom prst="rect">
            <a:avLst/>
          </a:prstGeom>
          <a:noFill/>
          <a:ln/>
        </p:spPr>
        <p:txBody>
          <a:bodyPr wrap="square" lIns="0" tIns="0" rIns="0" bIns="0" rtlCol="0" anchor="ctr"/>
          <a:lstStyle/>
          <a:p>
            <a:pPr algn="ctr" indent="0" marL="0">
              <a:lnSpc>
                <a:spcPct val="95000"/>
              </a:lnSpc>
              <a:buNone/>
            </a:pPr>
            <a:r>
              <a:rPr lang="en-US" sz="800" b="1" dirty="0">
                <a:solidFill>
                  <a:srgbClr val="1A5336"/>
                </a:solidFill>
                <a:latin typeface="Arial" pitchFamily="34" charset="0"/>
                <a:ea typeface="Arial" pitchFamily="34" charset="-122"/>
                <a:cs typeface="Arial" pitchFamily="34" charset="-120"/>
              </a:rPr>
              <a:t>Unified intake form</a:t>
            </a:r>
            <a:endParaRPr lang="en-US" sz="800" dirty="0"/>
          </a:p>
          <a:p>
            <a:pPr algn="ctr" indent="0" marL="0">
              <a:lnSpc>
                <a:spcPct val="95000"/>
              </a:lnSpc>
              <a:buNone/>
            </a:pPr>
            <a:r>
              <a:rPr lang="en-US" sz="680" dirty="0">
                <a:solidFill>
                  <a:srgbClr val="2E6B4F"/>
                </a:solidFill>
                <a:latin typeface="Arial" pitchFamily="34" charset="0"/>
                <a:ea typeface="Arial" pitchFamily="34" charset="-122"/>
                <a:cs typeface="Arial" pitchFamily="34" charset="-120"/>
              </a:rPr>
              <a:t>Ask once</a:t>
            </a:r>
            <a:endParaRPr lang="en-US" sz="800" dirty="0"/>
          </a:p>
        </p:txBody>
      </p:sp>
      <p:sp>
        <p:nvSpPr>
          <p:cNvPr id="11" name="Shape 9"/>
          <p:cNvSpPr/>
          <p:nvPr/>
        </p:nvSpPr>
        <p:spPr>
          <a:xfrm>
            <a:off x="3057144" y="1810512"/>
            <a:ext cx="1112520" cy="786384"/>
          </a:xfrm>
          <a:prstGeom prst="roundRect">
            <a:avLst>
              <a:gd name="adj" fmla="val 5814"/>
            </a:avLst>
          </a:prstGeom>
          <a:solidFill>
            <a:srgbClr val="E7EFEA"/>
          </a:solidFill>
          <a:ln w="9525">
            <a:solidFill>
              <a:srgbClr val="CBDBD1"/>
            </a:solidFill>
            <a:prstDash val="solid"/>
          </a:ln>
        </p:spPr>
      </p:sp>
      <p:sp>
        <p:nvSpPr>
          <p:cNvPr id="12" name="Text 10"/>
          <p:cNvSpPr/>
          <p:nvPr/>
        </p:nvSpPr>
        <p:spPr>
          <a:xfrm>
            <a:off x="3112008" y="1847088"/>
            <a:ext cx="1002792" cy="713232"/>
          </a:xfrm>
          <a:prstGeom prst="rect">
            <a:avLst/>
          </a:prstGeom>
          <a:noFill/>
          <a:ln/>
        </p:spPr>
        <p:txBody>
          <a:bodyPr wrap="square" lIns="0" tIns="0" rIns="0" bIns="0" rtlCol="0" anchor="ctr"/>
          <a:lstStyle/>
          <a:p>
            <a:pPr algn="ctr" indent="0" marL="0">
              <a:lnSpc>
                <a:spcPct val="95000"/>
              </a:lnSpc>
              <a:buNone/>
            </a:pPr>
            <a:r>
              <a:rPr lang="en-US" sz="800" b="1" dirty="0">
                <a:solidFill>
                  <a:srgbClr val="1A5336"/>
                </a:solidFill>
                <a:latin typeface="Arial" pitchFamily="34" charset="0"/>
                <a:ea typeface="Arial" pitchFamily="34" charset="-122"/>
                <a:cs typeface="Arial" pitchFamily="34" charset="-120"/>
              </a:rPr>
              <a:t>Routing &amp; decision engine</a:t>
            </a:r>
            <a:endParaRPr lang="en-US" sz="800" dirty="0"/>
          </a:p>
          <a:p>
            <a:pPr algn="ctr" indent="0" marL="0">
              <a:lnSpc>
                <a:spcPct val="95000"/>
              </a:lnSpc>
              <a:buNone/>
            </a:pPr>
            <a:r>
              <a:rPr lang="en-US" sz="680" dirty="0">
                <a:solidFill>
                  <a:srgbClr val="2E6B4F"/>
                </a:solidFill>
                <a:latin typeface="Arial" pitchFamily="34" charset="0"/>
                <a:ea typeface="Arial" pitchFamily="34" charset="-122"/>
                <a:cs typeface="Arial" pitchFamily="34" charset="-120"/>
              </a:rPr>
              <a:t>Matrix + MC flag</a:t>
            </a:r>
            <a:endParaRPr lang="en-US" sz="800" dirty="0"/>
          </a:p>
        </p:txBody>
      </p:sp>
      <p:sp>
        <p:nvSpPr>
          <p:cNvPr id="13" name="Shape 11"/>
          <p:cNvSpPr/>
          <p:nvPr/>
        </p:nvSpPr>
        <p:spPr>
          <a:xfrm>
            <a:off x="4297680" y="1810512"/>
            <a:ext cx="1112520" cy="786384"/>
          </a:xfrm>
          <a:prstGeom prst="roundRect">
            <a:avLst>
              <a:gd name="adj" fmla="val 5814"/>
            </a:avLst>
          </a:prstGeom>
          <a:solidFill>
            <a:srgbClr val="E7EFEA"/>
          </a:solidFill>
          <a:ln w="9525">
            <a:solidFill>
              <a:srgbClr val="CBDBD1"/>
            </a:solidFill>
            <a:prstDash val="solid"/>
          </a:ln>
        </p:spPr>
      </p:sp>
      <p:sp>
        <p:nvSpPr>
          <p:cNvPr id="14" name="Text 12"/>
          <p:cNvSpPr/>
          <p:nvPr/>
        </p:nvSpPr>
        <p:spPr>
          <a:xfrm>
            <a:off x="4352544" y="1847088"/>
            <a:ext cx="1002792" cy="713232"/>
          </a:xfrm>
          <a:prstGeom prst="rect">
            <a:avLst/>
          </a:prstGeom>
          <a:noFill/>
          <a:ln/>
        </p:spPr>
        <p:txBody>
          <a:bodyPr wrap="square" lIns="0" tIns="0" rIns="0" bIns="0" rtlCol="0" anchor="ctr"/>
          <a:lstStyle/>
          <a:p>
            <a:pPr algn="ctr" indent="0" marL="0">
              <a:lnSpc>
                <a:spcPct val="95000"/>
              </a:lnSpc>
              <a:buNone/>
            </a:pPr>
            <a:r>
              <a:rPr lang="en-US" sz="800" b="1" dirty="0">
                <a:solidFill>
                  <a:srgbClr val="1A5336"/>
                </a:solidFill>
                <a:latin typeface="Arial" pitchFamily="34" charset="0"/>
                <a:ea typeface="Arial" pitchFamily="34" charset="-122"/>
                <a:cs typeface="Arial" pitchFamily="34" charset="-120"/>
              </a:rPr>
              <a:t>Request dashboard</a:t>
            </a:r>
            <a:endParaRPr lang="en-US" sz="800" dirty="0"/>
          </a:p>
          <a:p>
            <a:pPr algn="ctr" indent="0" marL="0">
              <a:lnSpc>
                <a:spcPct val="95000"/>
              </a:lnSpc>
              <a:buNone/>
            </a:pPr>
            <a:r>
              <a:rPr lang="en-US" sz="680" dirty="0">
                <a:solidFill>
                  <a:srgbClr val="2E6B4F"/>
                </a:solidFill>
                <a:latin typeface="Arial" pitchFamily="34" charset="0"/>
                <a:ea typeface="Arial" pitchFamily="34" charset="-122"/>
                <a:cs typeface="Arial" pitchFamily="34" charset="-120"/>
              </a:rPr>
              <a:t>My Requests</a:t>
            </a:r>
            <a:endParaRPr lang="en-US" sz="800" dirty="0"/>
          </a:p>
        </p:txBody>
      </p:sp>
      <p:sp>
        <p:nvSpPr>
          <p:cNvPr id="15" name="Shape 13"/>
          <p:cNvSpPr/>
          <p:nvPr/>
        </p:nvSpPr>
        <p:spPr>
          <a:xfrm>
            <a:off x="5538216" y="1810512"/>
            <a:ext cx="1112520" cy="786384"/>
          </a:xfrm>
          <a:prstGeom prst="roundRect">
            <a:avLst>
              <a:gd name="adj" fmla="val 5814"/>
            </a:avLst>
          </a:prstGeom>
          <a:solidFill>
            <a:srgbClr val="E7EFEA"/>
          </a:solidFill>
          <a:ln w="9525">
            <a:solidFill>
              <a:srgbClr val="CBDBD1"/>
            </a:solidFill>
            <a:prstDash val="solid"/>
          </a:ln>
        </p:spPr>
      </p:sp>
      <p:sp>
        <p:nvSpPr>
          <p:cNvPr id="16" name="Text 14"/>
          <p:cNvSpPr/>
          <p:nvPr/>
        </p:nvSpPr>
        <p:spPr>
          <a:xfrm>
            <a:off x="5593080" y="1847088"/>
            <a:ext cx="1002792" cy="713232"/>
          </a:xfrm>
          <a:prstGeom prst="rect">
            <a:avLst/>
          </a:prstGeom>
          <a:noFill/>
          <a:ln/>
        </p:spPr>
        <p:txBody>
          <a:bodyPr wrap="square" lIns="0" tIns="0" rIns="0" bIns="0" rtlCol="0" anchor="ctr"/>
          <a:lstStyle/>
          <a:p>
            <a:pPr algn="ctr" indent="0" marL="0">
              <a:lnSpc>
                <a:spcPct val="95000"/>
              </a:lnSpc>
              <a:buNone/>
            </a:pPr>
            <a:r>
              <a:rPr lang="en-US" sz="800" b="1" dirty="0">
                <a:solidFill>
                  <a:srgbClr val="1A5336"/>
                </a:solidFill>
                <a:latin typeface="Arial" pitchFamily="34" charset="0"/>
                <a:ea typeface="Arial" pitchFamily="34" charset="-122"/>
                <a:cs typeface="Arial" pitchFamily="34" charset="-120"/>
              </a:rPr>
              <a:t>Approval work queues</a:t>
            </a:r>
            <a:endParaRPr lang="en-US" sz="800" dirty="0"/>
          </a:p>
          <a:p>
            <a:pPr algn="ctr" indent="0" marL="0">
              <a:lnSpc>
                <a:spcPct val="95000"/>
              </a:lnSpc>
              <a:buNone/>
            </a:pPr>
            <a:r>
              <a:rPr lang="en-US" sz="680" dirty="0">
                <a:solidFill>
                  <a:srgbClr val="2E6B4F"/>
                </a:solidFill>
                <a:latin typeface="Arial" pitchFamily="34" charset="0"/>
                <a:ea typeface="Arial" pitchFamily="34" charset="-122"/>
                <a:cs typeface="Arial" pitchFamily="34" charset="-120"/>
              </a:rPr>
              <a:t>BOM + Finance</a:t>
            </a:r>
            <a:endParaRPr lang="en-US" sz="800" dirty="0"/>
          </a:p>
        </p:txBody>
      </p:sp>
      <p:sp>
        <p:nvSpPr>
          <p:cNvPr id="17" name="Shape 15"/>
          <p:cNvSpPr/>
          <p:nvPr/>
        </p:nvSpPr>
        <p:spPr>
          <a:xfrm>
            <a:off x="6778752" y="1810512"/>
            <a:ext cx="1112520" cy="786384"/>
          </a:xfrm>
          <a:prstGeom prst="roundRect">
            <a:avLst>
              <a:gd name="adj" fmla="val 5814"/>
            </a:avLst>
          </a:prstGeom>
          <a:solidFill>
            <a:srgbClr val="E7EFEA"/>
          </a:solidFill>
          <a:ln w="9525">
            <a:solidFill>
              <a:srgbClr val="CBDBD1"/>
            </a:solidFill>
            <a:prstDash val="solid"/>
          </a:ln>
        </p:spPr>
      </p:sp>
      <p:sp>
        <p:nvSpPr>
          <p:cNvPr id="18" name="Text 16"/>
          <p:cNvSpPr/>
          <p:nvPr/>
        </p:nvSpPr>
        <p:spPr>
          <a:xfrm>
            <a:off x="6833616" y="1847088"/>
            <a:ext cx="1002792" cy="713232"/>
          </a:xfrm>
          <a:prstGeom prst="rect">
            <a:avLst/>
          </a:prstGeom>
          <a:noFill/>
          <a:ln/>
        </p:spPr>
        <p:txBody>
          <a:bodyPr wrap="square" lIns="0" tIns="0" rIns="0" bIns="0" rtlCol="0" anchor="ctr"/>
          <a:lstStyle/>
          <a:p>
            <a:pPr algn="ctr" indent="0" marL="0">
              <a:lnSpc>
                <a:spcPct val="95000"/>
              </a:lnSpc>
              <a:buNone/>
            </a:pPr>
            <a:r>
              <a:rPr lang="en-US" sz="800" b="1" dirty="0">
                <a:solidFill>
                  <a:srgbClr val="1A5336"/>
                </a:solidFill>
                <a:latin typeface="Arial" pitchFamily="34" charset="0"/>
                <a:ea typeface="Arial" pitchFamily="34" charset="-122"/>
                <a:cs typeface="Arial" pitchFamily="34" charset="-120"/>
              </a:rPr>
              <a:t>Pipeline / MC / funding workflow</a:t>
            </a:r>
            <a:endParaRPr lang="en-US" sz="800" dirty="0"/>
          </a:p>
          <a:p>
            <a:pPr algn="ctr" indent="0" marL="0">
              <a:lnSpc>
                <a:spcPct val="95000"/>
              </a:lnSpc>
              <a:buNone/>
            </a:pPr>
            <a:r>
              <a:rPr lang="en-US" sz="680" dirty="0">
                <a:solidFill>
                  <a:srgbClr val="2E6B4F"/>
                </a:solidFill>
                <a:latin typeface="Arial" pitchFamily="34" charset="0"/>
                <a:ea typeface="Arial" pitchFamily="34" charset="-122"/>
                <a:cs typeface="Arial" pitchFamily="34" charset="-120"/>
              </a:rPr>
              <a:t>Decisions + audit</a:t>
            </a:r>
            <a:endParaRPr lang="en-US" sz="800" dirty="0"/>
          </a:p>
        </p:txBody>
      </p:sp>
      <p:sp>
        <p:nvSpPr>
          <p:cNvPr id="19" name="Shape 17"/>
          <p:cNvSpPr/>
          <p:nvPr/>
        </p:nvSpPr>
        <p:spPr>
          <a:xfrm>
            <a:off x="8019288" y="1810512"/>
            <a:ext cx="1112520" cy="786384"/>
          </a:xfrm>
          <a:prstGeom prst="roundRect">
            <a:avLst>
              <a:gd name="adj" fmla="val 5814"/>
            </a:avLst>
          </a:prstGeom>
          <a:solidFill>
            <a:srgbClr val="E7EFEA"/>
          </a:solidFill>
          <a:ln w="9525">
            <a:solidFill>
              <a:srgbClr val="CBDBD1"/>
            </a:solidFill>
            <a:prstDash val="solid"/>
          </a:ln>
        </p:spPr>
      </p:sp>
      <p:sp>
        <p:nvSpPr>
          <p:cNvPr id="20" name="Text 18"/>
          <p:cNvSpPr/>
          <p:nvPr/>
        </p:nvSpPr>
        <p:spPr>
          <a:xfrm>
            <a:off x="8074152" y="1847088"/>
            <a:ext cx="1002792" cy="713232"/>
          </a:xfrm>
          <a:prstGeom prst="rect">
            <a:avLst/>
          </a:prstGeom>
          <a:noFill/>
          <a:ln/>
        </p:spPr>
        <p:txBody>
          <a:bodyPr wrap="square" lIns="0" tIns="0" rIns="0" bIns="0" rtlCol="0" anchor="ctr"/>
          <a:lstStyle/>
          <a:p>
            <a:pPr algn="ctr" indent="0" marL="0">
              <a:lnSpc>
                <a:spcPct val="95000"/>
              </a:lnSpc>
              <a:buNone/>
            </a:pPr>
            <a:r>
              <a:rPr lang="en-US" sz="800" b="1" dirty="0">
                <a:solidFill>
                  <a:srgbClr val="1A5336"/>
                </a:solidFill>
                <a:latin typeface="Arial" pitchFamily="34" charset="0"/>
                <a:ea typeface="Arial" pitchFamily="34" charset="-122"/>
                <a:cs typeface="Arial" pitchFamily="34" charset="-120"/>
              </a:rPr>
              <a:t>SPID creation &amp; approval</a:t>
            </a:r>
            <a:endParaRPr lang="en-US" sz="800" dirty="0"/>
          </a:p>
          <a:p>
            <a:pPr algn="ctr" indent="0" marL="0">
              <a:lnSpc>
                <a:spcPct val="95000"/>
              </a:lnSpc>
              <a:buNone/>
            </a:pPr>
            <a:r>
              <a:rPr lang="en-US" sz="680" dirty="0">
                <a:solidFill>
                  <a:srgbClr val="2E6B4F"/>
                </a:solidFill>
                <a:latin typeface="Arial" pitchFamily="34" charset="0"/>
                <a:ea typeface="Arial" pitchFamily="34" charset="-122"/>
                <a:cs typeface="Arial" pitchFamily="34" charset="-120"/>
              </a:rPr>
              <a:t>Delta review</a:t>
            </a:r>
            <a:endParaRPr lang="en-US" sz="800" dirty="0"/>
          </a:p>
        </p:txBody>
      </p:sp>
      <p:sp>
        <p:nvSpPr>
          <p:cNvPr id="21" name="Shape 19"/>
          <p:cNvSpPr/>
          <p:nvPr/>
        </p:nvSpPr>
        <p:spPr>
          <a:xfrm>
            <a:off x="9259824" y="1810512"/>
            <a:ext cx="1112520" cy="786384"/>
          </a:xfrm>
          <a:prstGeom prst="roundRect">
            <a:avLst>
              <a:gd name="adj" fmla="val 5814"/>
            </a:avLst>
          </a:prstGeom>
          <a:solidFill>
            <a:srgbClr val="E7EFEA"/>
          </a:solidFill>
          <a:ln w="9525">
            <a:solidFill>
              <a:srgbClr val="CBDBD1"/>
            </a:solidFill>
            <a:prstDash val="solid"/>
          </a:ln>
        </p:spPr>
      </p:sp>
      <p:sp>
        <p:nvSpPr>
          <p:cNvPr id="22" name="Text 20"/>
          <p:cNvSpPr/>
          <p:nvPr/>
        </p:nvSpPr>
        <p:spPr>
          <a:xfrm>
            <a:off x="9314688" y="1847088"/>
            <a:ext cx="1002792" cy="713232"/>
          </a:xfrm>
          <a:prstGeom prst="rect">
            <a:avLst/>
          </a:prstGeom>
          <a:noFill/>
          <a:ln/>
        </p:spPr>
        <p:txBody>
          <a:bodyPr wrap="square" lIns="0" tIns="0" rIns="0" bIns="0" rtlCol="0" anchor="ctr"/>
          <a:lstStyle/>
          <a:p>
            <a:pPr algn="ctr" indent="0" marL="0">
              <a:lnSpc>
                <a:spcPct val="95000"/>
              </a:lnSpc>
              <a:buNone/>
            </a:pPr>
            <a:r>
              <a:rPr lang="en-US" sz="800" b="1" dirty="0">
                <a:solidFill>
                  <a:srgbClr val="1A5336"/>
                </a:solidFill>
                <a:latin typeface="Arial" pitchFamily="34" charset="0"/>
                <a:ea typeface="Arial" pitchFamily="34" charset="-122"/>
                <a:cs typeface="Arial" pitchFamily="34" charset="-120"/>
              </a:rPr>
              <a:t>Ariba sourcing hand-off</a:t>
            </a:r>
            <a:endParaRPr lang="en-US" sz="800" dirty="0"/>
          </a:p>
          <a:p>
            <a:pPr algn="ctr" indent="0" marL="0">
              <a:lnSpc>
                <a:spcPct val="95000"/>
              </a:lnSpc>
              <a:buNone/>
            </a:pPr>
            <a:r>
              <a:rPr lang="en-US" sz="680" dirty="0">
                <a:solidFill>
                  <a:srgbClr val="2E6B4F"/>
                </a:solidFill>
                <a:latin typeface="Arial" pitchFamily="34" charset="0"/>
                <a:ea typeface="Arial" pitchFamily="34" charset="-122"/>
                <a:cs typeface="Arial" pitchFamily="34" charset="-120"/>
              </a:rPr>
              <a:t>Tracked manual</a:t>
            </a:r>
            <a:endParaRPr lang="en-US" sz="800" dirty="0"/>
          </a:p>
        </p:txBody>
      </p:sp>
      <p:sp>
        <p:nvSpPr>
          <p:cNvPr id="23" name="Shape 21"/>
          <p:cNvSpPr/>
          <p:nvPr/>
        </p:nvSpPr>
        <p:spPr>
          <a:xfrm>
            <a:off x="10500360" y="1810512"/>
            <a:ext cx="1112520" cy="786384"/>
          </a:xfrm>
          <a:prstGeom prst="roundRect">
            <a:avLst>
              <a:gd name="adj" fmla="val 5814"/>
            </a:avLst>
          </a:prstGeom>
          <a:solidFill>
            <a:srgbClr val="E7EFEA"/>
          </a:solidFill>
          <a:ln w="9525">
            <a:solidFill>
              <a:srgbClr val="CBDBD1"/>
            </a:solidFill>
            <a:prstDash val="solid"/>
          </a:ln>
        </p:spPr>
      </p:sp>
      <p:sp>
        <p:nvSpPr>
          <p:cNvPr id="24" name="Text 22"/>
          <p:cNvSpPr/>
          <p:nvPr/>
        </p:nvSpPr>
        <p:spPr>
          <a:xfrm>
            <a:off x="10555224" y="1847088"/>
            <a:ext cx="1002792" cy="713232"/>
          </a:xfrm>
          <a:prstGeom prst="rect">
            <a:avLst/>
          </a:prstGeom>
          <a:noFill/>
          <a:ln/>
        </p:spPr>
        <p:txBody>
          <a:bodyPr wrap="square" lIns="0" tIns="0" rIns="0" bIns="0" rtlCol="0" anchor="ctr"/>
          <a:lstStyle/>
          <a:p>
            <a:pPr algn="ctr" indent="0" marL="0">
              <a:lnSpc>
                <a:spcPct val="95000"/>
              </a:lnSpc>
              <a:buNone/>
            </a:pPr>
            <a:r>
              <a:rPr lang="en-US" sz="800" b="1" dirty="0">
                <a:solidFill>
                  <a:srgbClr val="1A5336"/>
                </a:solidFill>
                <a:latin typeface="Arial" pitchFamily="34" charset="0"/>
                <a:ea typeface="Arial" pitchFamily="34" charset="-122"/>
                <a:cs typeface="Arial" pitchFamily="34" charset="-120"/>
              </a:rPr>
              <a:t>Admin, access, notifications, audit</a:t>
            </a:r>
            <a:endParaRPr lang="en-US" sz="800" dirty="0"/>
          </a:p>
          <a:p>
            <a:pPr algn="ctr" indent="0" marL="0">
              <a:lnSpc>
                <a:spcPct val="95000"/>
              </a:lnSpc>
              <a:buNone/>
            </a:pPr>
            <a:r>
              <a:rPr lang="en-US" sz="680" dirty="0">
                <a:solidFill>
                  <a:srgbClr val="2E6B4F"/>
                </a:solidFill>
                <a:latin typeface="Arial" pitchFamily="34" charset="0"/>
                <a:ea typeface="Arial" pitchFamily="34" charset="-122"/>
                <a:cs typeface="Arial" pitchFamily="34" charset="-120"/>
              </a:rPr>
              <a:t>Config + control</a:t>
            </a:r>
            <a:endParaRPr lang="en-US" sz="800" dirty="0"/>
          </a:p>
        </p:txBody>
      </p:sp>
      <p:sp>
        <p:nvSpPr>
          <p:cNvPr id="25" name="Text 23"/>
          <p:cNvSpPr/>
          <p:nvPr/>
        </p:nvSpPr>
        <p:spPr>
          <a:xfrm>
            <a:off x="411480" y="2871216"/>
            <a:ext cx="5486400" cy="219456"/>
          </a:xfrm>
          <a:prstGeom prst="rect">
            <a:avLst/>
          </a:prstGeom>
          <a:noFill/>
          <a:ln/>
        </p:spPr>
        <p:txBody>
          <a:bodyPr wrap="square" lIns="0" tIns="0" rIns="0" bIns="0" rtlCol="0" anchor="ctr"/>
          <a:lstStyle/>
          <a:p>
            <a:pPr indent="0" marL="0">
              <a:buNone/>
            </a:pPr>
            <a:r>
              <a:rPr lang="en-US" sz="1050" b="1" dirty="0">
                <a:solidFill>
                  <a:srgbClr val="1A5336"/>
                </a:solidFill>
                <a:latin typeface="Arial" pitchFamily="34" charset="0"/>
                <a:ea typeface="Arial" pitchFamily="34" charset="-122"/>
                <a:cs typeface="Arial" pitchFamily="34" charset="-120"/>
              </a:rPr>
              <a:t>Deployment window</a:t>
            </a:r>
            <a:endParaRPr lang="en-US" sz="1050" dirty="0"/>
          </a:p>
        </p:txBody>
      </p:sp>
      <p:sp>
        <p:nvSpPr>
          <p:cNvPr id="26" name="Shape 24"/>
          <p:cNvSpPr/>
          <p:nvPr/>
        </p:nvSpPr>
        <p:spPr>
          <a:xfrm>
            <a:off x="411480" y="3127248"/>
            <a:ext cx="1722120" cy="877824"/>
          </a:xfrm>
          <a:prstGeom prst="roundRect">
            <a:avLst>
              <a:gd name="adj" fmla="val 5208"/>
            </a:avLst>
          </a:prstGeom>
          <a:solidFill>
            <a:srgbClr val="E7EFEA"/>
          </a:solidFill>
          <a:ln w="9525">
            <a:solidFill>
              <a:srgbClr val="CBDBD1"/>
            </a:solidFill>
            <a:prstDash val="solid"/>
          </a:ln>
        </p:spPr>
      </p:sp>
      <p:sp>
        <p:nvSpPr>
          <p:cNvPr id="27" name="Text 25"/>
          <p:cNvSpPr/>
          <p:nvPr/>
        </p:nvSpPr>
        <p:spPr>
          <a:xfrm>
            <a:off x="484632" y="3182112"/>
            <a:ext cx="1575816" cy="768096"/>
          </a:xfrm>
          <a:prstGeom prst="rect">
            <a:avLst/>
          </a:prstGeom>
          <a:noFill/>
          <a:ln/>
        </p:spPr>
        <p:txBody>
          <a:bodyPr wrap="square" lIns="0" tIns="0" rIns="0" bIns="0" rtlCol="0" anchor="ctr"/>
          <a:lstStyle/>
          <a:p>
            <a:pPr algn="ctr" indent="0" marL="0">
              <a:lnSpc>
                <a:spcPct val="98000"/>
              </a:lnSpc>
              <a:buNone/>
            </a:pPr>
            <a:r>
              <a:rPr lang="en-US" sz="800" b="1" dirty="0">
                <a:solidFill>
                  <a:srgbClr val="2E6B4F"/>
                </a:solidFill>
                <a:latin typeface="Arial" pitchFamily="34" charset="0"/>
                <a:ea typeface="Arial" pitchFamily="34" charset="-122"/>
                <a:cs typeface="Arial" pitchFamily="34" charset="-120"/>
              </a:rPr>
              <a:t>Dev deploy</a:t>
            </a:r>
            <a:endParaRPr lang="en-US" sz="800" dirty="0"/>
          </a:p>
          <a:p>
            <a:pPr algn="ctr" indent="0" marL="0">
              <a:lnSpc>
                <a:spcPct val="98000"/>
              </a:lnSpc>
              <a:buNone/>
            </a:pPr>
            <a:r>
              <a:rPr lang="en-US" sz="1250" b="1" dirty="0">
                <a:solidFill>
                  <a:srgbClr val="1A5336"/>
                </a:solidFill>
                <a:latin typeface="Arial" pitchFamily="34" charset="0"/>
                <a:ea typeface="Arial" pitchFamily="34" charset="-122"/>
                <a:cs typeface="Arial" pitchFamily="34" charset="-120"/>
              </a:rPr>
              <a:t>October 12</a:t>
            </a:r>
            <a:endParaRPr lang="en-US" sz="800" dirty="0"/>
          </a:p>
          <a:p>
            <a:pPr algn="ctr" indent="0" marL="0">
              <a:lnSpc>
                <a:spcPct val="98000"/>
              </a:lnSpc>
              <a:buNone/>
            </a:pPr>
            <a:r>
              <a:rPr lang="en-US" sz="750" dirty="0">
                <a:solidFill>
                  <a:srgbClr val="2E6B4F"/>
                </a:solidFill>
                <a:latin typeface="Arial" pitchFamily="34" charset="0"/>
                <a:ea typeface="Arial" pitchFamily="34" charset="-122"/>
                <a:cs typeface="Arial" pitchFamily="34" charset="-120"/>
              </a:rPr>
              <a:t>1 to 2 days</a:t>
            </a:r>
            <a:endParaRPr lang="en-US" sz="800" dirty="0"/>
          </a:p>
        </p:txBody>
      </p:sp>
      <p:sp>
        <p:nvSpPr>
          <p:cNvPr id="28" name="Shape 26"/>
          <p:cNvSpPr/>
          <p:nvPr/>
        </p:nvSpPr>
        <p:spPr>
          <a:xfrm>
            <a:off x="2316480" y="3127248"/>
            <a:ext cx="1722120" cy="877824"/>
          </a:xfrm>
          <a:prstGeom prst="roundRect">
            <a:avLst>
              <a:gd name="adj" fmla="val 5208"/>
            </a:avLst>
          </a:prstGeom>
          <a:solidFill>
            <a:srgbClr val="E7EFEA"/>
          </a:solidFill>
          <a:ln w="9525">
            <a:solidFill>
              <a:srgbClr val="CBDBD1"/>
            </a:solidFill>
            <a:prstDash val="solid"/>
          </a:ln>
        </p:spPr>
      </p:sp>
      <p:sp>
        <p:nvSpPr>
          <p:cNvPr id="29" name="Text 27"/>
          <p:cNvSpPr/>
          <p:nvPr/>
        </p:nvSpPr>
        <p:spPr>
          <a:xfrm>
            <a:off x="2389632" y="3182112"/>
            <a:ext cx="1575816" cy="768096"/>
          </a:xfrm>
          <a:prstGeom prst="rect">
            <a:avLst/>
          </a:prstGeom>
          <a:noFill/>
          <a:ln/>
        </p:spPr>
        <p:txBody>
          <a:bodyPr wrap="square" lIns="0" tIns="0" rIns="0" bIns="0" rtlCol="0" anchor="ctr"/>
          <a:lstStyle/>
          <a:p>
            <a:pPr algn="ctr" indent="0" marL="0">
              <a:lnSpc>
                <a:spcPct val="98000"/>
              </a:lnSpc>
              <a:buNone/>
            </a:pPr>
            <a:r>
              <a:rPr lang="en-US" sz="800" b="1" dirty="0">
                <a:solidFill>
                  <a:srgbClr val="2E6B4F"/>
                </a:solidFill>
                <a:latin typeface="Arial" pitchFamily="34" charset="0"/>
                <a:ea typeface="Arial" pitchFamily="34" charset="-122"/>
                <a:cs typeface="Arial" pitchFamily="34" charset="-120"/>
              </a:rPr>
              <a:t>PAT deploy</a:t>
            </a:r>
            <a:endParaRPr lang="en-US" sz="800" dirty="0"/>
          </a:p>
          <a:p>
            <a:pPr algn="ctr" indent="0" marL="0">
              <a:lnSpc>
                <a:spcPct val="98000"/>
              </a:lnSpc>
              <a:buNone/>
            </a:pPr>
            <a:r>
              <a:rPr lang="en-US" sz="1250" b="1" dirty="0">
                <a:solidFill>
                  <a:srgbClr val="1A5336"/>
                </a:solidFill>
                <a:latin typeface="Arial" pitchFamily="34" charset="0"/>
                <a:ea typeface="Arial" pitchFamily="34" charset="-122"/>
                <a:cs typeface="Arial" pitchFamily="34" charset="-120"/>
              </a:rPr>
              <a:t>October 14</a:t>
            </a:r>
            <a:endParaRPr lang="en-US" sz="800" dirty="0"/>
          </a:p>
          <a:p>
            <a:pPr algn="ctr" indent="0" marL="0">
              <a:lnSpc>
                <a:spcPct val="98000"/>
              </a:lnSpc>
              <a:buNone/>
            </a:pPr>
            <a:r>
              <a:rPr lang="en-US" sz="750" dirty="0">
                <a:solidFill>
                  <a:srgbClr val="2E6B4F"/>
                </a:solidFill>
                <a:latin typeface="Arial" pitchFamily="34" charset="0"/>
                <a:ea typeface="Arial" pitchFamily="34" charset="-122"/>
                <a:cs typeface="Arial" pitchFamily="34" charset="-120"/>
              </a:rPr>
              <a:t>2 to 3 days</a:t>
            </a:r>
            <a:endParaRPr lang="en-US" sz="800" dirty="0"/>
          </a:p>
        </p:txBody>
      </p:sp>
      <p:sp>
        <p:nvSpPr>
          <p:cNvPr id="30" name="Shape 28"/>
          <p:cNvSpPr/>
          <p:nvPr/>
        </p:nvSpPr>
        <p:spPr>
          <a:xfrm>
            <a:off x="4221480" y="3127248"/>
            <a:ext cx="1722120" cy="877824"/>
          </a:xfrm>
          <a:prstGeom prst="roundRect">
            <a:avLst>
              <a:gd name="adj" fmla="val 5208"/>
            </a:avLst>
          </a:prstGeom>
          <a:solidFill>
            <a:srgbClr val="1A5336"/>
          </a:solidFill>
          <a:ln w="9525">
            <a:solidFill>
              <a:srgbClr val="1A5336"/>
            </a:solidFill>
            <a:prstDash val="solid"/>
          </a:ln>
        </p:spPr>
      </p:sp>
      <p:sp>
        <p:nvSpPr>
          <p:cNvPr id="31" name="Text 29"/>
          <p:cNvSpPr/>
          <p:nvPr/>
        </p:nvSpPr>
        <p:spPr>
          <a:xfrm>
            <a:off x="4294632" y="3182112"/>
            <a:ext cx="1575816" cy="768096"/>
          </a:xfrm>
          <a:prstGeom prst="rect">
            <a:avLst/>
          </a:prstGeom>
          <a:noFill/>
          <a:ln/>
        </p:spPr>
        <p:txBody>
          <a:bodyPr wrap="square" lIns="0" tIns="0" rIns="0" bIns="0" rtlCol="0" anchor="ctr"/>
          <a:lstStyle/>
          <a:p>
            <a:pPr algn="ctr" indent="0" marL="0">
              <a:lnSpc>
                <a:spcPct val="98000"/>
              </a:lnSpc>
              <a:buNone/>
            </a:pPr>
            <a:r>
              <a:rPr lang="en-US" sz="800" b="1" dirty="0">
                <a:solidFill>
                  <a:srgbClr val="9FD3B4"/>
                </a:solidFill>
                <a:latin typeface="Arial" pitchFamily="34" charset="0"/>
                <a:ea typeface="Arial" pitchFamily="34" charset="-122"/>
                <a:cs typeface="Arial" pitchFamily="34" charset="-120"/>
              </a:rPr>
              <a:t>Production deploy</a:t>
            </a:r>
            <a:endParaRPr lang="en-US" sz="800" dirty="0"/>
          </a:p>
          <a:p>
            <a:pPr algn="ctr" indent="0" marL="0">
              <a:lnSpc>
                <a:spcPct val="98000"/>
              </a:lnSpc>
              <a:buNone/>
            </a:pPr>
            <a:r>
              <a:rPr lang="en-US" sz="1250" b="1" dirty="0">
                <a:solidFill>
                  <a:srgbClr val="FFFFFF"/>
                </a:solidFill>
                <a:latin typeface="Arial" pitchFamily="34" charset="0"/>
                <a:ea typeface="Arial" pitchFamily="34" charset="-122"/>
                <a:cs typeface="Arial" pitchFamily="34" charset="-120"/>
              </a:rPr>
              <a:t>October 19 to 23</a:t>
            </a:r>
            <a:endParaRPr lang="en-US" sz="800" dirty="0"/>
          </a:p>
          <a:p>
            <a:pPr algn="ctr" indent="0" marL="0">
              <a:lnSpc>
                <a:spcPct val="98000"/>
              </a:lnSpc>
              <a:buNone/>
            </a:pPr>
            <a:r>
              <a:rPr lang="en-US" sz="750" dirty="0">
                <a:solidFill>
                  <a:srgbClr val="9FD3B4"/>
                </a:solidFill>
                <a:latin typeface="Arial" pitchFamily="34" charset="0"/>
                <a:ea typeface="Arial" pitchFamily="34" charset="-122"/>
                <a:cs typeface="Arial" pitchFamily="34" charset="-120"/>
              </a:rPr>
              <a:t>5 days</a:t>
            </a:r>
            <a:endParaRPr lang="en-US" sz="800" dirty="0"/>
          </a:p>
        </p:txBody>
      </p:sp>
      <p:sp>
        <p:nvSpPr>
          <p:cNvPr id="32" name="Text 30"/>
          <p:cNvSpPr/>
          <p:nvPr/>
        </p:nvSpPr>
        <p:spPr>
          <a:xfrm>
            <a:off x="6245352" y="2871216"/>
            <a:ext cx="5577840" cy="219456"/>
          </a:xfrm>
          <a:prstGeom prst="rect">
            <a:avLst/>
          </a:prstGeom>
          <a:noFill/>
          <a:ln/>
        </p:spPr>
        <p:txBody>
          <a:bodyPr wrap="square" lIns="0" tIns="0" rIns="0" bIns="0" rtlCol="0" anchor="ctr"/>
          <a:lstStyle/>
          <a:p>
            <a:pPr indent="0" marL="0">
              <a:buNone/>
            </a:pPr>
            <a:r>
              <a:rPr lang="en-US" sz="1050" b="1" dirty="0">
                <a:solidFill>
                  <a:srgbClr val="1A5336"/>
                </a:solidFill>
                <a:latin typeface="Arial" pitchFamily="34" charset="0"/>
                <a:ea typeface="Arial" pitchFamily="34" charset="-122"/>
                <a:cs typeface="Arial" pitchFamily="34" charset="-120"/>
              </a:rPr>
              <a:t>After MVP1</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45352" y="3127248"/>
          <a:ext cx="5532120" cy="914400"/>
        </p:xfrm>
        <a:graphic>
          <a:graphicData uri="http://schemas.openxmlformats.org/drawingml/2006/table">
            <a:tbl>
              <a:tblPr/>
              <a:tblGrid>
                <a:gridCol w="3886200"/>
                <a:gridCol w="1645920"/>
              </a:tblGrid>
              <a:tr h="263347">
                <a:tc>
                  <a:txBody>
                    <a:bodyPr/>
                    <a:lstStyle/>
                    <a:p>
                      <a:pPr indent="0" marL="0">
                        <a:buNone/>
                      </a:pPr>
                      <a:r>
                        <a:rPr lang="en-US" sz="850" b="1" dirty="0">
                          <a:solidFill>
                            <a:srgbClr val="FFFFFF"/>
                          </a:solidFill>
                          <a:latin typeface="Arial" pitchFamily="34" charset="0"/>
                          <a:ea typeface="Arial" pitchFamily="34" charset="-122"/>
                          <a:cs typeface="Arial" pitchFamily="34" charset="-120"/>
                        </a:rPr>
                        <a:t>Release</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Window</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r>
              <a:tr h="263347">
                <a:tc>
                  <a:txBody>
                    <a:bodyPr/>
                    <a:lstStyle/>
                    <a:p>
                      <a:pPr indent="0" marL="0">
                        <a:buNone/>
                      </a:pPr>
                      <a:r>
                        <a:rPr lang="en-US" sz="820" dirty="0">
                          <a:solidFill>
                            <a:srgbClr val="1E2522"/>
                          </a:solidFill>
                          <a:latin typeface="Arial" pitchFamily="34" charset="0"/>
                          <a:ea typeface="Arial" pitchFamily="34" charset="-122"/>
                          <a:cs typeface="Arial" pitchFamily="34" charset="-120"/>
                        </a:rPr>
                        <a:t>Approval to Hire, plus live custom settings</a:t>
                      </a:r>
                      <a:endParaRPr lang="en-US" sz="82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20" dirty="0">
                          <a:solidFill>
                            <a:srgbClr val="1E2522"/>
                          </a:solidFill>
                          <a:latin typeface="Arial" pitchFamily="34" charset="0"/>
                          <a:ea typeface="Arial" pitchFamily="34" charset="-122"/>
                          <a:cs typeface="Arial" pitchFamily="34" charset="-120"/>
                        </a:rPr>
                        <a:t>September to November 2026</a:t>
                      </a:r>
                      <a:endParaRPr lang="en-US" sz="82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63347">
                <a:tc>
                  <a:txBody>
                    <a:bodyPr/>
                    <a:lstStyle/>
                    <a:p>
                      <a:pPr indent="0" marL="0">
                        <a:buNone/>
                      </a:pPr>
                      <a:r>
                        <a:rPr lang="en-US" sz="820" dirty="0">
                          <a:solidFill>
                            <a:srgbClr val="1E2522"/>
                          </a:solidFill>
                          <a:latin typeface="Arial" pitchFamily="34" charset="0"/>
                          <a:ea typeface="Arial" pitchFamily="34" charset="-122"/>
                          <a:cs typeface="Arial" pitchFamily="34" charset="-120"/>
                        </a:rPr>
                        <a:t>Invoices</a:t>
                      </a:r>
                      <a:endParaRPr lang="en-US" sz="82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20" dirty="0">
                          <a:solidFill>
                            <a:srgbClr val="1E2522"/>
                          </a:solidFill>
                          <a:latin typeface="Arial" pitchFamily="34" charset="0"/>
                          <a:ea typeface="Arial" pitchFamily="34" charset="-122"/>
                          <a:cs typeface="Arial" pitchFamily="34" charset="-120"/>
                        </a:rPr>
                        <a:t>October 2026 to February 2027</a:t>
                      </a:r>
                      <a:endParaRPr lang="en-US" sz="82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63347">
                <a:tc>
                  <a:txBody>
                    <a:bodyPr/>
                    <a:lstStyle/>
                    <a:p>
                      <a:pPr indent="0" marL="0">
                        <a:buNone/>
                      </a:pPr>
                      <a:r>
                        <a:rPr lang="en-US" sz="820" dirty="0">
                          <a:solidFill>
                            <a:srgbClr val="1E2522"/>
                          </a:solidFill>
                          <a:latin typeface="Arial" pitchFamily="34" charset="0"/>
                          <a:ea typeface="Arial" pitchFamily="34" charset="-122"/>
                          <a:cs typeface="Arial" pitchFamily="34" charset="-120"/>
                        </a:rPr>
                        <a:t>Generative AI assisted intake creation</a:t>
                      </a:r>
                      <a:endParaRPr lang="en-US" sz="82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20" dirty="0">
                          <a:solidFill>
                            <a:srgbClr val="1E2522"/>
                          </a:solidFill>
                          <a:latin typeface="Arial" pitchFamily="34" charset="0"/>
                          <a:ea typeface="Arial" pitchFamily="34" charset="-122"/>
                          <a:cs typeface="Arial" pitchFamily="34" charset="-120"/>
                        </a:rPr>
                        <a:t>January to March 2027</a:t>
                      </a:r>
                      <a:endParaRPr lang="en-US" sz="82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263347">
                <a:tc>
                  <a:txBody>
                    <a:bodyPr/>
                    <a:lstStyle/>
                    <a:p>
                      <a:pPr indent="0" marL="0">
                        <a:buNone/>
                      </a:pPr>
                      <a:r>
                        <a:rPr lang="en-US" sz="820" dirty="0">
                          <a:solidFill>
                            <a:srgbClr val="1E2522"/>
                          </a:solidFill>
                          <a:latin typeface="Arial" pitchFamily="34" charset="0"/>
                          <a:ea typeface="Arial" pitchFamily="34" charset="-122"/>
                          <a:cs typeface="Arial" pitchFamily="34" charset="-120"/>
                        </a:rPr>
                        <a:t>Ariba and Globality integration, Project Request</a:t>
                      </a:r>
                      <a:endParaRPr lang="en-US" sz="82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20" dirty="0">
                          <a:solidFill>
                            <a:srgbClr val="1E2522"/>
                          </a:solidFill>
                          <a:latin typeface="Arial" pitchFamily="34" charset="0"/>
                          <a:ea typeface="Arial" pitchFamily="34" charset="-122"/>
                          <a:cs typeface="Arial" pitchFamily="34" charset="-120"/>
                        </a:rPr>
                        <a:t>Not yet sized</a:t>
                      </a:r>
                      <a:endParaRPr lang="en-US" sz="82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bl>
          </a:graphicData>
        </a:graphic>
      </p:graphicFrame>
      <p:sp>
        <p:nvSpPr>
          <p:cNvPr id="34" name="Shape 31"/>
          <p:cNvSpPr/>
          <p:nvPr/>
        </p:nvSpPr>
        <p:spPr>
          <a:xfrm>
            <a:off x="411480" y="4572000"/>
            <a:ext cx="11365992" cy="1773936"/>
          </a:xfrm>
          <a:prstGeom prst="roundRect">
            <a:avLst>
              <a:gd name="adj" fmla="val 2577"/>
            </a:avLst>
          </a:prstGeom>
          <a:solidFill>
            <a:srgbClr val="FBEEDA"/>
          </a:solidFill>
          <a:ln w="9525">
            <a:solidFill>
              <a:srgbClr val="EAD3AF"/>
            </a:solidFill>
            <a:prstDash val="solid"/>
          </a:ln>
        </p:spPr>
      </p:sp>
      <p:sp>
        <p:nvSpPr>
          <p:cNvPr id="35" name="Text 32"/>
          <p:cNvSpPr/>
          <p:nvPr/>
        </p:nvSpPr>
        <p:spPr>
          <a:xfrm>
            <a:off x="576072" y="4663440"/>
            <a:ext cx="7315200" cy="219456"/>
          </a:xfrm>
          <a:prstGeom prst="rect">
            <a:avLst/>
          </a:prstGeom>
          <a:noFill/>
          <a:ln/>
        </p:spPr>
        <p:txBody>
          <a:bodyPr wrap="square" lIns="0" tIns="0" rIns="0" bIns="0" rtlCol="0" anchor="ctr"/>
          <a:lstStyle/>
          <a:p>
            <a:pPr indent="0" marL="0">
              <a:buNone/>
            </a:pPr>
            <a:r>
              <a:rPr lang="en-US" sz="1050" b="1" dirty="0">
                <a:solidFill>
                  <a:srgbClr val="9C5A00"/>
                </a:solidFill>
                <a:latin typeface="Arial" pitchFamily="34" charset="0"/>
                <a:ea typeface="Arial" pitchFamily="34" charset="-122"/>
                <a:cs typeface="Arial" pitchFamily="34" charset="-120"/>
              </a:rPr>
              <a:t>What puts the date at risk</a:t>
            </a:r>
            <a:endParaRPr lang="en-US" sz="1050" dirty="0"/>
          </a:p>
        </p:txBody>
      </p:sp>
      <p:sp>
        <p:nvSpPr>
          <p:cNvPr id="36" name="Text 33"/>
          <p:cNvSpPr/>
          <p:nvPr/>
        </p:nvSpPr>
        <p:spPr>
          <a:xfrm>
            <a:off x="576072" y="4919472"/>
            <a:ext cx="11036808" cy="1353312"/>
          </a:xfrm>
          <a:prstGeom prst="rect">
            <a:avLst/>
          </a:prstGeom>
          <a:noFill/>
          <a:ln/>
        </p:spPr>
        <p:txBody>
          <a:bodyPr wrap="square" lIns="0" tIns="0" rIns="0" bIns="0" rtlCol="0" anchor="t"/>
          <a:lstStyle/>
          <a:p>
            <a:pPr indent="0" marL="0">
              <a:lnSpc>
                <a:spcPct val="106000"/>
              </a:lnSpc>
              <a:buNone/>
            </a:pPr>
            <a:r>
              <a:rPr lang="en-US" sz="850" b="1" dirty="0">
                <a:solidFill>
                  <a:srgbClr val="6E4300"/>
                </a:solidFill>
                <a:latin typeface="Arial" pitchFamily="34" charset="0"/>
                <a:ea typeface="Arial" pitchFamily="34" charset="-122"/>
                <a:cs typeface="Arial" pitchFamily="34" charset="-120"/>
              </a:rPr>
              <a:t>Requirements gap.</a:t>
            </a:r>
            <a:pPr indent="0" marL="0">
              <a:lnSpc>
                <a:spcPct val="106000"/>
              </a:lnSpc>
              <a:buNone/>
            </a:pPr>
            <a:r>
              <a:rPr lang="en-US" sz="850" dirty="0">
                <a:solidFill>
                  <a:srgbClr val="6E4300"/>
                </a:solidFill>
                <a:latin typeface="Arial" pitchFamily="34" charset="0"/>
                <a:ea typeface="Arial" pitchFamily="34" charset="-122"/>
                <a:cs typeface="Arial" pitchFamily="34" charset="-120"/>
              </a:rPr>
              <a:t>  The MC procurement policy, the approved Financial Approval Matrix, the skip-logic table and the agenda reference table are all promised but not delivered. The routing engine cannot be finished without them.
</a:t>
            </a:r>
            <a:pPr indent="0" marL="0">
              <a:lnSpc>
                <a:spcPct val="106000"/>
              </a:lnSpc>
              <a:buNone/>
            </a:pPr>
            <a:r>
              <a:rPr lang="en-US" sz="850" b="1" dirty="0">
                <a:solidFill>
                  <a:srgbClr val="6E4300"/>
                </a:solidFill>
                <a:latin typeface="Arial" pitchFamily="34" charset="0"/>
                <a:ea typeface="Arial" pitchFamily="34" charset="-122"/>
                <a:cs typeface="Arial" pitchFamily="34" charset="-120"/>
              </a:rPr>
              <a:t>Ariba and SPID data quality.</a:t>
            </a:r>
            <a:pPr indent="0" marL="0">
              <a:lnSpc>
                <a:spcPct val="106000"/>
              </a:lnSpc>
              <a:buNone/>
            </a:pPr>
            <a:r>
              <a:rPr lang="en-US" sz="850" dirty="0">
                <a:solidFill>
                  <a:srgbClr val="6E4300"/>
                </a:solidFill>
                <a:latin typeface="Arial" pitchFamily="34" charset="0"/>
                <a:ea typeface="Arial" pitchFamily="34" charset="-122"/>
                <a:cs typeface="Arial" pitchFamily="34" charset="-120"/>
              </a:rPr>
              <a:t>  The SPID validation master list and the Ariba field dictionary have been requested and not received. Without them, SPID validation is guesswork.
</a:t>
            </a:r>
            <a:pPr indent="0" marL="0">
              <a:lnSpc>
                <a:spcPct val="106000"/>
              </a:lnSpc>
              <a:buNone/>
            </a:pPr>
            <a:r>
              <a:rPr lang="en-US" sz="850" b="1" dirty="0">
                <a:solidFill>
                  <a:srgbClr val="6E4300"/>
                </a:solidFill>
                <a:latin typeface="Arial" pitchFamily="34" charset="0"/>
                <a:ea typeface="Arial" pitchFamily="34" charset="-122"/>
                <a:cs typeface="Arial" pitchFamily="34" charset="-120"/>
              </a:rPr>
              <a:t>Team capacity.</a:t>
            </a:r>
            <a:pPr indent="0" marL="0">
              <a:lnSpc>
                <a:spcPct val="106000"/>
              </a:lnSpc>
              <a:buNone/>
            </a:pPr>
            <a:r>
              <a:rPr lang="en-US" sz="850" dirty="0">
                <a:solidFill>
                  <a:srgbClr val="6E4300"/>
                </a:solidFill>
                <a:latin typeface="Arial" pitchFamily="34" charset="0"/>
                <a:ea typeface="Arial" pitchFamily="34" charset="-122"/>
                <a:cs typeface="Arial" pitchFamily="34" charset="-120"/>
              </a:rPr>
              <a:t>  Two developers after August against a fixed October window.
</a:t>
            </a:r>
            <a:pPr indent="0" marL="0">
              <a:lnSpc>
                <a:spcPct val="106000"/>
              </a:lnSpc>
              <a:buNone/>
            </a:pPr>
            <a:r>
              <a:rPr lang="en-US" sz="850" b="1" dirty="0">
                <a:solidFill>
                  <a:srgbClr val="6E4300"/>
                </a:solidFill>
                <a:latin typeface="Arial" pitchFamily="34" charset="0"/>
                <a:ea typeface="Arial" pitchFamily="34" charset="-122"/>
                <a:cs typeface="Arial" pitchFamily="34" charset="-120"/>
              </a:rPr>
              <a:t>Change management.</a:t>
            </a:r>
            <a:pPr indent="0" marL="0">
              <a:lnSpc>
                <a:spcPct val="106000"/>
              </a:lnSpc>
              <a:buNone/>
            </a:pPr>
            <a:r>
              <a:rPr lang="en-US" sz="850" dirty="0">
                <a:solidFill>
                  <a:srgbClr val="6E4300"/>
                </a:solidFill>
                <a:latin typeface="Arial" pitchFamily="34" charset="0"/>
                <a:ea typeface="Arial" pitchFamily="34" charset="-122"/>
                <a:cs typeface="Arial" pitchFamily="34" charset="-120"/>
              </a:rPr>
              <a:t>  Colleagues keep a split experience during MVP1: Vendor Expense moves to USF while the other four GTS request types stay in EMS.
</a:t>
            </a:r>
            <a:pPr indent="0" marL="0">
              <a:lnSpc>
                <a:spcPct val="106000"/>
              </a:lnSpc>
              <a:buNone/>
            </a:pPr>
            <a:r>
              <a:rPr lang="en-US" sz="850" b="1" dirty="0">
                <a:solidFill>
                  <a:srgbClr val="6E4300"/>
                </a:solidFill>
                <a:latin typeface="Arial" pitchFamily="34" charset="0"/>
                <a:ea typeface="Arial" pitchFamily="34" charset="-122"/>
                <a:cs typeface="Arial" pitchFamily="34" charset="-120"/>
              </a:rPr>
              <a:t>Agenda model unresolved.</a:t>
            </a:r>
            <a:pPr indent="0" marL="0">
              <a:lnSpc>
                <a:spcPct val="106000"/>
              </a:lnSpc>
              <a:buNone/>
            </a:pPr>
            <a:r>
              <a:rPr lang="en-US" sz="850" dirty="0">
                <a:solidFill>
                  <a:srgbClr val="6E4300"/>
                </a:solidFill>
                <a:latin typeface="Arial" pitchFamily="34" charset="0"/>
                <a:ea typeface="Arial" pitchFamily="34" charset="-122"/>
                <a:cs typeface="Arial" pitchFamily="34" charset="-120"/>
              </a:rPr>
              <a:t>  Access to the BOM agenda-builder site has been requested and not granted, and the Approve / Reject / Skipped versus Send Back conflict is still open. The in-app agenda is being built from description rather than observation.
</a:t>
            </a:r>
            <a:pPr indent="0" marL="0">
              <a:lnSpc>
                <a:spcPct val="106000"/>
              </a:lnSpc>
              <a:buNone/>
            </a:pPr>
            <a:r>
              <a:rPr lang="en-US" sz="850" b="1" dirty="0">
                <a:solidFill>
                  <a:srgbClr val="6E4300"/>
                </a:solidFill>
                <a:latin typeface="Arial" pitchFamily="34" charset="0"/>
                <a:ea typeface="Arial" pitchFamily="34" charset="-122"/>
                <a:cs typeface="Arial" pitchFamily="34" charset="-120"/>
              </a:rPr>
              <a:t>Scope pressure.</a:t>
            </a:r>
            <a:pPr indent="0" marL="0">
              <a:lnSpc>
                <a:spcPct val="106000"/>
              </a:lnSpc>
              <a:buNone/>
            </a:pPr>
            <a:r>
              <a:rPr lang="en-US" sz="850" dirty="0">
                <a:solidFill>
                  <a:srgbClr val="6E4300"/>
                </a:solidFill>
                <a:latin typeface="Arial" pitchFamily="34" charset="0"/>
                <a:ea typeface="Arial" pitchFamily="34" charset="-122"/>
                <a:cs typeface="Arial" pitchFamily="34" charset="-120"/>
              </a:rPr>
              <a:t>  Four other GTS request types stay in EMS, each with an owner asking when their flow moves. Holding MVP1 to Vendor Expense end-to-end is what protects the date.</a:t>
            </a:r>
            <a:endParaRPr lang="en-US" sz="850" dirty="0"/>
          </a:p>
        </p:txBody>
      </p:sp>
      <p:sp>
        <p:nvSpPr>
          <p:cNvPr id="37" name="Text 34"/>
          <p:cNvSpPr/>
          <p:nvPr/>
        </p:nvSpPr>
        <p:spPr>
          <a:xfrm>
            <a:off x="411480" y="6455664"/>
            <a:ext cx="2743200" cy="237744"/>
          </a:xfrm>
          <a:prstGeom prst="rect">
            <a:avLst/>
          </a:prstGeom>
          <a:noFill/>
          <a:ln/>
        </p:spPr>
        <p:txBody>
          <a:bodyPr wrap="square" lIns="0" tIns="0" rIns="0" bIns="0" rtlCol="0" anchor="ctr"/>
          <a:lstStyle/>
          <a:p>
            <a:pPr algn="l" indent="0" marL="0">
              <a:buNone/>
            </a:pPr>
            <a:r>
              <a:rPr lang="en-US" sz="800" dirty="0">
                <a:solidFill>
                  <a:srgbClr val="9AA6A0"/>
                </a:solidFill>
                <a:latin typeface="Arial" pitchFamily="34" charset="0"/>
                <a:ea typeface="Arial" pitchFamily="34" charset="-122"/>
                <a:cs typeface="Arial" pitchFamily="34" charset="-120"/>
              </a:rPr>
              <a:t>Internal / Interne</a:t>
            </a:r>
            <a:endParaRPr lang="en-US" sz="800" dirty="0"/>
          </a:p>
        </p:txBody>
      </p:sp>
      <p:sp>
        <p:nvSpPr>
          <p:cNvPr id="38" name="Text 35"/>
          <p:cNvSpPr/>
          <p:nvPr/>
        </p:nvSpPr>
        <p:spPr>
          <a:xfrm>
            <a:off x="10863072" y="6455664"/>
            <a:ext cx="914400" cy="237744"/>
          </a:xfrm>
          <a:prstGeom prst="rect">
            <a:avLst/>
          </a:prstGeom>
          <a:noFill/>
          <a:ln/>
        </p:spPr>
        <p:txBody>
          <a:bodyPr wrap="square" lIns="0" tIns="0" rIns="0" bIns="0" rtlCol="0" anchor="ctr"/>
          <a:lstStyle/>
          <a:p>
            <a:pPr algn="r" indent="0" marL="0">
              <a:buNone/>
            </a:pPr>
            <a:r>
              <a:rPr lang="en-US" sz="800" dirty="0">
                <a:solidFill>
                  <a:srgbClr val="9AA6A0"/>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11480" y="274320"/>
            <a:ext cx="10058400" cy="219456"/>
          </a:xfrm>
          <a:prstGeom prst="rect">
            <a:avLst/>
          </a:prstGeom>
          <a:noFill/>
          <a:ln/>
        </p:spPr>
        <p:txBody>
          <a:bodyPr wrap="square" lIns="0" tIns="0" rIns="0" bIns="0" rtlCol="0" anchor="ctr"/>
          <a:lstStyle/>
          <a:p>
            <a:pPr indent="0" marL="0">
              <a:buNone/>
            </a:pPr>
            <a:r>
              <a:rPr lang="en-US" sz="950" b="1" spc="160" kern="0" dirty="0">
                <a:solidFill>
                  <a:srgbClr val="008A00"/>
                </a:solidFill>
                <a:latin typeface="Arial" pitchFamily="34" charset="0"/>
                <a:ea typeface="Arial" pitchFamily="34" charset="-122"/>
                <a:cs typeface="Arial" pitchFamily="34" charset="-120"/>
              </a:rPr>
              <a:t>APPENDIX A9</a:t>
            </a:r>
            <a:endParaRPr lang="en-US" sz="950" dirty="0"/>
          </a:p>
        </p:txBody>
      </p:sp>
      <p:sp>
        <p:nvSpPr>
          <p:cNvPr id="3" name="Text 1"/>
          <p:cNvSpPr/>
          <p:nvPr/>
        </p:nvSpPr>
        <p:spPr>
          <a:xfrm>
            <a:off x="411480" y="502920"/>
            <a:ext cx="11365992" cy="566928"/>
          </a:xfrm>
          <a:prstGeom prst="rect">
            <a:avLst/>
          </a:prstGeom>
          <a:noFill/>
          <a:ln/>
        </p:spPr>
        <p:txBody>
          <a:bodyPr wrap="square" lIns="0" tIns="0" rIns="0" bIns="0" rtlCol="0" anchor="ctr"/>
          <a:lstStyle/>
          <a:p>
            <a:pPr indent="0" marL="0">
              <a:buNone/>
            </a:pPr>
            <a:r>
              <a:rPr lang="en-US" sz="2500" b="1" dirty="0">
                <a:solidFill>
                  <a:srgbClr val="1A5336"/>
                </a:solidFill>
                <a:latin typeface="Arial" pitchFamily="34" charset="0"/>
                <a:ea typeface="Arial" pitchFamily="34" charset="-122"/>
                <a:cs typeface="Arial" pitchFamily="34" charset="-120"/>
              </a:rPr>
              <a:t>Open decisions and inputs still required</a:t>
            </a:r>
            <a:endParaRPr lang="en-US" sz="2500" dirty="0"/>
          </a:p>
        </p:txBody>
      </p:sp>
      <p:sp>
        <p:nvSpPr>
          <p:cNvPr id="4" name="Text 2"/>
          <p:cNvSpPr/>
          <p:nvPr/>
        </p:nvSpPr>
        <p:spPr>
          <a:xfrm>
            <a:off x="411480" y="1051560"/>
            <a:ext cx="11365992" cy="274320"/>
          </a:xfrm>
          <a:prstGeom prst="rect">
            <a:avLst/>
          </a:prstGeom>
          <a:noFill/>
          <a:ln/>
        </p:spPr>
        <p:txBody>
          <a:bodyPr wrap="square" lIns="0" tIns="0" rIns="0" bIns="0" rtlCol="0" anchor="ctr"/>
          <a:lstStyle/>
          <a:p>
            <a:pPr indent="0" marL="0">
              <a:buNone/>
            </a:pPr>
            <a:r>
              <a:rPr lang="en-US" sz="1150" dirty="0">
                <a:solidFill>
                  <a:srgbClr val="586460"/>
                </a:solidFill>
                <a:latin typeface="Arial" pitchFamily="34" charset="0"/>
                <a:ea typeface="Arial" pitchFamily="34" charset="-122"/>
                <a:cs typeface="Arial" pitchFamily="34" charset="-120"/>
              </a:rPr>
              <a:t>Every item marked Critical must be resolved or converted into an explicitly accepted limitation before MVP1 is considered complete.</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1444752"/>
          <a:ext cx="11365992" cy="914400"/>
        </p:xfrm>
        <a:graphic>
          <a:graphicData uri="http://schemas.openxmlformats.org/drawingml/2006/table">
            <a:tbl>
              <a:tblPr/>
              <a:tblGrid>
                <a:gridCol w="960120"/>
                <a:gridCol w="3886200"/>
                <a:gridCol w="3913632"/>
                <a:gridCol w="2606040"/>
              </a:tblGrid>
              <a:tr h="318211">
                <a:tc>
                  <a:txBody>
                    <a:bodyPr/>
                    <a:lstStyle/>
                    <a:p>
                      <a:pPr indent="0" marL="0">
                        <a:buNone/>
                      </a:pPr>
                      <a:r>
                        <a:rPr lang="en-US" sz="850" b="1" dirty="0">
                          <a:solidFill>
                            <a:srgbClr val="FFFFFF"/>
                          </a:solidFill>
                          <a:latin typeface="Arial" pitchFamily="34" charset="0"/>
                          <a:ea typeface="Arial" pitchFamily="34" charset="-122"/>
                          <a:cs typeface="Arial" pitchFamily="34" charset="-120"/>
                        </a:rPr>
                        <a:t>Priority</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Decision or input required</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Why it is needed</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Owner group</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r>
              <a:tr h="318211">
                <a:tc>
                  <a:txBody>
                    <a:bodyPr/>
                    <a:lstStyle/>
                    <a:p>
                      <a:pPr indent="0" marL="0">
                        <a:buNone/>
                      </a:pPr>
                      <a:r>
                        <a:rPr lang="en-US" sz="780" b="1" dirty="0">
                          <a:solidFill>
                            <a:srgbClr val="9C5A00"/>
                          </a:solidFill>
                          <a:latin typeface="Arial" pitchFamily="34" charset="0"/>
                          <a:ea typeface="Arial" pitchFamily="34" charset="-122"/>
                          <a:cs typeface="Arial" pitchFamily="34" charset="-120"/>
                        </a:rPr>
                        <a:t>Critical</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Procurement policy defining the Management Consulting trigger, plus the formal exemption list</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MC cannot be automated. GTS plus $100K is not the rule</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Procurement policy / MC and ERC owners</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18211">
                <a:tc>
                  <a:txBody>
                    <a:bodyPr/>
                    <a:lstStyle/>
                    <a:p>
                      <a:pPr indent="0" marL="0">
                        <a:buNone/>
                      </a:pPr>
                      <a:r>
                        <a:rPr lang="en-US" sz="780" b="1" dirty="0">
                          <a:solidFill>
                            <a:srgbClr val="9C5A00"/>
                          </a:solidFill>
                          <a:latin typeface="Arial" pitchFamily="34" charset="0"/>
                          <a:ea typeface="Arial" pitchFamily="34" charset="-122"/>
                          <a:cs typeface="Arial" pitchFamily="34" charset="-120"/>
                        </a:rPr>
                        <a:t>Critical</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Latest approved Financial Approval Matrix</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Drives routing, levels, leads, delegates and BOM Lead scope</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Expense Oversight / Finance</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18211">
                <a:tc>
                  <a:txBody>
                    <a:bodyPr/>
                    <a:lstStyle/>
                    <a:p>
                      <a:pPr indent="0" marL="0">
                        <a:buNone/>
                      </a:pPr>
                      <a:r>
                        <a:rPr lang="en-US" sz="780" b="1" dirty="0">
                          <a:solidFill>
                            <a:srgbClr val="9C5A00"/>
                          </a:solidFill>
                          <a:latin typeface="Arial" pitchFamily="34" charset="0"/>
                          <a:ea typeface="Arial" pitchFamily="34" charset="-122"/>
                          <a:cs typeface="Arial" pitchFamily="34" charset="-120"/>
                        </a:rPr>
                        <a:t>Critical</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Current SPID validation SharePoint master list</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Required to reproduce today's validation accurately</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EMS / SPID owners</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18211">
                <a:tc>
                  <a:txBody>
                    <a:bodyPr/>
                    <a:lstStyle/>
                    <a:p>
                      <a:pPr indent="0" marL="0">
                        <a:buNone/>
                      </a:pPr>
                      <a:r>
                        <a:rPr lang="en-US" sz="780" b="1" dirty="0">
                          <a:solidFill>
                            <a:srgbClr val="9C5A00"/>
                          </a:solidFill>
                          <a:latin typeface="Arial" pitchFamily="34" charset="0"/>
                          <a:ea typeface="Arial" pitchFamily="34" charset="-122"/>
                          <a:cs typeface="Arial" pitchFamily="34" charset="-120"/>
                        </a:rPr>
                        <a:t>Critical</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Ariba report or CSV, plus the field dictionary</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Defines the authoritative source, the mappings and the update process</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Ariba / procurement data</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18211">
                <a:tc>
                  <a:txBody>
                    <a:bodyPr/>
                    <a:lstStyle/>
                    <a:p>
                      <a:pPr indent="0" marL="0">
                        <a:buNone/>
                      </a:pPr>
                      <a:r>
                        <a:rPr lang="en-US" sz="780" b="1" dirty="0">
                          <a:solidFill>
                            <a:srgbClr val="9C5A00"/>
                          </a:solidFill>
                          <a:latin typeface="Arial" pitchFamily="34" charset="0"/>
                          <a:ea typeface="Arial" pitchFamily="34" charset="-122"/>
                          <a:cs typeface="Arial" pitchFamily="34" charset="-120"/>
                        </a:rPr>
                        <a:t>Critical</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SR to CW and PR to SR relationship rules</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Required for correct cross-system linking</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Ariba / procurement</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18211">
                <a:tc>
                  <a:txBody>
                    <a:bodyPr/>
                    <a:lstStyle/>
                    <a:p>
                      <a:pPr indent="0" marL="0">
                        <a:buNone/>
                      </a:pPr>
                      <a:r>
                        <a:rPr lang="en-US" sz="780" b="1" dirty="0">
                          <a:solidFill>
                            <a:srgbClr val="9C5A00"/>
                          </a:solidFill>
                          <a:latin typeface="Arial" pitchFamily="34" charset="0"/>
                          <a:ea typeface="Arial" pitchFamily="34" charset="-122"/>
                          <a:cs typeface="Arial" pitchFamily="34" charset="-120"/>
                        </a:rPr>
                        <a:t>Critical</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Final Pipeline, USF and SPID field mapping sign-off</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Prevents missing, duplicated or wrongly merged fields</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EMS, Finance, Procurement, USF</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18211">
                <a:tc>
                  <a:txBody>
                    <a:bodyPr/>
                    <a:lstStyle/>
                    <a:p>
                      <a:pPr indent="0" marL="0">
                        <a:buNone/>
                      </a:pPr>
                      <a:r>
                        <a:rPr lang="en-US" sz="780" dirty="0">
                          <a:solidFill>
                            <a:srgbClr val="1E2522"/>
                          </a:solidFill>
                          <a:latin typeface="Arial" pitchFamily="34" charset="0"/>
                          <a:ea typeface="Arial" pitchFamily="34" charset="-122"/>
                          <a:cs typeface="Arial" pitchFamily="34" charset="-120"/>
                        </a:rPr>
                        <a:t>High</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Approval skip-logic reference table and the agenda reference table</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Approval routing and agenda placement are driven entirely by these</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EMS operations</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18211">
                <a:tc>
                  <a:txBody>
                    <a:bodyPr/>
                    <a:lstStyle/>
                    <a:p>
                      <a:pPr indent="0" marL="0">
                        <a:buNone/>
                      </a:pPr>
                      <a:r>
                        <a:rPr lang="en-US" sz="780" dirty="0">
                          <a:solidFill>
                            <a:srgbClr val="1E2522"/>
                          </a:solidFill>
                          <a:latin typeface="Arial" pitchFamily="34" charset="0"/>
                          <a:ea typeface="Arial" pitchFamily="34" charset="-122"/>
                          <a:cs typeface="Arial" pitchFamily="34" charset="-120"/>
                        </a:rPr>
                        <a:t>High</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How GTS applicability is detected - directory-derived or declared</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Determines which branch a request enters at the front door</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Identity and access / HR data / product</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18211">
                <a:tc>
                  <a:txBody>
                    <a:bodyPr/>
                    <a:lstStyle/>
                    <a:p>
                      <a:pPr indent="0" marL="0">
                        <a:buNone/>
                      </a:pPr>
                      <a:r>
                        <a:rPr lang="en-US" sz="780" dirty="0">
                          <a:solidFill>
                            <a:srgbClr val="1E2522"/>
                          </a:solidFill>
                          <a:latin typeface="Arial" pitchFamily="34" charset="0"/>
                          <a:ea typeface="Arial" pitchFamily="34" charset="-122"/>
                          <a:cs typeface="Arial" pitchFamily="34" charset="-120"/>
                        </a:rPr>
                        <a:t>High</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Fallback routing owner when no approval route is found</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Prevents requests getting stuck with no owner. Guidance so far points to the Segment BOM Lead, an individual rather than a shared mailbox</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Business / EMS operations</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18211">
                <a:tc>
                  <a:txBody>
                    <a:bodyPr/>
                    <a:lstStyle/>
                    <a:p>
                      <a:pPr indent="0" marL="0">
                        <a:buNone/>
                      </a:pPr>
                      <a:r>
                        <a:rPr lang="en-US" sz="780" dirty="0">
                          <a:solidFill>
                            <a:srgbClr val="1E2522"/>
                          </a:solidFill>
                          <a:latin typeface="Arial" pitchFamily="34" charset="0"/>
                          <a:ea typeface="Arial" pitchFamily="34" charset="-122"/>
                          <a:cs typeface="Arial" pitchFamily="34" charset="-120"/>
                        </a:rPr>
                        <a:t>High</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Send Back material-change rules</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Determines whether the approval path restarts or resumes</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Finance / expense policy</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18211">
                <a:tc>
                  <a:txBody>
                    <a:bodyPr/>
                    <a:lstStyle/>
                    <a:p>
                      <a:pPr indent="0" marL="0">
                        <a:buNone/>
                      </a:pPr>
                      <a:r>
                        <a:rPr lang="en-US" sz="780" dirty="0">
                          <a:solidFill>
                            <a:srgbClr val="1E2522"/>
                          </a:solidFill>
                          <a:latin typeface="Arial" pitchFamily="34" charset="0"/>
                          <a:ea typeface="Arial" pitchFamily="34" charset="-122"/>
                          <a:cs typeface="Arial" pitchFamily="34" charset="-120"/>
                        </a:rPr>
                        <a:t>High</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Authoritative Segment and Business Unit taxonomy, and the vendor master system of record</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Required for routing, reporting and controlled vendor selection</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Enterprise reference data / procurement data</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18211">
                <a:tc>
                  <a:txBody>
                    <a:bodyPr/>
                    <a:lstStyle/>
                    <a:p>
                      <a:pPr indent="0" marL="0">
                        <a:buNone/>
                      </a:pPr>
                      <a:r>
                        <a:rPr lang="en-US" sz="780" dirty="0">
                          <a:solidFill>
                            <a:srgbClr val="1E2522"/>
                          </a:solidFill>
                          <a:latin typeface="Arial" pitchFamily="34" charset="0"/>
                          <a:ea typeface="Arial" pitchFamily="34" charset="-122"/>
                          <a:cs typeface="Arial" pitchFamily="34" charset="-120"/>
                        </a:rPr>
                        <a:t>High</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Downstream consumer inventory and data contract</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Prevents breaking onboarding, invoicing and GD Hub</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EMS platform / consumer teams</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18211">
                <a:tc>
                  <a:txBody>
                    <a:bodyPr/>
                    <a:lstStyle/>
                    <a:p>
                      <a:pPr indent="0" marL="0">
                        <a:buNone/>
                      </a:pPr>
                      <a:r>
                        <a:rPr lang="en-US" sz="780" dirty="0">
                          <a:solidFill>
                            <a:srgbClr val="1E2522"/>
                          </a:solidFill>
                          <a:latin typeface="Arial" pitchFamily="34" charset="0"/>
                          <a:ea typeface="Arial" pitchFamily="34" charset="-122"/>
                          <a:cs typeface="Arial" pitchFamily="34" charset="-120"/>
                        </a:rPr>
                        <a:t>High</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Whether SPID can be fast-tracked when nothing material changed</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Would be the single largest reduction in approval effort - but it is a policy decision</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EMS / SPID business owners</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318211">
                <a:tc>
                  <a:txBody>
                    <a:bodyPr/>
                    <a:lstStyle/>
                    <a:p>
                      <a:pPr indent="0" marL="0">
                        <a:buNone/>
                      </a:pPr>
                      <a:r>
                        <a:rPr lang="en-US" sz="780" dirty="0">
                          <a:solidFill>
                            <a:srgbClr val="1E2522"/>
                          </a:solidFill>
                          <a:latin typeface="Arial" pitchFamily="34" charset="0"/>
                          <a:ea typeface="Arial" pitchFamily="34" charset="-122"/>
                          <a:cs typeface="Arial" pitchFamily="34" charset="-120"/>
                        </a:rPr>
                        <a:t>Medium</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Notification matrix, historical-data access approach, exact status enum mapping</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Controls email volume, clarifies whether legacy EMS stays read-only, supports report continuity</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780" dirty="0">
                          <a:solidFill>
                            <a:srgbClr val="1E2522"/>
                          </a:solidFill>
                          <a:latin typeface="Arial" pitchFamily="34" charset="0"/>
                          <a:ea typeface="Arial" pitchFamily="34" charset="-122"/>
                          <a:cs typeface="Arial" pitchFamily="34" charset="-120"/>
                        </a:rPr>
                        <a:t>Product / EMS technical owners</a:t>
                      </a:r>
                      <a:endParaRPr lang="en-US" sz="78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bl>
          </a:graphicData>
        </a:graphic>
      </p:graphicFrame>
      <p:sp>
        <p:nvSpPr>
          <p:cNvPr id="6" name="Text 3"/>
          <p:cNvSpPr/>
          <p:nvPr/>
        </p:nvSpPr>
        <p:spPr>
          <a:xfrm>
            <a:off x="411480" y="6455664"/>
            <a:ext cx="2743200" cy="237744"/>
          </a:xfrm>
          <a:prstGeom prst="rect">
            <a:avLst/>
          </a:prstGeom>
          <a:noFill/>
          <a:ln/>
        </p:spPr>
        <p:txBody>
          <a:bodyPr wrap="square" lIns="0" tIns="0" rIns="0" bIns="0" rtlCol="0" anchor="ctr"/>
          <a:lstStyle/>
          <a:p>
            <a:pPr algn="l" indent="0" marL="0">
              <a:buNone/>
            </a:pPr>
            <a:r>
              <a:rPr lang="en-US" sz="800" dirty="0">
                <a:solidFill>
                  <a:srgbClr val="9AA6A0"/>
                </a:solidFill>
                <a:latin typeface="Arial" pitchFamily="34" charset="0"/>
                <a:ea typeface="Arial" pitchFamily="34" charset="-122"/>
                <a:cs typeface="Arial" pitchFamily="34" charset="-120"/>
              </a:rPr>
              <a:t>Internal / Interne</a:t>
            </a:r>
            <a:endParaRPr lang="en-US" sz="800" dirty="0"/>
          </a:p>
        </p:txBody>
      </p:sp>
      <p:sp>
        <p:nvSpPr>
          <p:cNvPr id="7" name="Text 4"/>
          <p:cNvSpPr/>
          <p:nvPr/>
        </p:nvSpPr>
        <p:spPr>
          <a:xfrm>
            <a:off x="10863072" y="6455664"/>
            <a:ext cx="914400" cy="237744"/>
          </a:xfrm>
          <a:prstGeom prst="rect">
            <a:avLst/>
          </a:prstGeom>
          <a:noFill/>
          <a:ln/>
        </p:spPr>
        <p:txBody>
          <a:bodyPr wrap="square" lIns="0" tIns="0" rIns="0" bIns="0" rtlCol="0" anchor="ctr"/>
          <a:lstStyle/>
          <a:p>
            <a:pPr algn="r" indent="0" marL="0">
              <a:buNone/>
            </a:pPr>
            <a:r>
              <a:rPr lang="en-US" sz="800" dirty="0">
                <a:solidFill>
                  <a:srgbClr val="9AA6A0"/>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11480" y="274320"/>
            <a:ext cx="10058400" cy="219456"/>
          </a:xfrm>
          <a:prstGeom prst="rect">
            <a:avLst/>
          </a:prstGeom>
          <a:noFill/>
          <a:ln/>
        </p:spPr>
        <p:txBody>
          <a:bodyPr wrap="square" lIns="0" tIns="0" rIns="0" bIns="0" rtlCol="0" anchor="ctr"/>
          <a:lstStyle/>
          <a:p>
            <a:pPr indent="0" marL="0">
              <a:buNone/>
            </a:pPr>
            <a:r>
              <a:rPr lang="en-US" sz="950" b="1" spc="160" kern="0" dirty="0">
                <a:solidFill>
                  <a:srgbClr val="008A00"/>
                </a:solidFill>
                <a:latin typeface="Arial" pitchFamily="34" charset="0"/>
                <a:ea typeface="Arial" pitchFamily="34" charset="-122"/>
                <a:cs typeface="Arial" pitchFamily="34" charset="-120"/>
              </a:rPr>
              <a:t>APPENDIX A10</a:t>
            </a:r>
            <a:endParaRPr lang="en-US" sz="950" dirty="0"/>
          </a:p>
        </p:txBody>
      </p:sp>
      <p:sp>
        <p:nvSpPr>
          <p:cNvPr id="3" name="Text 1"/>
          <p:cNvSpPr/>
          <p:nvPr/>
        </p:nvSpPr>
        <p:spPr>
          <a:xfrm>
            <a:off x="411480" y="502920"/>
            <a:ext cx="11365992" cy="566928"/>
          </a:xfrm>
          <a:prstGeom prst="rect">
            <a:avLst/>
          </a:prstGeom>
          <a:noFill/>
          <a:ln/>
        </p:spPr>
        <p:txBody>
          <a:bodyPr wrap="square" lIns="0" tIns="0" rIns="0" bIns="0" rtlCol="0" anchor="ctr"/>
          <a:lstStyle/>
          <a:p>
            <a:pPr indent="0" marL="0">
              <a:buNone/>
            </a:pPr>
            <a:r>
              <a:rPr lang="en-US" sz="2500" b="1" dirty="0">
                <a:solidFill>
                  <a:srgbClr val="1A5336"/>
                </a:solidFill>
                <a:latin typeface="Arial" pitchFamily="34" charset="0"/>
                <a:ea typeface="Arial" pitchFamily="34" charset="-122"/>
                <a:cs typeface="Arial" pitchFamily="34" charset="-120"/>
              </a:rPr>
              <a:t>Risks carried into the build, and how they are being managed</a:t>
            </a:r>
            <a:endParaRPr lang="en-US" sz="2500" dirty="0"/>
          </a:p>
        </p:txBody>
      </p:sp>
      <p:sp>
        <p:nvSpPr>
          <p:cNvPr id="4" name="Text 2"/>
          <p:cNvSpPr/>
          <p:nvPr/>
        </p:nvSpPr>
        <p:spPr>
          <a:xfrm>
            <a:off x="411480" y="1051560"/>
            <a:ext cx="11365992" cy="274320"/>
          </a:xfrm>
          <a:prstGeom prst="rect">
            <a:avLst/>
          </a:prstGeom>
          <a:noFill/>
          <a:ln/>
        </p:spPr>
        <p:txBody>
          <a:bodyPr wrap="square" lIns="0" tIns="0" rIns="0" bIns="0" rtlCol="0" anchor="ctr"/>
          <a:lstStyle/>
          <a:p>
            <a:pPr indent="0" marL="0">
              <a:buNone/>
            </a:pPr>
            <a:r>
              <a:rPr lang="en-US" sz="1150" dirty="0">
                <a:solidFill>
                  <a:srgbClr val="586460"/>
                </a:solidFill>
                <a:latin typeface="Arial" pitchFamily="34" charset="0"/>
                <a:ea typeface="Arial" pitchFamily="34" charset="-122"/>
                <a:cs typeface="Arial" pitchFamily="34" charset="-120"/>
              </a:rPr>
              <a:t>These are the failure modes that would either break a downstream team or produce a tool that quietly enforces the wrong rules.</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1444752"/>
          <a:ext cx="11365992" cy="914400"/>
        </p:xfrm>
        <a:graphic>
          <a:graphicData uri="http://schemas.openxmlformats.org/drawingml/2006/table">
            <a:tbl>
              <a:tblPr/>
              <a:tblGrid>
                <a:gridCol w="2331720"/>
                <a:gridCol w="4517136"/>
                <a:gridCol w="4517136"/>
              </a:tblGrid>
              <a:tr h="274320">
                <a:tc>
                  <a:txBody>
                    <a:bodyPr/>
                    <a:lstStyle/>
                    <a:p>
                      <a:pPr indent="0" marL="0">
                        <a:buNone/>
                      </a:pPr>
                      <a:r>
                        <a:rPr lang="en-US" sz="850" b="1" dirty="0">
                          <a:solidFill>
                            <a:srgbClr val="FFFFFF"/>
                          </a:solidFill>
                          <a:latin typeface="Arial" pitchFamily="34" charset="0"/>
                          <a:ea typeface="Arial" pitchFamily="34" charset="-122"/>
                          <a:cs typeface="Arial" pitchFamily="34" charset="-120"/>
                        </a:rPr>
                        <a:t>Risk</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What could go wrong</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How it is managed</a:t>
                      </a:r>
                      <a:endParaRPr lang="en-US" sz="85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solidFill>
                      <a:srgbClr val="1A5336"/>
                    </a:solidFill>
                  </a:tcPr>
                </a:tc>
              </a:tr>
              <a:tr h="649224">
                <a:tc>
                  <a:txBody>
                    <a:bodyPr/>
                    <a:lstStyle/>
                    <a:p>
                      <a:pPr indent="0" marL="0">
                        <a:buNone/>
                      </a:pPr>
                      <a:r>
                        <a:rPr lang="en-US" sz="800" b="1" dirty="0">
                          <a:solidFill>
                            <a:srgbClr val="1A5336"/>
                          </a:solidFill>
                          <a:latin typeface="Arial" pitchFamily="34" charset="0"/>
                          <a:ea typeface="Arial" pitchFamily="34" charset="-122"/>
                          <a:cs typeface="Arial" pitchFamily="34" charset="-120"/>
                        </a:rPr>
                        <a:t>Building rules from draft notes</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Older EMS material conflicts with later MVP1 decisions - Skipped versus Send Back, full EMS absorption versus Vendor Expense only, live Ariba versus manual handling</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Nothing is hard-coded from draft notes. Conflicts are flagged and sent back to the business for a decision rather than implemented both ways</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649224">
                <a:tc>
                  <a:txBody>
                    <a:bodyPr/>
                    <a:lstStyle/>
                    <a:p>
                      <a:pPr indent="0" marL="0">
                        <a:buNone/>
                      </a:pPr>
                      <a:r>
                        <a:rPr lang="en-US" sz="800" b="1" dirty="0">
                          <a:solidFill>
                            <a:srgbClr val="1A5336"/>
                          </a:solidFill>
                          <a:latin typeface="Arial" pitchFamily="34" charset="0"/>
                          <a:ea typeface="Arial" pitchFamily="34" charset="-122"/>
                          <a:cs typeface="Arial" pitchFamily="34" charset="-120"/>
                        </a:rPr>
                        <a:t>Breaking a downstream consumer</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Onboarding, invoicing and GD Hub read EMS-shaped data from a shared data lake whose schema is not documented</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Emit the same shape on the same identifiers. Preserve existing extracts until consumers certify the replacement contract. Retire no list before the owner and consumers are confirmed</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649224">
                <a:tc>
                  <a:txBody>
                    <a:bodyPr/>
                    <a:lstStyle/>
                    <a:p>
                      <a:pPr indent="0" marL="0">
                        <a:buNone/>
                      </a:pPr>
                      <a:r>
                        <a:rPr lang="en-US" sz="800" b="1" dirty="0">
                          <a:solidFill>
                            <a:srgbClr val="1A5336"/>
                          </a:solidFill>
                          <a:latin typeface="Arial" pitchFamily="34" charset="0"/>
                          <a:ea typeface="Arial" pitchFamily="34" charset="-122"/>
                          <a:cs typeface="Arial" pitchFamily="34" charset="-120"/>
                        </a:rPr>
                        <a:t>Reference-data ownership</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Several lists are static, hard-coded or not tied to any system of record. A stale list silently mis-routes approvals</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Every controlled field gets a named source, an owner, a refresh approach and an editability rule before go-live</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649224">
                <a:tc>
                  <a:txBody>
                    <a:bodyPr/>
                    <a:lstStyle/>
                    <a:p>
                      <a:pPr indent="0" marL="0">
                        <a:buNone/>
                      </a:pPr>
                      <a:r>
                        <a:rPr lang="en-US" sz="800" b="1" dirty="0">
                          <a:solidFill>
                            <a:srgbClr val="1A5336"/>
                          </a:solidFill>
                          <a:latin typeface="Arial" pitchFamily="34" charset="0"/>
                          <a:ea typeface="Arial" pitchFamily="34" charset="-122"/>
                          <a:cs typeface="Arial" pitchFamily="34" charset="-120"/>
                        </a:rPr>
                        <a:t>Ariba-derived data being edited</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Today users can edit Ariba-derived values in SPID, producing duplicate and misaligned records</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Authoritative source data is read-only and separated from requestor-entered final detail. Differences surface as flagged deltas</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649224">
                <a:tc>
                  <a:txBody>
                    <a:bodyPr/>
                    <a:lstStyle/>
                    <a:p>
                      <a:pPr indent="0" marL="0">
                        <a:buNone/>
                      </a:pPr>
                      <a:r>
                        <a:rPr lang="en-US" sz="800" b="1" dirty="0">
                          <a:solidFill>
                            <a:srgbClr val="1A5336"/>
                          </a:solidFill>
                          <a:latin typeface="Arial" pitchFamily="34" charset="0"/>
                          <a:ea typeface="Arial" pitchFamily="34" charset="-122"/>
                          <a:cs typeface="Arial" pitchFamily="34" charset="-120"/>
                        </a:rPr>
                        <a:t>Over-claiming integration</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Presenting a report or CSV-fed value as if it were real-time Ariba data</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MVP1 shows procurement as a tracked manual stage. No real-time synchronisation is implied anywhere in the interface</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649224">
                <a:tc>
                  <a:txBody>
                    <a:bodyPr/>
                    <a:lstStyle/>
                    <a:p>
                      <a:pPr indent="0" marL="0">
                        <a:buNone/>
                      </a:pPr>
                      <a:r>
                        <a:rPr lang="en-US" sz="800" b="1" dirty="0">
                          <a:solidFill>
                            <a:srgbClr val="1A5336"/>
                          </a:solidFill>
                          <a:latin typeface="Arial" pitchFamily="34" charset="0"/>
                          <a:ea typeface="Arial" pitchFamily="34" charset="-122"/>
                          <a:cs typeface="Arial" pitchFamily="34" charset="-120"/>
                        </a:rPr>
                        <a:t>Governance being circumvented</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Approved Pipeline values overwritten by final contract values; approvers editing requestor data; one request on two agendas; self-approval</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Approved values immutable, approvers cannot edit, one active agenda per request, no self-approval, and the matrix version is stamped so routing can be reconstructed</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r h="667512">
                <a:tc>
                  <a:txBody>
                    <a:bodyPr/>
                    <a:lstStyle/>
                    <a:p>
                      <a:pPr indent="0" marL="0">
                        <a:buNone/>
                      </a:pPr>
                      <a:r>
                        <a:rPr lang="en-US" sz="800" b="1" dirty="0">
                          <a:solidFill>
                            <a:srgbClr val="9C5A00"/>
                          </a:solidFill>
                          <a:latin typeface="Arial" pitchFamily="34" charset="0"/>
                          <a:ea typeface="Arial" pitchFamily="34" charset="-122"/>
                          <a:cs typeface="Arial" pitchFamily="34" charset="-120"/>
                        </a:rPr>
                        <a:t>Fixed date, open requirements</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The routing engine cannot be completed while the MC policy, the approval matrix and the skip-logic table are outstanding, and the team is two developers after August</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c>
                  <a:txBody>
                    <a:bodyPr/>
                    <a:lstStyle/>
                    <a:p>
                      <a:pPr indent="0" marL="0">
                        <a:buNone/>
                      </a:pPr>
                      <a:r>
                        <a:rPr lang="en-US" sz="800" dirty="0">
                          <a:solidFill>
                            <a:srgbClr val="1E2522"/>
                          </a:solidFill>
                          <a:latin typeface="Arial" pitchFamily="34" charset="0"/>
                          <a:ea typeface="Arial" pitchFamily="34" charset="-122"/>
                          <a:cs typeface="Arial" pitchFamily="34" charset="-120"/>
                        </a:rPr>
                        <a:t>Requirements lockdown is treated as the gate, not a milestone. Anything unresolved becomes an explicitly accepted limitation rather than an assumption in code</a:t>
                      </a:r>
                      <a:endParaRPr lang="en-US" sz="800" dirty="0">
                        <a:latin typeface="Arial" charset="0"/>
                        <a:ea typeface="Arial" charset="0"/>
                        <a:cs typeface="Arial" charset="0"/>
                      </a:endParaRPr>
                    </a:p>
                  </a:txBody>
                  <a:tcPr marL="91440" marR="91440" marT="45720" marB="45720" anchor="ctr">
                    <a:lnL w="6350" cap="flat" cmpd="sng" algn="ctr">
                      <a:solidFill>
                        <a:srgbClr val="D3DDD7"/>
                      </a:solidFill>
                      <a:prstDash val="solid"/>
                      <a:round/>
                      <a:headEnd type="none" w="med" len="med"/>
                      <a:tailEnd type="none" w="med" len="med"/>
                    </a:lnL>
                    <a:lnR w="6350" cap="flat" cmpd="sng" algn="ctr">
                      <a:solidFill>
                        <a:srgbClr val="D3DDD7"/>
                      </a:solidFill>
                      <a:prstDash val="solid"/>
                      <a:round/>
                      <a:headEnd type="none" w="med" len="med"/>
                      <a:tailEnd type="none" w="med" len="med"/>
                    </a:lnR>
                    <a:lnT w="6350" cap="flat" cmpd="sng" algn="ctr">
                      <a:solidFill>
                        <a:srgbClr val="D3DDD7"/>
                      </a:solidFill>
                      <a:prstDash val="solid"/>
                      <a:round/>
                      <a:headEnd type="none" w="med" len="med"/>
                      <a:tailEnd type="none" w="med" len="med"/>
                    </a:lnT>
                    <a:lnB w="6350" cap="flat" cmpd="sng" algn="ctr">
                      <a:solidFill>
                        <a:srgbClr val="D3DDD7"/>
                      </a:solidFill>
                      <a:prstDash val="solid"/>
                      <a:round/>
                      <a:headEnd type="none" w="med" len="med"/>
                      <a:tailEnd type="none" w="med" len="med"/>
                    </a:lnB>
                  </a:tcPr>
                </a:tc>
              </a:tr>
            </a:tbl>
          </a:graphicData>
        </a:graphic>
      </p:graphicFrame>
      <p:sp>
        <p:nvSpPr>
          <p:cNvPr id="6" name="Text 3"/>
          <p:cNvSpPr/>
          <p:nvPr/>
        </p:nvSpPr>
        <p:spPr>
          <a:xfrm>
            <a:off x="411480" y="6455664"/>
            <a:ext cx="2743200" cy="237744"/>
          </a:xfrm>
          <a:prstGeom prst="rect">
            <a:avLst/>
          </a:prstGeom>
          <a:noFill/>
          <a:ln/>
        </p:spPr>
        <p:txBody>
          <a:bodyPr wrap="square" lIns="0" tIns="0" rIns="0" bIns="0" rtlCol="0" anchor="ctr"/>
          <a:lstStyle/>
          <a:p>
            <a:pPr algn="l" indent="0" marL="0">
              <a:buNone/>
            </a:pPr>
            <a:r>
              <a:rPr lang="en-US" sz="800" dirty="0">
                <a:solidFill>
                  <a:srgbClr val="9AA6A0"/>
                </a:solidFill>
                <a:latin typeface="Arial" pitchFamily="34" charset="0"/>
                <a:ea typeface="Arial" pitchFamily="34" charset="-122"/>
                <a:cs typeface="Arial" pitchFamily="34" charset="-120"/>
              </a:rPr>
              <a:t>Internal / Interne</a:t>
            </a:r>
            <a:endParaRPr lang="en-US" sz="800" dirty="0"/>
          </a:p>
        </p:txBody>
      </p:sp>
      <p:sp>
        <p:nvSpPr>
          <p:cNvPr id="7" name="Text 4"/>
          <p:cNvSpPr/>
          <p:nvPr/>
        </p:nvSpPr>
        <p:spPr>
          <a:xfrm>
            <a:off x="10863072" y="6455664"/>
            <a:ext cx="914400" cy="237744"/>
          </a:xfrm>
          <a:prstGeom prst="rect">
            <a:avLst/>
          </a:prstGeom>
          <a:noFill/>
          <a:ln/>
        </p:spPr>
        <p:txBody>
          <a:bodyPr wrap="square" lIns="0" tIns="0" rIns="0" bIns="0" rtlCol="0" anchor="ctr"/>
          <a:lstStyle/>
          <a:p>
            <a:pPr algn="r" indent="0" marL="0">
              <a:buNone/>
            </a:pPr>
            <a:r>
              <a:rPr lang="en-US" sz="800" dirty="0">
                <a:solidFill>
                  <a:srgbClr val="9AA6A0"/>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GTS Vendor Expense - Current EMS Flow and USF Consolidated Flow</dc:title>
  <dc:subject>PptxGenJS Presentation</dc:subject>
  <dc:creator>Ricky Zaman</dc:creator>
  <cp:lastModifiedBy>Ricky Zaman</cp:lastModifiedBy>
  <cp:revision>1</cp:revision>
  <dcterms:created xsi:type="dcterms:W3CDTF">2026-08-22T14:01:09Z</dcterms:created>
  <dcterms:modified xsi:type="dcterms:W3CDTF">2026-08-22T14:01:09Z</dcterms:modified>
</cp:coreProperties>
</file>