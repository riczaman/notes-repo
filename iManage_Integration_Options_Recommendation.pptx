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Options 1 and 2 are both Azure-native and both credible. The choice between them is whether the decoupling of Service Bus is worth the extra build for two consumers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challenged on Service Bus: it is not being ruled out, it is being deferred. Adding a topic later does not change the poller, the canonical model or the SQL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ASSESSMENT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move matter data from iManage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deliver the same outcome. They differ in what TD builds, what TD runs, and how easily a third consumer can be added.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2713482" cy="4773168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36192"/>
            <a:ext cx="2713482" cy="841248"/>
          </a:xfrm>
          <a:prstGeom prst="roundRect">
            <a:avLst>
              <a:gd name="adj" fmla="val 6522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91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8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7512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Functions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Azure SQL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2713482" cy="274320"/>
          </a:xfrm>
          <a:prstGeom prst="rect">
            <a:avLst/>
          </a:prstGeom>
          <a:solidFill>
            <a:srgbClr val="EAF3EA"/>
          </a:solidFill>
          <a:ln w="12700">
            <a:solidFill>
              <a:srgbClr val="EAF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2713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7512" y="2724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change-event queue → Azure Function → Azure SQL → Exterro / TyMetrix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7512" y="32186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7512" y="341071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Vendor's own pattern — Kroll builds and supports this today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iManage change-event queue instead of rescanning workspaces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holds the queue position and per-matter status, and doubles as a reporting source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resuming from the stored Queue ID, not a full reconciliation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809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32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7512" y="5001768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development and ongoing TD support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retention and recovery behaviour still to be proven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data in Azure SQL brings governance and retention obligations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retry logic is written by TD rather than configured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26130" y="1536192"/>
            <a:ext cx="2713482" cy="4773168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26130" y="1536192"/>
            <a:ext cx="2713482" cy="841248"/>
          </a:xfrm>
          <a:prstGeom prst="roundRect">
            <a:avLst>
              <a:gd name="adj" fmla="val 6522"/>
            </a:avLst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0722" y="1591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8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90722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Functions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Service Bus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26130" y="2377440"/>
            <a:ext cx="2713482" cy="274320"/>
          </a:xfrm>
          <a:prstGeom prst="rect">
            <a:avLst/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6130" y="2377440"/>
            <a:ext cx="2713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STRONG, BUT MORE THAN WE NEED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90722" y="2724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→ Azure Function → Service Bus topic → per-application adapters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90722" y="32186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90722" y="341071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decoupling and failure isolation between targets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Per-message retry and dead-letter handling out of the box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path to a third and fourth downstream application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long-term integration platform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90722" y="4809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32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90722" y="5001768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components to build, secure, review and support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development cost for two consumers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Diverges from the pattern the vendor supports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added later without redesigning the function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49340" y="1536192"/>
            <a:ext cx="2713482" cy="4773168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9340" y="1536192"/>
            <a:ext cx="2713482" cy="841248"/>
          </a:xfrm>
          <a:prstGeom prst="roundRect">
            <a:avLst>
              <a:gd name="adj" fmla="val 6522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3932" y="1591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8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13932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49340" y="2377440"/>
            <a:ext cx="2713482" cy="274320"/>
          </a:xfrm>
          <a:prstGeom prst="rect">
            <a:avLst/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9340" y="2377440"/>
            <a:ext cx="2713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13932" y="2724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→ ADF pipeline → transform → Exterro / TyMetrix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13932" y="32186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13932" y="341071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stand up and low-code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Azure service with existing TD skills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initial development effort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13932" y="4809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32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13932" y="5001768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ETL tool doing application integration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2–5 minute poll is roughly 20,000 pipeline runs a month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activities, not records, so per-matter status is hand-built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ends up embedded in pipelines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extend as consumers are added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972550" y="1536192"/>
            <a:ext cx="2713482" cy="4773168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972550" y="1536192"/>
            <a:ext cx="2713482" cy="841248"/>
          </a:xfrm>
          <a:prstGeom prst="roundRect">
            <a:avLst>
              <a:gd name="adj" fmla="val 6522"/>
            </a:avLst>
          </a:prstGeom>
          <a:solidFill>
            <a:srgbClr val="A32015"/>
          </a:solidFill>
          <a:ln w="12700">
            <a:solidFill>
              <a:srgbClr val="A320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37142" y="1591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8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137142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AutoSys + Mid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+ NAS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972550" y="2377440"/>
            <a:ext cx="2713482" cy="274320"/>
          </a:xfrm>
          <a:prstGeom prst="rect">
            <a:avLst/>
          </a:prstGeom>
          <a:solidFill>
            <a:srgbClr val="FAE6E3"/>
          </a:solidFill>
          <a:ln w="12700">
            <a:solidFill>
              <a:srgbClr val="FAE6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72550" y="2377440"/>
            <a:ext cx="2713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A32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137142" y="2724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AutoSys job → iManage API → file on NAS → jobs to Exterro / TyMetrix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137142" y="32186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137142" y="341071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 TD scheduling and monitoring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incident creation on failure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team already supports the platform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Azure development effort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137142" y="4809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32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137142" y="5001768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legal content written to file storage — additional security review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creation and transformation still has to be built somewhere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Point-to-point, not a reusable integration platform</a:t>
            </a:r>
            <a:endParaRPr lang="en-US" sz="850" dirty="0"/>
          </a:p>
          <a:p>
            <a:pPr marL="342900" indent="-342900">
              <a:lnSpc>
                <a:spcPts val="1088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operational moving parts, and harder to add consumers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2920" y="64922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Functions + Azure SQL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design that meets the requirement, and the one the vendor already builds and supports.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EAF3EA"/>
          </a:solidFill>
          <a:ln w="12700">
            <a:solidFill>
              <a:srgbClr val="EA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813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the iManage change-event queue from an Azure Function, hold the queue position and per-matter delivery status in Azure SQL, and push to Exterro and TyMetrix. Service Bus can be added later if more consumers appear.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1965960" cy="713232"/>
          </a:xfrm>
          <a:prstGeom prst="roundRect">
            <a:avLst>
              <a:gd name="adj" fmla="val 6410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331720"/>
            <a:ext cx="196596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</a:t>
            </a:r>
            <a:endParaRPr lang="en-US" sz="950" dirty="0"/>
          </a:p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change-event queue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2688336"/>
            <a:ext cx="27432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98064" y="2331720"/>
            <a:ext cx="1965960" cy="713232"/>
          </a:xfrm>
          <a:prstGeom prst="roundRect">
            <a:avLst>
              <a:gd name="adj" fmla="val 6410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98064" y="2331720"/>
            <a:ext cx="196596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Function</a:t>
            </a:r>
            <a:endParaRPr lang="en-US" sz="950" dirty="0"/>
          </a:p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· OAuth2 · backoff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82312" y="2688336"/>
            <a:ext cx="27432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3208" y="2331720"/>
            <a:ext cx="1965960" cy="713232"/>
          </a:xfrm>
          <a:prstGeom prst="roundRect">
            <a:avLst>
              <a:gd name="adj" fmla="val 6410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93208" y="2331720"/>
            <a:ext cx="196596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model</a:t>
            </a:r>
            <a:endParaRPr lang="en-US" sz="950" dirty="0"/>
          </a:p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map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77456" y="2688336"/>
            <a:ext cx="27432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88352" y="2331720"/>
            <a:ext cx="1965960" cy="713232"/>
          </a:xfrm>
          <a:prstGeom prst="roundRect">
            <a:avLst>
              <a:gd name="adj" fmla="val 6410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88352" y="2331720"/>
            <a:ext cx="196596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</a:t>
            </a:r>
            <a:endParaRPr lang="en-US" sz="950" dirty="0"/>
          </a:p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ID · delivery status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72600" y="2688336"/>
            <a:ext cx="27432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83496" y="2331720"/>
            <a:ext cx="1965960" cy="713232"/>
          </a:xfrm>
          <a:prstGeom prst="roundRect">
            <a:avLst>
              <a:gd name="adj" fmla="val 6410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83496" y="2331720"/>
            <a:ext cx="196596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Exterro</a:t>
            </a:r>
            <a:endParaRPr lang="en-US" sz="950" dirty="0"/>
          </a:p>
          <a:p>
            <a:pPr algn="ctr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TyMetrix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" y="3346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" y="36393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Vendor-supported pattern. 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Kroll builds this today, which is what makes their 4–5 week development estimate credible.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8952" y="404164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change-event queue does the hard part. 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keeps an ordered queue of changes; we persist the Queue ID and resume from it. No workspace rescanning.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8952" y="44439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earns its place twice. 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position and per-matter delivery status, plus a reporting and audit source.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8952" y="48463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design that meets the need. 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buys decoupling we do not need for two consumers, and can be added later.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9632" y="32461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55664" y="3346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vendor has confirmed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55664" y="3639312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events retrieved from the /change-events endpoint; initial load from the workspaces endpoint</a:t>
            </a:r>
            <a:endParaRPr lang="en-US" sz="900" dirty="0"/>
          </a:p>
          <a:p>
            <a:pPr marL="342900" indent="-342900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password grant with a client ID, secret and a dedicated iManage service account; tokens refreshed on expiry</a:t>
            </a:r>
            <a:endParaRPr lang="en-US" sz="900" dirty="0"/>
          </a:p>
          <a:p>
            <a:pPr marL="342900" indent="-342900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frequency is configurable and independent of the Queue ID, which must be persisted in SQL</a:t>
            </a:r>
            <a:endParaRPr lang="en-US" sz="900" dirty="0"/>
          </a:p>
          <a:p>
            <a:pPr marL="342900" indent="-342900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throttles its API and returns a specific response, so retry and backoff are required</a:t>
            </a:r>
            <a:endParaRPr lang="en-US" sz="900" dirty="0"/>
          </a:p>
          <a:p>
            <a:pPr marL="342900" indent="-342900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failure, restart on the same Queue ID and continue. Only a lost Queue ID forces a full re-collection.</a:t>
            </a:r>
            <a:endParaRPr lang="en-US" sz="900" dirty="0"/>
          </a:p>
          <a:p>
            <a:pPr marL="342900" indent="-342900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exist but cover user audit events only, so polling remains necessary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5376672"/>
            <a:ext cx="11183112" cy="932688"/>
          </a:xfrm>
          <a:prstGeom prst="roundRect">
            <a:avLst>
              <a:gd name="adj" fmla="val 5882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8952" y="5449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before build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8952" y="5687568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and OAuth2 password grant. 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grant type requires an account that is not federated to an external identity provider. TD Security has to approve this before design is baselined — it is the item most likely to force a change.     </a:t>
            </a:r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retention. 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iManage holds events sets how long we can be down before a full re-collection is needed.     </a:t>
            </a:r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governance. 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and classification for matter data held in Azure SQL.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iManage Integration Module - Options Assessment</dc:title>
  <dc:subject>PptxGenJS Presentation</dc:subject>
  <dc:creator>Technology Solutions</dc:creator>
  <cp:lastModifiedBy>Technology Solutions</cp:lastModifiedBy>
  <cp:revision>1</cp:revision>
  <dcterms:created xsi:type="dcterms:W3CDTF">2026-08-13T02:09:54Z</dcterms:created>
  <dcterms:modified xsi:type="dcterms:W3CDTF">2026-08-13T02:09:54Z</dcterms:modified>
</cp:coreProperties>
</file>