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 builds the code</c:v>
                </c:pt>
              </c:strCache>
            </c:strRef>
          </c:tx>
          <c:spPr>
            <a:solidFill>
              <a:srgbClr val="008A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Hypercare</c:v>
                  </c:pt>
                  <c:pt idx="1">
                    <c:v>Testing &amp; UAT</c:v>
                  </c:pt>
                  <c:pt idx="2">
                    <c:v>Deployment</c:v>
                  </c:pt>
                  <c:pt idx="3">
                    <c:v>Vendor code handover</c:v>
                  </c:pt>
                  <c:pt idx="4">
                    <c:v>Code build (on critical path)</c:v>
                  </c:pt>
                  <c:pt idx="5">
                    <c:v>Azure environment</c:v>
                  </c:pt>
                  <c:pt idx="6">
                    <c:v>Design &amp; discovery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5.5</c:v>
                </c:pt>
                <c:pt idx="2">
                  <c:v>2.5</c:v>
                </c:pt>
                <c:pt idx="3">
                  <c:v>0</c:v>
                </c:pt>
                <c:pt idx="4">
                  <c:v>0.5</c:v>
                </c:pt>
                <c:pt idx="5">
                  <c:v>8</c:v>
                </c:pt>
                <c:pt idx="6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Kroll builds and hands over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Hypercare</c:v>
                  </c:pt>
                  <c:pt idx="1">
                    <c:v>Testing &amp; UAT</c:v>
                  </c:pt>
                  <c:pt idx="2">
                    <c:v>Deployment</c:v>
                  </c:pt>
                  <c:pt idx="3">
                    <c:v>Vendor code handover</c:v>
                  </c:pt>
                  <c:pt idx="4">
                    <c:v>Code build (on critical path)</c:v>
                  </c:pt>
                  <c:pt idx="5">
                    <c:v>Azure environment</c:v>
                  </c:pt>
                  <c:pt idx="6">
                    <c:v>Design &amp; discovery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6.5</c:v>
                </c:pt>
                <c:pt idx="2">
                  <c:v>2.5</c:v>
                </c:pt>
                <c:pt idx="3">
                  <c:v>3</c:v>
                </c:pt>
                <c:pt idx="4">
                  <c:v>0</c:v>
                </c:pt>
                <c:pt idx="5">
                  <c:v>8</c:v>
                </c:pt>
                <c:pt idx="6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1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1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A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F68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5F6F68"/>
                    </a:solidFill>
                    <a:latin typeface="Calibri"/>
                  </a:rPr>
                  <a:t>Elapsed weeks on the critical path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6211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integration work is not in the approved plan. Three things to land today - the work required, the schedule impact, and who writes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this is not a design preference. Without the middleware there is no data flow at all between iManage and the downstream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challenged on cost: the alternative designs still need the same IAP, PID, CSP review, CIDR, firewall and ARE deployment. The infrastructure runway does not shrink with a simpler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on. The decision should be made on capability and long-term supportability, not on schedule - because the schedule barely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463040"/>
            <a:ext cx="6583680" cy="6583680"/>
          </a:xfrm>
          <a:prstGeom prst="roundRect">
            <a:avLst>
              <a:gd name="adj" fmla="val 6944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3108960"/>
            <a:ext cx="4572000" cy="4572000"/>
          </a:xfrm>
          <a:prstGeom prst="roundRect">
            <a:avLst>
              <a:gd name="adj" fmla="val 10000"/>
            </a:avLst>
          </a:prstGeom>
          <a:solidFill>
            <a:srgbClr val="0D6B45"/>
          </a:solidFill>
          <a:ln w="12700">
            <a:solidFill>
              <a:srgbClr val="0D6B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008A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11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F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SOLUTIONS  |  FOR DISCUSSION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22128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 Integration Module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71600" y="31272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technology development work, effort and timeline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71600" y="3675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 →  Exterro  /  TyMetrix   ·   Azure integration platform   ·   Build-vs-vendor 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434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371600" y="5010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added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project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4434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703320" y="5010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for the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environment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4434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5040" y="5010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OF THIS SESSION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land today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items. The first three are context; the last two are decisions that change the plan.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1118311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8745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2728" y="1746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middleware module is unavoidable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52728" y="204825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cannot call out. Exterro and TyMetrix cannot pull. Something in the middle has to push.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1118311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8952" y="28072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52728" y="2679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platform looks like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52728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and Service Bus for operational integration; Data Factory for the migration.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93008"/>
            <a:ext cx="1118311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373989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52728" y="36118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has to happen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52728" y="39136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environment, build, deploy, test, support — full step list with owners and durations.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425696"/>
            <a:ext cx="11183112" cy="804672"/>
          </a:xfrm>
          <a:prstGeom prst="roundRect">
            <a:avLst>
              <a:gd name="adj" fmla="val 6818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467258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672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52728" y="45445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time this adds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52728" y="48463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 6 months, and roughly half of it is environment provisioning, not coding.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358384"/>
            <a:ext cx="11183112" cy="804672"/>
          </a:xfrm>
          <a:prstGeom prst="roundRect">
            <a:avLst>
              <a:gd name="adj" fmla="val 6818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" y="56052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A32015"/>
          </a:solidFill>
          <a:ln w="12700">
            <a:solidFill>
              <a:srgbClr val="A3201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52728" y="54772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writes the code — TD or Kroll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52728" y="57790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point. Infrastructure, deployment and support stay with TD either way.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middleware module is unavoidable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systems can move data on their own. This is an architectural constraint, not a preference.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2286000" cy="1051560"/>
          </a:xfrm>
          <a:prstGeom prst="roundRect">
            <a:avLst>
              <a:gd name="adj" fmla="val 4348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22860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</a:t>
            </a:r>
            <a:endParaRPr lang="en-US" sz="1250" dirty="0"/>
          </a:p>
          <a:p>
            <a:pPr algn="ctr" indent="0" marL="0">
              <a:lnSpc>
                <a:spcPts val="1563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system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60520" y="187452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60520" y="1874520"/>
            <a:ext cx="32004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TD-hosted</a:t>
            </a:r>
            <a:endParaRPr lang="en-US" sz="1300" dirty="0"/>
          </a:p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module</a:t>
            </a:r>
            <a:endParaRPr lang="en-US" sz="1300" dirty="0"/>
          </a:p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(Azure)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41732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0" y="242316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0" y="2423160"/>
            <a:ext cx="27432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TyMetrix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0" y="342900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downstream apps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35808" y="2578608"/>
            <a:ext cx="1078992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971800" y="2231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for change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06640" y="2377440"/>
            <a:ext cx="1234440" cy="-530352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2578608"/>
            <a:ext cx="1234440" cy="27432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2788920"/>
            <a:ext cx="1234440" cy="960120"/>
          </a:xfrm>
          <a:prstGeom prst="line">
            <a:avLst/>
          </a:prstGeom>
          <a:noFill/>
          <a:ln w="25400">
            <a:solidFill>
              <a:srgbClr val="C9D8CD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36092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35295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event triggers and no ability to call outbound APIs. It exposes an endpoint that can be pinged — nothing more.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4434840"/>
            <a:ext cx="35295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07992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Exterro &amp; TyMetrix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07992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send or request data. Both support batch intake, but something still has to assemble and deliver the batch.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55864" y="4434840"/>
            <a:ext cx="3529584" cy="1600200"/>
          </a:xfrm>
          <a:prstGeom prst="roundRect">
            <a:avLst>
              <a:gd name="adj" fmla="val 3429"/>
            </a:avLst>
          </a:prstGeom>
          <a:solidFill>
            <a:srgbClr val="EAF3EA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84464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consequence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84464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TD-hosted middleware module is the only mechanism that moves matter data between the three systems.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ADDITIONAL 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phases of work, only one of which is coding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 applies only if Kroll writes the code. Everything else happens regardless.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481328" cy="1572768"/>
          </a:xfrm>
          <a:prstGeom prst="roundRect">
            <a:avLst>
              <a:gd name="adj" fmla="val 4321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47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8712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39696" y="1737360"/>
            <a:ext cx="1481328" cy="1572768"/>
          </a:xfrm>
          <a:prstGeom prst="roundRect">
            <a:avLst>
              <a:gd name="adj" fmla="val 4321"/>
            </a:avLst>
          </a:prstGeom>
          <a:solidFill>
            <a:srgbClr val="00432A"/>
          </a:solidFill>
          <a:ln w="12700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39696" y="1847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39696" y="22311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39696" y="28712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9–16 wks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02736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76472" y="1737360"/>
            <a:ext cx="1481328" cy="1572768"/>
          </a:xfrm>
          <a:prstGeom prst="roundRect">
            <a:avLst>
              <a:gd name="adj" fmla="val 4321"/>
            </a:avLst>
          </a:prstGeom>
          <a:solidFill>
            <a:srgbClr val="4C9E4C"/>
          </a:solidFill>
          <a:ln w="12700">
            <a:solidFill>
              <a:srgbClr val="4C9E4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76472" y="1847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76472" y="22311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76472" y="28712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39512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13248" y="1737360"/>
            <a:ext cx="1481328" cy="1572768"/>
          </a:xfrm>
          <a:prstGeom prst="roundRect">
            <a:avLst>
              <a:gd name="adj" fmla="val 4321"/>
            </a:avLst>
          </a:prstGeom>
          <a:solidFill>
            <a:srgbClr val="A32015"/>
          </a:solidFill>
          <a:ln w="12700">
            <a:solidFill>
              <a:srgbClr val="A3201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13248" y="1847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13248" y="22311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13248" y="28712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050024" y="1737360"/>
            <a:ext cx="1481328" cy="1572768"/>
          </a:xfrm>
          <a:prstGeom prst="roundRect">
            <a:avLst>
              <a:gd name="adj" fmla="val 4321"/>
            </a:avLst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50024" y="1847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050024" y="22311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&amp; PROD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050024" y="28712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13064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686800" y="1737360"/>
            <a:ext cx="1481328" cy="1572768"/>
          </a:xfrm>
          <a:prstGeom prst="roundRect">
            <a:avLst>
              <a:gd name="adj" fmla="val 4321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0" y="1847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686800" y="22311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UAT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86800" y="28712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wks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49840" y="2286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323576" y="1737360"/>
            <a:ext cx="1481328" cy="1572768"/>
          </a:xfrm>
          <a:prstGeom prst="roundRect">
            <a:avLst>
              <a:gd name="adj" fmla="val 4321"/>
            </a:avLst>
          </a:prstGeom>
          <a:solidFill>
            <a:srgbClr val="4C9E4C"/>
          </a:solidFill>
          <a:ln w="12700">
            <a:solidFill>
              <a:srgbClr val="4C9E4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323576" y="18470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323576" y="22311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Hypercare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run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323576" y="28712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3364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32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·  Kroll option only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3977640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31520" y="418795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432A"/>
          </a:solidFill>
          <a:ln w="12700">
            <a:solidFill>
              <a:srgbClr val="0043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setup is the critical path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5212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is 35–40% of the added schedule and is identical no matter who writes the code.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79392" y="3977640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07992" y="418795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07992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07992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runs in parallel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07992" y="5212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 sits alongside Phase B, so the build barely reaches the critical path at all.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055864" y="3977640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284464" y="418795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A32015"/>
          </a:solidFill>
          <a:ln w="12700">
            <a:solidFill>
              <a:srgbClr val="A3201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84464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284464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32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Phase C changes with the vendor decision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284464" y="5212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Phase D — the handover it creates — costs more than Phase C saves.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recommended Azure integration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workloads, deliberately separated: operational integration, and the Team Connect migration.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83112" cy="2514600"/>
          </a:xfrm>
          <a:prstGeom prst="roundRect">
            <a:avLst>
              <a:gd name="adj" fmla="val 2909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INTEGRATION  —  Azure Functions + Service Bus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1508760" cy="777240"/>
          </a:xfrm>
          <a:prstGeom prst="roundRect">
            <a:avLst>
              <a:gd name="adj" fmla="val 5882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08483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2084832"/>
            <a:ext cx="1737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poller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7480" y="26517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Mgmt: manual sync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14884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008A00"/>
          </a:solidFill>
          <a:ln w="15875">
            <a:solidFill>
              <a:srgbClr val="008A0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Functions:</a:t>
            </a:r>
            <a:endParaRPr lang="en-US" sz="1050" dirty="0"/>
          </a:p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214884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Bus</a:t>
            </a:r>
            <a:endParaRPr lang="en-US" sz="1050" dirty="0"/>
          </a:p>
          <a:p>
            <a:pPr algn="ctr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matter-events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1847088"/>
            <a:ext cx="2331720" cy="411480"/>
          </a:xfrm>
          <a:prstGeom prst="roundRect">
            <a:avLst>
              <a:gd name="adj" fmla="val 11111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Exterro adapter  →  Exterro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2377440"/>
            <a:ext cx="2331720" cy="411480"/>
          </a:xfrm>
          <a:prstGeom prst="roundRect">
            <a:avLst>
              <a:gd name="adj" fmla="val 11111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0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TyMetrix adapter  →  TyMetrix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0" y="2907792"/>
            <a:ext cx="23317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0" y="2907792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adapters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04288" y="2542032"/>
            <a:ext cx="36576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453128" y="2542032"/>
            <a:ext cx="36576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01968" y="2542032"/>
            <a:ext cx="365760" cy="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50808" y="2377440"/>
            <a:ext cx="365760" cy="-32004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50808" y="2542032"/>
            <a:ext cx="365760" cy="45720"/>
          </a:xfrm>
          <a:prstGeom prst="line">
            <a:avLst/>
          </a:prstGeom>
          <a:noFill/>
          <a:ln w="25400">
            <a:solidFill>
              <a:srgbClr val="4C9E4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50808" y="2697480"/>
            <a:ext cx="365760" cy="411480"/>
          </a:xfrm>
          <a:prstGeom prst="line">
            <a:avLst/>
          </a:prstGeom>
          <a:noFill/>
          <a:ln w="25400">
            <a:solidFill>
              <a:srgbClr val="C9D8CD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31520" y="3520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services:  Azure SQL (integration state and idempotency)  ·  Key Vault (secrets)  ·  Application Insights and Azure Monitor (observability)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224528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E4EEF2"/>
          </a:solidFill>
          <a:ln w="12700">
            <a:solidFill>
              <a:srgbClr val="C9D8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315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  —  Azure Data Factory  (see the migration workbook)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470916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" y="470916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Connect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(SQL / Oracle / blob)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15768" y="5074920"/>
            <a:ext cx="256032" cy="0"/>
          </a:xfrm>
          <a:prstGeom prst="line">
            <a:avLst/>
          </a:prstGeom>
          <a:noFill/>
          <a:ln w="25400">
            <a:solidFill>
              <a:srgbClr val="1F4E5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990088" y="470916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90088" y="470916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Factory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transform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28616" y="5074920"/>
            <a:ext cx="256032" cy="0"/>
          </a:xfrm>
          <a:prstGeom prst="line">
            <a:avLst/>
          </a:prstGeom>
          <a:noFill/>
          <a:ln w="25400">
            <a:solidFill>
              <a:srgbClr val="1F4E5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202936" y="470916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202936" y="470916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ADLS / Blob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→ CURATED → READY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41464" y="5074920"/>
            <a:ext cx="256032" cy="0"/>
          </a:xfrm>
          <a:prstGeom prst="line">
            <a:avLst/>
          </a:prstGeom>
          <a:noFill/>
          <a:ln w="25400">
            <a:solidFill>
              <a:srgbClr val="1F4E5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415784" y="470916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1F4E5F"/>
          </a:solidFill>
          <a:ln w="15875">
            <a:solidFill>
              <a:srgbClr val="1F4E5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15784" y="470916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 staging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354312" y="5074920"/>
            <a:ext cx="256032" cy="0"/>
          </a:xfrm>
          <a:prstGeom prst="line">
            <a:avLst/>
          </a:prstGeom>
          <a:noFill/>
          <a:ln w="25400">
            <a:solidFill>
              <a:srgbClr val="1F4E5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628632" y="470916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00432A"/>
          </a:solidFill>
          <a:ln w="15875">
            <a:solidFill>
              <a:srgbClr val="00432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628632" y="470916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iManage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waves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58064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 use Azure Data Factory for data pipelines and migration; use Azure Functions and Service Bus for operational application integration.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RATIONALE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Azure Data Factory is not the middleware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is the right tool for the migration and the wrong tool for the operational integration.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E4EEF2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Factory is built for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 and ETL / ELT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and transformation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 on a schedule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databases, storage and data platforms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Team Connect migration workload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627632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 needs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3952" y="2212848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polling and stateful change detection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processing and at-least-once delivery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Per-application retry, dead-letter and replay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downstream processing and business logic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downstream apps added without touching the source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83480"/>
            <a:ext cx="11183112" cy="1051560"/>
          </a:xfrm>
          <a:prstGeom prst="roundRect">
            <a:avLst>
              <a:gd name="adj" fmla="val 5217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5138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mode: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86000" y="5102352"/>
            <a:ext cx="928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Factory pipeline that calls Exterro, then TyMetrix, then the next application, gradually absorbs every application's mapping, retry behaviour, error handling and routing. An ETL orchestration service quietly becomes a custom integration platform — one that has to be redesigned every time an application is added.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RIGHT-SIZING THE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over-engineered?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challenge. The answer is no — but the MVP should be smaller than the target 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92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now — the MVP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— poller, normalizer, two adapters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topic with a subscription per application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for integration state and idempotency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for credentials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for monitoring and alerting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627632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1792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until it is needed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3952" y="2212848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— only if manual sync from the iManage UI is a day-one requirement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Factory, ADLS and staging SQL — provisioned with the platform, built when migration starts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downstream adapters — one Service Bus subscription each, added on demand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663440"/>
            <a:ext cx="11183112" cy="1371600"/>
          </a:xfrm>
          <a:prstGeom prst="roundRect">
            <a:avLst>
              <a:gd name="adj" fmla="val 4000"/>
            </a:avLst>
          </a:prstGeom>
          <a:solidFill>
            <a:srgbClr val="EAF3EA"/>
          </a:solidFill>
          <a:ln w="12700">
            <a:solidFill>
              <a:srgbClr val="EA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4791456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over-engineered. The MVP is five managed services with no servers to run, and it is close to the minimum that supports retry, replay and a second downstream application. The genuine cost here is the environment runway, and that cost is identical for a simple design and a scalable one — so a design that cannot absorb the third and fourth downstream application would mean paying the runway twice. Trim API Management out of the MVP if manual sync can wait; keep the rest.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PATH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Azure environment runway: 2 to 4 months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end to end, and identical whether TD or Kroll writes the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6420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IAP · Infrastructure Architect assigned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66420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6712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6712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16712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and Cloud team produce the PID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6712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7004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67004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review of the PID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67004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BEFD9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7296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17296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CSP review — Cloud, Network, Privacy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17296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wks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7588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7588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7588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profile and subscription onboarding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7588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17880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7880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1788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/ subnet allocation, per environment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17880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 each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9632" y="166420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66420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02552" y="16642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provisioning for cloud infrastructure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43032" y="166420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9632" y="216712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16712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02552" y="216712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requests — PAT and PROD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43032" y="216712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SLA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99632" y="267004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267004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02552" y="267004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infrastructure deployment by ARE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43032" y="267004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days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9632" y="317296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317296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02552" y="317296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infrastructure deployment by ARE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43032" y="317296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days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99632" y="367588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367588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02552" y="367588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Vault, managed identity, secrets onboarding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43032" y="367588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1–1.5 wks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99632" y="4178808"/>
            <a:ext cx="5486400" cy="429768"/>
          </a:xfrm>
          <a:prstGeom prst="roundRect">
            <a:avLst>
              <a:gd name="adj" fmla="val 10638"/>
            </a:avLst>
          </a:prstGeom>
          <a:solidFill>
            <a:srgbClr val="F5FAF6"/>
          </a:solidFill>
          <a:ln w="9525">
            <a:solidFill>
              <a:srgbClr val="C9D8C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178808"/>
            <a:ext cx="365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02552" y="417880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validation and connectivity proving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543032" y="417880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wks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4892040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EAF3EA"/>
          </a:solidFill>
          <a:ln w="12700">
            <a:solidFill>
              <a:srgbClr val="EA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77240" y="5029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– 16 weeks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3200400" y="50292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plan; 22 weeks is the downside. Starting at week 1 it overlaps design and the build, so 6–10 weeks land on the critical path.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99632" y="489204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473952" y="5010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now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473952" y="52852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Data Factory, ADLS/Blob and the Azure SQL staging database in this PID. Adding them after the PID is baselined costs 6–10 weeks of rework.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BREAKDOWN  ·  1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 design, discovery and environment setup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 both build options. Kroll is engaged as the iManage subject-matter expert throughout Phase A.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3112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2286000"/>
                <a:gridCol w="1234440"/>
                <a:gridCol w="2267712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Elapsed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/ dependency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</a:tr>
              <a:tr h="32461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3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A  —  DESIGN &amp; DISCOVERY   (4–6 weeks)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integration scope and downstream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BA + app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kickoff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iManage API discovery — endpoints, auth, rate limits, change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Kroll (SME) + 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Kroll SME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Field-level mapping: iManage → canonical model → Exterro / TyMetrix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+ Kroll + vendors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Scope, API 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design: polling, watermark, idempotency, retry, replay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Architecture + Kroll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review and design sign-off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 / contract change with Kroll  (Kroll option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Sourcing + Legal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3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B  —  AZURE ENVIRONMENT SETUP   (9–16 weeks · starts at week 1, alongside design)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IAP submission, PID production, architecture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Infra + IA +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Funded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CSP security review — Cloud, Network, Privacy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Network / Privacy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issued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profile onboarding, CIDR allocation, AD group provisioning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+ Network + IAM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passed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requests and ARE deployment — PAT then 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+ 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 approved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Vault, managed identity, observability, connectivity 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BREAKDOWN  ·  2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 code build and vendor handover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 is the only phase the build decision changes. Phase D exists only if Kroll writes the code.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8311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468880"/>
                <a:gridCol w="1234440"/>
                <a:gridCol w="1627632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Elapsed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critical path?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</a:tr>
              <a:tr h="288036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3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C  —  CODE BUILD   (TD 6–8 weeks  ·  Kroll 4–5 weeks  ·  runs in parallel with Phase 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Repository, CI/CD pipeline and infrastructure-as-code templates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 (TD-owned either way)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iManage poller: watermark, pagination, throttling, change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 matter model, normalizer and validation 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Bus topic, subscriptions, dead-letter and retry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 wk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Exterro adapter — mapping, API calls, error handling, retry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TyMetrix adapter — mapping, API calls, error handling, retry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state store: status, idempotency, correlation, replay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1–1.5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'Sync Matter' API via API Management  (deferrable)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or Kroll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instrumentation, dashboards and runbooks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1–1.5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320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D  —  VENDOR CODE HANDOVER   (4–6 weeks elapsed  ·  2–4 on the critical path  ·  Kroll option only)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E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ownership, licensing and source code escrow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Legal + Sourcing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transfer into TD repository, secrets externalised to Key 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1.5–2.5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code review, SAST / DAST / SCA scanning and remediation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Dev + Security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code risk assessment and knowledge transfer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Risk  ·  Kroll → 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BREAKDOWN  ·  3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 deployment, testing and support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TD-owned in both options. This is where a vendor-built module costs an extra round-trip on every defect.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29584" cy="379476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3529584" cy="685800"/>
          </a:xfrm>
          <a:prstGeom prst="roundRect">
            <a:avLst>
              <a:gd name="adj" fmla="val 8000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647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 Deployment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9748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wks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2542032"/>
            <a:ext cx="3017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DEV and PAT through the ARE pipeline with change tickets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fix and redeploy cycles through PAT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deployment with CAB change approval and implementation window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sequence, initial seed sync, rollback plan and runbook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1691640"/>
            <a:ext cx="3529584" cy="379476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1691640"/>
            <a:ext cx="3529584" cy="685800"/>
          </a:xfrm>
          <a:prstGeom prst="roundRect">
            <a:avLst>
              <a:gd name="adj" fmla="val 8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7647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 Testing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 wks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35424" y="2542032"/>
            <a:ext cx="3017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and integration testing in PAT against real iManage data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with Exterro and with TyMetrix (vendor coordination)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Resilience: retry, dead-letter, replay, watermark recovery, duplicates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volume testing, plus security scanning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and business sign-off from legal operations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55864" y="1691640"/>
            <a:ext cx="3529584" cy="379476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55864" y="1691640"/>
            <a:ext cx="3529584" cy="685800"/>
          </a:xfrm>
          <a:prstGeom prst="roundRect">
            <a:avLst>
              <a:gd name="adj" fmla="val 8000"/>
            </a:avLst>
          </a:prstGeom>
          <a:solidFill>
            <a:srgbClr val="4C9E4C"/>
          </a:solidFill>
          <a:ln w="12700">
            <a:solidFill>
              <a:srgbClr val="4C9E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7647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 Support &amp; run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50424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wks 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11896" y="2542032"/>
            <a:ext cx="3017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Runbooks, alert-to-ticket routing and the on-call model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model agreement — TD L1/L2 versus Kroll L3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 of hypercare after go-live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Steady-state: patching, secret rotation, downstream API version changes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70585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the second-largest block of added time, and it is unavoidable: two external vendors have to be coordinated for end-to-end validation before the business will sign off.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writes the integration code?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decision: the application code only. TD owns the infrastructure, the deployment and production support in every scenario.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621792"/>
          </a:xfrm>
          <a:prstGeom prst="roundRect">
            <a:avLst>
              <a:gd name="adj" fmla="val 8824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73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 builds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4871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 — learning curve on the iManage API and on Azure Functions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the code is written inside TD's repository from day 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7307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the team that built it supports and extends 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4352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43525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available developers with Azure Functions and C# experience?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1691640"/>
            <a:ext cx="54864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691640"/>
            <a:ext cx="5486400" cy="621792"/>
          </a:xfrm>
          <a:prstGeom prst="roundRect">
            <a:avLst>
              <a:gd name="adj" fmla="val 8824"/>
            </a:avLst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1773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62672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Kroll builds and hands over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55664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99832" y="24871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weeks — Kroll knows the iManage API and has delivered on Azure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99832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 elapsed, 2–4 on the critical path — IP terms, code transfer, TD code review, scanning, KT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55664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99832" y="37307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— TD inherits and supports code it did not write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55664" y="4352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99832" y="43525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 gate is serial, and it lands directly on the critical path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5120640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248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finding: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154680" y="52120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Kroll's two-week development advantage runs in parallel with the environment runway, so it never reaches the critical path — while the handover it creates does. Choosing Kroll to save time does not save time.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IMPACT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 build versus Kroll build, phase by phase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weeks on the critical path, using planning midpoints. Lower is better.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7635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691640"/>
            <a:ext cx="3273552" cy="1051560"/>
          </a:xfrm>
          <a:prstGeom prst="roundRect">
            <a:avLst>
              <a:gd name="adj" fmla="val 5217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41080" y="18013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 builds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41080" y="2057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21 weeks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41080" y="2423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months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12480" y="2926080"/>
            <a:ext cx="3273552" cy="1051560"/>
          </a:xfrm>
          <a:prstGeom prst="roundRect">
            <a:avLst>
              <a:gd name="adj" fmla="val 5217"/>
            </a:avLst>
          </a:prstGeom>
          <a:solidFill>
            <a:srgbClr val="F5FAF6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41080" y="30358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Kroll builds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4108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26 weeks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641080" y="3657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412480" y="4160520"/>
            <a:ext cx="3273552" cy="1051560"/>
          </a:xfrm>
          <a:prstGeom prst="roundRect">
            <a:avLst>
              <a:gd name="adj" fmla="val 5217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41080" y="42702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41080" y="4526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 weeks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641080" y="48920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Kroll's favour: none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12480" y="5394960"/>
            <a:ext cx="32735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41080" y="5486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if TD has no available developers, Option 1 gains 4–8 weeks of ramp-up and the two options converge.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F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SCHEDULE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integration adds to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842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17–26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17520" y="2093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added to go-live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17520" y="24048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to 6 months if TD writes the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9632" y="178308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9842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714232" y="2093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Azure runway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14232" y="24048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provisioning; 6–10 weeks of it on the critical path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673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017520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development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17520" y="4187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of the schedule the vendor decision changes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356616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7673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714232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handover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14232" y="4187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only if Kroll writes the code — and it is serial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34924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0D6B45"/>
          </a:solidFill>
          <a:ln w="12700">
            <a:solidFill>
              <a:srgbClr val="0D6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time is in the current project plan. The environment runway starts the day the IAP is submitted — every week that submission waits is a week added to the end date.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 — co-development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Kroll's iManage knowledge without the handover gate. This is the proposal for the team to challenge.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183112" cy="1051560"/>
          </a:xfrm>
          <a:prstGeom prst="roundRect">
            <a:avLst>
              <a:gd name="adj" fmla="val 5217"/>
            </a:avLst>
          </a:prstGeom>
          <a:solidFill>
            <a:srgbClr val="EAF3EA"/>
          </a:solidFill>
          <a:ln w="12700">
            <a:solidFill>
              <a:srgbClr val="EA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45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Kroll writes the integration code inside TD's repository and CI/CD pipeline, with TD engineers embedded from day one. TD owns the Azure infrastructure, the deployment pipeline, the production release and long-term support.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30906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3493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the real gap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" y="380390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does not yet know which iManage APIs will be used. That knowledge sits with Kroll, and this gets it into the codebase directly.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79392" y="2880360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35424" y="30906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5424" y="3493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Deletes the handover gate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35424" y="380390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 transfer, no arm's-length code review cycle, no knowledge-transfer sprint. The code never leaves TD's SDLC — saving 2–4 critical-path weeks.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55864" y="2880360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8C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30906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11896" y="3493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supportability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11896" y="380390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engineers know the code on day one of hypercare, and can add the third and fourth downstream adapter without re-engaging the vendor.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11183112" cy="1143000"/>
          </a:xfrm>
          <a:prstGeom prst="roundRect">
            <a:avLst>
              <a:gd name="adj" fmla="val 48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A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011680" y="5047488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TD developer is named to the build from the start — without that, this is just Option 2 with extra steps.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SOW fixes IP ownership, TD coding standards, test evidence requirements and a defect warranty period up front.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move these numbers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estimates assume published SLAs are met and no review cycle has to be repeated.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64208"/>
          <a:ext cx="1118311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00400"/>
                <a:gridCol w="1051560"/>
                <a:gridCol w="327355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on the schedule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A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TD developers available with Azure Functions and C# experience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4–8 weeks of ramp-up; flips the build recommendation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named resources before the build decision is made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CSP review returns material findings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rework plus a second review cycle: 3–6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Pre-socialise the design with Security, Network and Privacy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dev or sandbox subscription, so coding cannot run in 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build becomes serial behind the runway: 6–8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a development subscription in the IAP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iManage API cannot support reliable change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falls back to full scans or scheduled extracts: 3–6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with Kroll in Phase A, before the design is baselined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Factory and staging SQL left out of the initial PID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weeks of PID rework and ARE redeployment later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them to the PID scope 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time beyond published SLAs at network, IAM and ARE gates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extends the runway toward the 5-month worst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every request as early as its dependency allows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supports code it did not write (Kroll option)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mean time to repair; vendor dependency for every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320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Co-development, or a contracted L3 support agreement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Integration Module  |  Technology Solutions  |  For discussion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FD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from this meeting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11183112" cy="786384"/>
          </a:xfrm>
          <a:prstGeom prst="roundRect">
            <a:avLst>
              <a:gd name="adj" fmla="val 6977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8653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7282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writes the integration code — TD, Kroll, or co-development?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20391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SOW, the resourcing plan and the Phase A start date.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0" y="1865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7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leadership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11183112" cy="786384"/>
          </a:xfrm>
          <a:prstGeom prst="roundRect">
            <a:avLst>
              <a:gd name="adj" fmla="val 6977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27797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6426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Data Factory and the staging database in the initial PID?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0160" y="29535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6–10 weeks. The window closes when the PID goes to architecture review.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27797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7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Architect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11183112" cy="786384"/>
          </a:xfrm>
          <a:prstGeom prst="roundRect">
            <a:avLst>
              <a:gd name="adj" fmla="val 6977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36941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5570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TD developers are named, and from what date?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38679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variable in the estimate.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0" y="36941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7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manager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370832"/>
            <a:ext cx="11183112" cy="786384"/>
          </a:xfrm>
          <a:prstGeom prst="roundRect">
            <a:avLst>
              <a:gd name="adj" fmla="val 6977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46085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44714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manual sync from the iManage UI day-one or a fast-follow?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0160" y="4782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API Management is in the MVP.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0" y="4608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7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+ TD BA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285232"/>
            <a:ext cx="11183112" cy="786384"/>
          </a:xfrm>
          <a:prstGeom prst="roundRect">
            <a:avLst>
              <a:gd name="adj" fmla="val 6977"/>
            </a:avLst>
          </a:prstGeom>
          <a:solidFill>
            <a:srgbClr val="0A5738"/>
          </a:solidFill>
          <a:ln w="12700">
            <a:solidFill>
              <a:srgbClr val="0A57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55229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53858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the IAP submitted?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80160" y="56967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runway starts on this date. Every week of delay is a week on the end date.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78240" y="5522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7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2636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detail:  iManage_Integration_Module_Effort_and_Timeline.xlsx   ·   TeamConnect_to_iManage_Migration_Options_and_Effort.xlsx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iManage Integration Module - Additional Technology Work</dc:title>
  <dc:subject>PptxGenJS Presentation</dc:subject>
  <dc:creator>Technology Solutions</dc:creator>
  <cp:lastModifiedBy>Technology Solutions</cp:lastModifiedBy>
  <cp:revision>1</cp:revision>
  <dcterms:created xsi:type="dcterms:W3CDTF">2026-08-08T21:57:38Z</dcterms:created>
  <dcterms:modified xsi:type="dcterms:W3CDTF">2026-08-08T21:57:38Z</dcterms:modified>
</cp:coreProperties>
</file>