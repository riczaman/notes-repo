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parallel swimlanes: Sourcing Strategy, Tech Risk Gating, and Model Risk Assessment. All three must complete before the contract is executed.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23850"/>
            <a:ext cx="189433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0070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THIRD-PARTY RISK &amp; SOURCING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533400" y="495300"/>
            <a:ext cx="189433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3D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Onboarding a Third-Party AI Vendor</a:t>
            </a:r>
            <a:endParaRPr lang="en-US" sz="2175" dirty="0"/>
          </a:p>
        </p:txBody>
      </p:sp>
      <p:sp>
        <p:nvSpPr>
          <p:cNvPr id="4" name="Shape 2"/>
          <p:cNvSpPr/>
          <p:nvPr/>
        </p:nvSpPr>
        <p:spPr>
          <a:xfrm>
            <a:off x="533400" y="971550"/>
            <a:ext cx="17221200" cy="404813"/>
          </a:xfrm>
          <a:prstGeom prst="roundRect">
            <a:avLst>
              <a:gd name="adj" fmla="val 23529"/>
            </a:avLst>
          </a:prstGeom>
          <a:solidFill>
            <a:srgbClr val="FDF3E6"/>
          </a:solidFill>
          <a:ln w="9525">
            <a:solidFill>
              <a:srgbClr val="F0CF9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3425" y="1135856"/>
            <a:ext cx="76200" cy="76200"/>
          </a:xfrm>
          <a:prstGeom prst="ellipse">
            <a:avLst/>
          </a:prstGeom>
          <a:solidFill>
            <a:srgbClr val="8A4A12"/>
          </a:solidFill>
          <a:ln/>
        </p:spPr>
      </p:sp>
      <p:sp>
        <p:nvSpPr>
          <p:cNvPr id="6" name="Text 4"/>
          <p:cNvSpPr/>
          <p:nvPr/>
        </p:nvSpPr>
        <p:spPr>
          <a:xfrm>
            <a:off x="904875" y="1085850"/>
            <a:ext cx="85914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8A4A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After engaging SSG, the three swimlanes below can run in parallel — once all three are complete, the contract is executed.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533400" y="4362524"/>
            <a:ext cx="1714500" cy="1324868"/>
          </a:xfrm>
          <a:prstGeom prst="roundRect">
            <a:avLst>
              <a:gd name="adj" fmla="val 7189"/>
            </a:avLst>
          </a:prstGeom>
          <a:solidFill>
            <a:srgbClr val="FFFFFF"/>
          </a:solidFill>
          <a:ln w="9525">
            <a:solidFill>
              <a:srgbClr val="D7E2DC"/>
            </a:solidFill>
            <a:prstDash val="solid"/>
          </a:ln>
          <a:effectLst>
            <a:outerShdw sx="100000" sy="100000" kx="0" ky="0" algn="bl" rotWithShape="0" blurRad="19050" dist="9525" dir="5400000">
              <a:srgbClr val="0F2B22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81100" y="4505399"/>
            <a:ext cx="419100" cy="419100"/>
          </a:xfrm>
          <a:prstGeom prst="ellipse">
            <a:avLst/>
          </a:prstGeom>
          <a:solidFill>
            <a:srgbClr val="003D2B"/>
          </a:solidFill>
          <a:ln/>
        </p:spPr>
      </p:sp>
      <p:sp>
        <p:nvSpPr>
          <p:cNvPr id="9" name="Text 7"/>
          <p:cNvSpPr/>
          <p:nvPr/>
        </p:nvSpPr>
        <p:spPr>
          <a:xfrm>
            <a:off x="604838" y="5000699"/>
            <a:ext cx="157162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3D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Business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38175" y="5224537"/>
            <a:ext cx="15049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62"/>
              </a:lnSpc>
              <a:buNone/>
            </a:pPr>
            <a:r>
              <a:rPr lang="en-US" sz="900" dirty="0">
                <a:solidFill>
                  <a:srgbClr val="4B64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Has a 3rd Party AI Engagement Need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23975" y="5782642"/>
            <a:ext cx="133350" cy="104775"/>
          </a:xfrm>
          <a:prstGeom prst="rect">
            <a:avLst/>
          </a:prstGeom>
          <a:solidFill>
            <a:srgbClr val="00704F"/>
          </a:solidFill>
          <a:ln/>
        </p:spPr>
      </p:sp>
      <p:sp>
        <p:nvSpPr>
          <p:cNvPr id="12" name="Shape 10"/>
          <p:cNvSpPr/>
          <p:nvPr/>
        </p:nvSpPr>
        <p:spPr>
          <a:xfrm>
            <a:off x="533400" y="5982667"/>
            <a:ext cx="1714500" cy="989558"/>
          </a:xfrm>
          <a:prstGeom prst="roundRect">
            <a:avLst>
              <a:gd name="adj" fmla="val 9626"/>
            </a:avLst>
          </a:prstGeom>
          <a:solidFill>
            <a:srgbClr val="FFFFFF"/>
          </a:solidFill>
          <a:ln w="9525">
            <a:solidFill>
              <a:srgbClr val="D7E2DC"/>
            </a:solidFill>
            <a:prstDash val="solid"/>
          </a:ln>
          <a:effectLst>
            <a:outerShdw sx="100000" sy="100000" kx="0" ky="0" algn="bl" rotWithShape="0" blurRad="19050" dist="9525" dir="5400000">
              <a:srgbClr val="0F2B22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4838" y="6125542"/>
            <a:ext cx="157162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3D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Engage SSG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38175" y="6349380"/>
            <a:ext cx="1504950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62"/>
              </a:lnSpc>
              <a:buNone/>
            </a:pPr>
            <a:r>
              <a:rPr lang="en-US" sz="900" dirty="0">
                <a:solidFill>
                  <a:srgbClr val="4B64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Submit Sourcing Request and get Vendor Manager: </a:t>
            </a:r>
            <a:pPr algn="ctr" indent="0" marL="0">
              <a:lnSpc>
                <a:spcPct val="115862"/>
              </a:lnSpc>
              <a:buNone/>
            </a:pPr>
            <a:r>
              <a:rPr lang="en-US" sz="900" u="sng" dirty="0">
                <a:solidFill>
                  <a:srgbClr val="0070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Intake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52688" y="2894484"/>
            <a:ext cx="28575" cy="5545782"/>
          </a:xfrm>
          <a:prstGeom prst="rect">
            <a:avLst/>
          </a:prstGeom>
          <a:solidFill>
            <a:srgbClr val="0D8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2247900" y="2894484"/>
            <a:ext cx="209550" cy="28575"/>
          </a:xfrm>
          <a:prstGeom prst="rect">
            <a:avLst/>
          </a:prstGeom>
          <a:solidFill>
            <a:srgbClr val="0D8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2667000" y="2837334"/>
            <a:ext cx="76200" cy="114300"/>
          </a:xfrm>
          <a:prstGeom prst="rect">
            <a:avLst/>
          </a:prstGeom>
          <a:solidFill>
            <a:srgbClr val="0D8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2247900" y="5667375"/>
            <a:ext cx="209550" cy="28575"/>
          </a:xfrm>
          <a:prstGeom prst="rect">
            <a:avLst/>
          </a:prstGeom>
          <a:solidFill>
            <a:srgbClr val="0D8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2667000" y="5610225"/>
            <a:ext cx="76200" cy="114300"/>
          </a:xfrm>
          <a:prstGeom prst="rect">
            <a:avLst/>
          </a:prstGeom>
          <a:solidFill>
            <a:srgbClr val="0D8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2247900" y="8440192"/>
            <a:ext cx="209550" cy="28575"/>
          </a:xfrm>
          <a:prstGeom prst="rect">
            <a:avLst/>
          </a:prstGeom>
          <a:solidFill>
            <a:srgbClr val="0D8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2667000" y="8383042"/>
            <a:ext cx="76200" cy="114300"/>
          </a:xfrm>
          <a:prstGeom prst="rect">
            <a:avLst/>
          </a:prstGeom>
          <a:solidFill>
            <a:srgbClr val="0D8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1528763"/>
            <a:ext cx="12915900" cy="2682850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F2B22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686050" y="4202088"/>
            <a:ext cx="129159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4" name="Shape 22"/>
          <p:cNvSpPr/>
          <p:nvPr/>
        </p:nvSpPr>
        <p:spPr>
          <a:xfrm>
            <a:off x="2686050" y="1528763"/>
            <a:ext cx="12915900" cy="38100"/>
          </a:xfrm>
          <a:prstGeom prst="rect">
            <a:avLst/>
          </a:prstGeom>
          <a:solidFill>
            <a:srgbClr val="0D8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2686050" y="1528763"/>
            <a:ext cx="9525" cy="268285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6" name="Shape 24"/>
          <p:cNvSpPr/>
          <p:nvPr/>
        </p:nvSpPr>
        <p:spPr>
          <a:xfrm>
            <a:off x="15592425" y="1528763"/>
            <a:ext cx="9525" cy="268285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7" name="Shape 25"/>
          <p:cNvSpPr/>
          <p:nvPr/>
        </p:nvSpPr>
        <p:spPr>
          <a:xfrm>
            <a:off x="2867025" y="1700213"/>
            <a:ext cx="323850" cy="323850"/>
          </a:xfrm>
          <a:prstGeom prst="ellipse">
            <a:avLst/>
          </a:prstGeom>
          <a:solidFill>
            <a:srgbClr val="0D8A5F"/>
          </a:solidFill>
          <a:ln/>
        </p:spPr>
      </p:sp>
      <p:sp>
        <p:nvSpPr>
          <p:cNvPr id="28" name="Text 26"/>
          <p:cNvSpPr/>
          <p:nvPr/>
        </p:nvSpPr>
        <p:spPr>
          <a:xfrm>
            <a:off x="2828925" y="1700213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867025" y="2100263"/>
            <a:ext cx="1802130" cy="220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62"/>
              </a:lnSpc>
              <a:buNone/>
            </a:pPr>
            <a:r>
              <a:rPr lang="en-US" sz="1200" b="1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Sourcing Strategy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67025" y="2359298"/>
            <a:ext cx="171450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900" dirty="0">
                <a:solidFill>
                  <a:srgbClr val="4B64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SSG determines Go to Market Strategy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67025" y="3659014"/>
            <a:ext cx="1638300" cy="409724"/>
          </a:xfrm>
          <a:prstGeom prst="roundRect">
            <a:avLst>
              <a:gd name="adj" fmla="val 16273"/>
            </a:avLst>
          </a:prstGeom>
          <a:solidFill>
            <a:srgbClr val="EAF3EE"/>
          </a:solidFill>
          <a:ln w="9525">
            <a:solidFill>
              <a:srgbClr val="B5D6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52750" y="3725689"/>
            <a:ext cx="1613535" cy="173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8"/>
              </a:lnSpc>
              <a:buNone/>
            </a:pPr>
            <a:r>
              <a:rPr lang="en-US" sz="788" b="1" spc="32" kern="0" dirty="0">
                <a:solidFill>
                  <a:srgbClr val="0D8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SUPPORT</a:t>
            </a:r>
            <a:endParaRPr lang="en-US" sz="788" dirty="0"/>
          </a:p>
        </p:txBody>
      </p:sp>
      <p:sp>
        <p:nvSpPr>
          <p:cNvPr id="33" name="Text 31"/>
          <p:cNvSpPr/>
          <p:nvPr/>
        </p:nvSpPr>
        <p:spPr>
          <a:xfrm>
            <a:off x="2952750" y="3865438"/>
            <a:ext cx="124688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25" u="sng" dirty="0">
                <a:solidFill>
                  <a:srgbClr val="0070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TD.SSGSupport@td.com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657725" y="1700213"/>
            <a:ext cx="38626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D8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Ariba Sourcing Request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4657725" y="1900238"/>
            <a:ext cx="361687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333"/>
              </a:lnSpc>
              <a:buNone/>
            </a:pPr>
            <a:r>
              <a:rPr lang="en-US" sz="938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Confirm if Ariba Sourcing Request is complete from the second step and engage a Vendor Manager.</a:t>
            </a:r>
            <a:endParaRPr lang="en-US" sz="938" dirty="0"/>
          </a:p>
        </p:txBody>
      </p:sp>
      <p:sp>
        <p:nvSpPr>
          <p:cNvPr id="36" name="Text 34"/>
          <p:cNvSpPr/>
          <p:nvPr/>
        </p:nvSpPr>
        <p:spPr>
          <a:xfrm>
            <a:off x="8283550" y="1700213"/>
            <a:ext cx="38627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D8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Negotiate Contract &amp; MSA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8283550" y="1900238"/>
            <a:ext cx="361694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333"/>
              </a:lnSpc>
              <a:buNone/>
            </a:pPr>
            <a:r>
              <a:rPr lang="en-US" sz="938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Confirm if the IRA rating is complete and confirm the MSA is in good standing.</a:t>
            </a:r>
            <a:endParaRPr lang="en-US" sz="938" dirty="0"/>
          </a:p>
        </p:txBody>
      </p:sp>
      <p:sp>
        <p:nvSpPr>
          <p:cNvPr id="38" name="Text 36"/>
          <p:cNvSpPr/>
          <p:nvPr/>
        </p:nvSpPr>
        <p:spPr>
          <a:xfrm>
            <a:off x="11909450" y="1700213"/>
            <a:ext cx="38626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D8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Ensure NDA is signed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11909450" y="1900238"/>
            <a:ext cx="361687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333"/>
              </a:lnSpc>
              <a:buNone/>
            </a:pPr>
            <a:r>
              <a:rPr lang="en-US" sz="938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SSG focuses on the commercial terms, Legal T&amp;Cs and facilitates risk related schedules.</a:t>
            </a:r>
            <a:endParaRPr lang="en-US" sz="938" dirty="0"/>
          </a:p>
        </p:txBody>
      </p:sp>
      <p:sp>
        <p:nvSpPr>
          <p:cNvPr id="40" name="Shape 38"/>
          <p:cNvSpPr/>
          <p:nvPr/>
        </p:nvSpPr>
        <p:spPr>
          <a:xfrm>
            <a:off x="2686050" y="4325913"/>
            <a:ext cx="12915900" cy="2682925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F2B22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686050" y="6999312"/>
            <a:ext cx="129159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2" name="Shape 40"/>
          <p:cNvSpPr/>
          <p:nvPr/>
        </p:nvSpPr>
        <p:spPr>
          <a:xfrm>
            <a:off x="2686050" y="4325913"/>
            <a:ext cx="12915900" cy="3810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3" name="Shape 41"/>
          <p:cNvSpPr/>
          <p:nvPr/>
        </p:nvSpPr>
        <p:spPr>
          <a:xfrm>
            <a:off x="2686050" y="4325913"/>
            <a:ext cx="9525" cy="26829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4" name="Shape 42"/>
          <p:cNvSpPr/>
          <p:nvPr/>
        </p:nvSpPr>
        <p:spPr>
          <a:xfrm>
            <a:off x="15592425" y="4325913"/>
            <a:ext cx="9525" cy="26829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5" name="Shape 43"/>
          <p:cNvSpPr/>
          <p:nvPr/>
        </p:nvSpPr>
        <p:spPr>
          <a:xfrm>
            <a:off x="2867025" y="4497363"/>
            <a:ext cx="323850" cy="32385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6" name="Text 44"/>
          <p:cNvSpPr/>
          <p:nvPr/>
        </p:nvSpPr>
        <p:spPr>
          <a:xfrm>
            <a:off x="2828925" y="4497363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867025" y="4897413"/>
            <a:ext cx="1802130" cy="220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62"/>
              </a:lnSpc>
              <a:buNone/>
            </a:pPr>
            <a:r>
              <a:rPr lang="en-US" sz="1200" b="1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 Risk Gating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867025" y="5156448"/>
            <a:ext cx="171450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900" dirty="0">
                <a:solidFill>
                  <a:srgbClr val="4B64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3rd Party Risk Office Assessments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867025" y="6456238"/>
            <a:ext cx="1638300" cy="409724"/>
          </a:xfrm>
          <a:prstGeom prst="roundRect">
            <a:avLst>
              <a:gd name="adj" fmla="val 16273"/>
            </a:avLst>
          </a:prstGeom>
          <a:solidFill>
            <a:srgbClr val="E8F0F0"/>
          </a:solidFill>
          <a:ln w="9525">
            <a:solidFill>
              <a:srgbClr val="B0CBC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52750" y="6522913"/>
            <a:ext cx="1613535" cy="173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8"/>
              </a:lnSpc>
              <a:buNone/>
            </a:pPr>
            <a:r>
              <a:rPr lang="en-US" sz="788" b="1" spc="32" kern="0" dirty="0">
                <a:solidFill>
                  <a:srgbClr val="0A6E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SUPPORT</a:t>
            </a:r>
            <a:endParaRPr lang="en-US" sz="788" dirty="0"/>
          </a:p>
        </p:txBody>
      </p:sp>
      <p:sp>
        <p:nvSpPr>
          <p:cNvPr id="51" name="Text 49"/>
          <p:cNvSpPr/>
          <p:nvPr/>
        </p:nvSpPr>
        <p:spPr>
          <a:xfrm>
            <a:off x="2952750" y="6662663"/>
            <a:ext cx="140938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25" u="sng" dirty="0">
                <a:solidFill>
                  <a:srgbClr val="0070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BISCG-IntakeCOE@td.com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4657725" y="4497363"/>
            <a:ext cx="24593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6E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Complete IRA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4657725" y="4697388"/>
            <a:ext cx="2459348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333"/>
              </a:lnSpc>
              <a:buNone/>
            </a:pPr>
            <a:r>
              <a:rPr lang="en-US" sz="938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the IRA template with your VM.</a:t>
            </a:r>
            <a:endParaRPr lang="en-US" sz="938" dirty="0"/>
          </a:p>
        </p:txBody>
      </p:sp>
      <p:sp>
        <p:nvSpPr>
          <p:cNvPr id="54" name="Text 52"/>
          <p:cNvSpPr/>
          <p:nvPr/>
        </p:nvSpPr>
        <p:spPr>
          <a:xfrm>
            <a:off x="7007796" y="4497363"/>
            <a:ext cx="24593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6E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Create MalCode and ABP</a:t>
            </a:r>
            <a:endParaRPr lang="en-US" sz="975" dirty="0"/>
          </a:p>
        </p:txBody>
      </p:sp>
      <p:sp>
        <p:nvSpPr>
          <p:cNvPr id="55" name="Text 53"/>
          <p:cNvSpPr/>
          <p:nvPr/>
        </p:nvSpPr>
        <p:spPr>
          <a:xfrm>
            <a:off x="7007796" y="4697388"/>
            <a:ext cx="2459348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333"/>
              </a:lnSpc>
              <a:buNone/>
            </a:pPr>
            <a:r>
              <a:rPr lang="en-US" sz="938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 with Architecture Team.</a:t>
            </a:r>
            <a:endParaRPr lang="en-US" sz="938" dirty="0"/>
          </a:p>
        </p:txBody>
      </p:sp>
      <p:sp>
        <p:nvSpPr>
          <p:cNvPr id="56" name="Text 54"/>
          <p:cNvSpPr/>
          <p:nvPr/>
        </p:nvSpPr>
        <p:spPr>
          <a:xfrm>
            <a:off x="9357866" y="4497363"/>
            <a:ext cx="24593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6E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TPSD and BISO</a:t>
            </a:r>
            <a:endParaRPr lang="en-US" sz="975" dirty="0"/>
          </a:p>
        </p:txBody>
      </p:sp>
      <p:sp>
        <p:nvSpPr>
          <p:cNvPr id="57" name="Text 55"/>
          <p:cNvSpPr/>
          <p:nvPr/>
        </p:nvSpPr>
        <p:spPr>
          <a:xfrm>
            <a:off x="9357866" y="4697388"/>
            <a:ext cx="2311971" cy="545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333"/>
              </a:lnSpc>
              <a:buNone/>
            </a:pPr>
            <a:r>
              <a:rPr lang="en-US" sz="938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Ensure your VM has launched the TPSD then engage your BISO through this intake: </a:t>
            </a:r>
            <a:pPr algn="l" indent="0" marL="0">
              <a:lnSpc>
                <a:spcPct val="118333"/>
              </a:lnSpc>
              <a:buNone/>
            </a:pPr>
            <a:r>
              <a:rPr lang="en-US" sz="938" u="sng" dirty="0">
                <a:solidFill>
                  <a:srgbClr val="0070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Here</a:t>
            </a:r>
            <a:endParaRPr lang="en-US" sz="938" dirty="0"/>
          </a:p>
        </p:txBody>
      </p:sp>
      <p:sp>
        <p:nvSpPr>
          <p:cNvPr id="58" name="Shape 56"/>
          <p:cNvSpPr/>
          <p:nvPr/>
        </p:nvSpPr>
        <p:spPr>
          <a:xfrm>
            <a:off x="11707937" y="4497363"/>
            <a:ext cx="3713038" cy="2368600"/>
          </a:xfrm>
          <a:prstGeom prst="roundRect">
            <a:avLst>
              <a:gd name="adj" fmla="val 3217"/>
            </a:avLst>
          </a:prstGeom>
          <a:ln w="9525">
            <a:solidFill>
              <a:srgbClr val="A5C3C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831762" y="4602138"/>
            <a:ext cx="3811927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i="1" dirty="0">
                <a:solidFill>
                  <a:srgbClr val="0A6E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These can all be initiated at the same time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11831762" y="4806925"/>
            <a:ext cx="174218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586"/>
              </a:lnSpc>
              <a:buNone/>
            </a:pPr>
            <a:r>
              <a:rPr lang="en-US" sz="900" b="1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 TARA, CGA &amp; 3PCRM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831762" y="5123036"/>
            <a:ext cx="1832580" cy="192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900" u="sng" dirty="0">
                <a:solidFill>
                  <a:srgbClr val="0070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TARA &amp; CGA Intake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3631094" y="4806925"/>
            <a:ext cx="1832662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586"/>
              </a:lnSpc>
              <a:buNone/>
            </a:pPr>
            <a:r>
              <a:rPr lang="en-US" sz="900" b="1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Submit AI Security Intake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3631094" y="4974506"/>
            <a:ext cx="1832662" cy="192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900" dirty="0">
                <a:solidFill>
                  <a:srgbClr val="4B64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BISO Intake: </a:t>
            </a:r>
            <a:pPr algn="l" indent="0" marL="0">
              <a:lnSpc>
                <a:spcPct val="111724"/>
              </a:lnSpc>
              <a:buNone/>
            </a:pPr>
            <a:r>
              <a:rPr lang="en-US" sz="900" u="sng" dirty="0">
                <a:solidFill>
                  <a:srgbClr val="0070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831762" y="5742161"/>
            <a:ext cx="174218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586"/>
              </a:lnSpc>
              <a:buNone/>
            </a:pPr>
            <a:r>
              <a:rPr lang="en-US" sz="900" b="1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Submit Threat Model Risk Intake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831762" y="6058272"/>
            <a:ext cx="1742182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900" dirty="0">
                <a:solidFill>
                  <a:srgbClr val="4B64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 with the security architecture team: </a:t>
            </a:r>
            <a:pPr algn="l" indent="0" marL="0">
              <a:lnSpc>
                <a:spcPct val="111724"/>
              </a:lnSpc>
              <a:buNone/>
            </a:pPr>
            <a:r>
              <a:rPr lang="en-US" sz="900" u="sng" dirty="0">
                <a:solidFill>
                  <a:srgbClr val="0070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3631094" y="5742161"/>
            <a:ext cx="1832662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586"/>
              </a:lnSpc>
              <a:buNone/>
            </a:pPr>
            <a:r>
              <a:rPr lang="en-US" sz="900" b="1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 PIA &amp; DIA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3631094" y="5909742"/>
            <a:ext cx="1742256" cy="5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900" dirty="0">
                <a:solidFill>
                  <a:srgbClr val="4B64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Also complete the accessibility assessment and SRD, and onboard to DBoR.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686050" y="7123137"/>
            <a:ext cx="12915900" cy="2682850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F2B22">
                <a:alpha val="6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2686050" y="9796463"/>
            <a:ext cx="129159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0" name="Shape 68"/>
          <p:cNvSpPr/>
          <p:nvPr/>
        </p:nvSpPr>
        <p:spPr>
          <a:xfrm>
            <a:off x="2686050" y="7123137"/>
            <a:ext cx="12915900" cy="38100"/>
          </a:xfrm>
          <a:prstGeom prst="rect">
            <a:avLst/>
          </a:prstGeom>
          <a:solidFill>
            <a:srgbClr val="1F5C78"/>
          </a:solidFill>
          <a:ln/>
        </p:spPr>
      </p:sp>
      <p:sp>
        <p:nvSpPr>
          <p:cNvPr id="71" name="Shape 69"/>
          <p:cNvSpPr/>
          <p:nvPr/>
        </p:nvSpPr>
        <p:spPr>
          <a:xfrm>
            <a:off x="2686050" y="7123137"/>
            <a:ext cx="9525" cy="268285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2" name="Shape 70"/>
          <p:cNvSpPr/>
          <p:nvPr/>
        </p:nvSpPr>
        <p:spPr>
          <a:xfrm>
            <a:off x="15592425" y="7123137"/>
            <a:ext cx="9525" cy="268285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3" name="Shape 71"/>
          <p:cNvSpPr/>
          <p:nvPr/>
        </p:nvSpPr>
        <p:spPr>
          <a:xfrm>
            <a:off x="2867025" y="7294587"/>
            <a:ext cx="323850" cy="323850"/>
          </a:xfrm>
          <a:prstGeom prst="ellipse">
            <a:avLst/>
          </a:prstGeom>
          <a:solidFill>
            <a:srgbClr val="1F5C78"/>
          </a:solidFill>
          <a:ln/>
        </p:spPr>
      </p:sp>
      <p:sp>
        <p:nvSpPr>
          <p:cNvPr id="74" name="Text 72"/>
          <p:cNvSpPr/>
          <p:nvPr/>
        </p:nvSpPr>
        <p:spPr>
          <a:xfrm>
            <a:off x="2828925" y="7294587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2867025" y="7694637"/>
            <a:ext cx="171450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62"/>
              </a:lnSpc>
              <a:buNone/>
            </a:pPr>
            <a:r>
              <a:rPr lang="en-US" sz="1200" b="1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 Risk Assessment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2867025" y="8136508"/>
            <a:ext cx="1802130" cy="192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900" dirty="0">
                <a:solidFill>
                  <a:srgbClr val="4B64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 the EMRA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867025" y="9253389"/>
            <a:ext cx="1638300" cy="409724"/>
          </a:xfrm>
          <a:prstGeom prst="roundRect">
            <a:avLst>
              <a:gd name="adj" fmla="val 16273"/>
            </a:avLst>
          </a:prstGeom>
          <a:solidFill>
            <a:srgbClr val="E8EEF1"/>
          </a:solidFill>
          <a:ln w="9525">
            <a:solidFill>
              <a:srgbClr val="B0C3C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952750" y="9320064"/>
            <a:ext cx="1613535" cy="173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8"/>
              </a:lnSpc>
              <a:buNone/>
            </a:pPr>
            <a:r>
              <a:rPr lang="en-US" sz="788" b="1" spc="32" kern="0" dirty="0">
                <a:solidFill>
                  <a:srgbClr val="1F5C7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SUPPORT</a:t>
            </a:r>
            <a:endParaRPr lang="en-US" sz="788" dirty="0"/>
          </a:p>
        </p:txBody>
      </p:sp>
      <p:sp>
        <p:nvSpPr>
          <p:cNvPr id="79" name="Text 77"/>
          <p:cNvSpPr/>
          <p:nvPr/>
        </p:nvSpPr>
        <p:spPr>
          <a:xfrm>
            <a:off x="2952750" y="9459813"/>
            <a:ext cx="18640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25" u="sng" dirty="0">
                <a:solidFill>
                  <a:srgbClr val="0070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MODELRISKMGT@tdsecurities.com</a:t>
            </a:r>
            <a:endParaRPr lang="en-US" sz="825" dirty="0"/>
          </a:p>
        </p:txBody>
      </p:sp>
      <p:sp>
        <p:nvSpPr>
          <p:cNvPr id="80" name="Shape 78"/>
          <p:cNvSpPr/>
          <p:nvPr/>
        </p:nvSpPr>
        <p:spPr>
          <a:xfrm>
            <a:off x="4657725" y="7294587"/>
            <a:ext cx="1877988" cy="614363"/>
          </a:xfrm>
          <a:prstGeom prst="roundRect">
            <a:avLst>
              <a:gd name="adj" fmla="val 12403"/>
            </a:avLst>
          </a:prstGeom>
          <a:solidFill>
            <a:srgbClr val="F1F5F7"/>
          </a:solidFill>
          <a:ln w="14288">
            <a:solidFill>
              <a:srgbClr val="84A3B3"/>
            </a:solidFill>
            <a:prstDash val="dash"/>
          </a:ln>
        </p:spPr>
      </p:sp>
      <p:sp>
        <p:nvSpPr>
          <p:cNvPr id="81" name="Text 79"/>
          <p:cNvSpPr/>
          <p:nvPr/>
        </p:nvSpPr>
        <p:spPr>
          <a:xfrm>
            <a:off x="4767263" y="7375550"/>
            <a:ext cx="182480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i="1" dirty="0">
                <a:solidFill>
                  <a:srgbClr val="1F5C7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needed for GenAI Tools</a:t>
            </a:r>
            <a:endParaRPr lang="en-US" sz="788" dirty="0"/>
          </a:p>
        </p:txBody>
      </p:sp>
      <p:sp>
        <p:nvSpPr>
          <p:cNvPr id="82" name="Text 80"/>
          <p:cNvSpPr/>
          <p:nvPr/>
        </p:nvSpPr>
        <p:spPr>
          <a:xfrm>
            <a:off x="4767263" y="7527950"/>
            <a:ext cx="182480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1a. Complete CRA</a:t>
            </a:r>
            <a:endParaRPr lang="en-US" sz="938" dirty="0"/>
          </a:p>
        </p:txBody>
      </p:sp>
      <p:sp>
        <p:nvSpPr>
          <p:cNvPr id="83" name="Text 81"/>
          <p:cNvSpPr/>
          <p:nvPr/>
        </p:nvSpPr>
        <p:spPr>
          <a:xfrm>
            <a:off x="4767263" y="7689875"/>
            <a:ext cx="182480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64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Intake: </a:t>
            </a:r>
            <a:pPr algn="l" indent="0" marL="0">
              <a:buNone/>
            </a:pPr>
            <a:r>
              <a:rPr lang="en-US" sz="900" u="sng" dirty="0">
                <a:solidFill>
                  <a:srgbClr val="0070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Here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657725" y="8004200"/>
            <a:ext cx="206578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F5C7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1b. Register Model (MRMGE)</a:t>
            </a:r>
            <a:endParaRPr lang="en-US" sz="975" dirty="0"/>
          </a:p>
        </p:txBody>
      </p:sp>
      <p:sp>
        <p:nvSpPr>
          <p:cNvPr id="85" name="Text 83"/>
          <p:cNvSpPr/>
          <p:nvPr/>
        </p:nvSpPr>
        <p:spPr>
          <a:xfrm>
            <a:off x="4657725" y="8232800"/>
            <a:ext cx="2065786" cy="207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333"/>
              </a:lnSpc>
              <a:buNone/>
            </a:pPr>
            <a:r>
              <a:rPr lang="en-US" sz="938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Register your Model: </a:t>
            </a:r>
            <a:pPr algn="l" indent="0" marL="0">
              <a:lnSpc>
                <a:spcPct val="118333"/>
              </a:lnSpc>
              <a:buNone/>
            </a:pPr>
            <a:r>
              <a:rPr lang="en-US" sz="938" u="sng" dirty="0">
                <a:solidFill>
                  <a:srgbClr val="0070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Here</a:t>
            </a:r>
            <a:endParaRPr lang="en-US" sz="938" dirty="0"/>
          </a:p>
        </p:txBody>
      </p:sp>
      <p:sp>
        <p:nvSpPr>
          <p:cNvPr id="86" name="Text 84"/>
          <p:cNvSpPr/>
          <p:nvPr/>
        </p:nvSpPr>
        <p:spPr>
          <a:xfrm>
            <a:off x="6650013" y="7294587"/>
            <a:ext cx="20658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F5C7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Use Case Prioritization</a:t>
            </a:r>
            <a:endParaRPr lang="en-US" sz="975" dirty="0"/>
          </a:p>
        </p:txBody>
      </p:sp>
      <p:sp>
        <p:nvSpPr>
          <p:cNvPr id="87" name="Text 85"/>
          <p:cNvSpPr/>
          <p:nvPr/>
        </p:nvSpPr>
        <p:spPr>
          <a:xfrm>
            <a:off x="6650013" y="7494612"/>
            <a:ext cx="195426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333"/>
              </a:lnSpc>
              <a:buNone/>
            </a:pPr>
            <a:r>
              <a:rPr lang="en-US" sz="938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TDS and Enterprise prioritize AI vendor tool use cases.</a:t>
            </a:r>
            <a:endParaRPr lang="en-US" sz="938" dirty="0"/>
          </a:p>
        </p:txBody>
      </p:sp>
      <p:sp>
        <p:nvSpPr>
          <p:cNvPr id="88" name="Shape 86"/>
          <p:cNvSpPr/>
          <p:nvPr/>
        </p:nvSpPr>
        <p:spPr>
          <a:xfrm>
            <a:off x="8642375" y="7294587"/>
            <a:ext cx="4567163" cy="2368525"/>
          </a:xfrm>
          <a:prstGeom prst="roundRect">
            <a:avLst>
              <a:gd name="adj" fmla="val 3217"/>
            </a:avLst>
          </a:prstGeom>
          <a:ln w="9525">
            <a:solidFill>
              <a:srgbClr val="A5BBC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766200" y="7399362"/>
            <a:ext cx="475146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F5C7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MRM Policy Exception, COMO, Fair Banking Compliance</a:t>
            </a:r>
            <a:endParaRPr lang="en-US" sz="825" dirty="0"/>
          </a:p>
        </p:txBody>
      </p:sp>
      <p:sp>
        <p:nvSpPr>
          <p:cNvPr id="90" name="Text 88"/>
          <p:cNvSpPr/>
          <p:nvPr/>
        </p:nvSpPr>
        <p:spPr>
          <a:xfrm>
            <a:off x="8766200" y="7604150"/>
            <a:ext cx="1736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900" b="1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920758" y="7604150"/>
            <a:ext cx="361179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900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Fill out the Pilot Policy Exception and get it approved. </a:t>
            </a:r>
            <a:pPr algn="l" indent="0" marL="0">
              <a:lnSpc>
                <a:spcPct val="124138"/>
              </a:lnSpc>
              <a:buNone/>
            </a:pPr>
            <a:r>
              <a:rPr lang="en-US" sz="900" u="sng" dirty="0">
                <a:solidFill>
                  <a:srgbClr val="0070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8766200" y="7775600"/>
            <a:ext cx="1778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900" b="1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b.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8924999" y="7775600"/>
            <a:ext cx="402016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900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Submit Model Risk Management Intake Request and Assessment: </a:t>
            </a:r>
            <a:pPr algn="l" indent="0" marL="0">
              <a:lnSpc>
                <a:spcPct val="124138"/>
              </a:lnSpc>
              <a:buNone/>
            </a:pPr>
            <a:r>
              <a:rPr lang="en-US" sz="900" u="sng" dirty="0">
                <a:solidFill>
                  <a:srgbClr val="0070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Here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8766200" y="7947050"/>
            <a:ext cx="1736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900" b="1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c.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8920758" y="7947050"/>
            <a:ext cx="302087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900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Submit Compliance Model Intake Questionnaire: </a:t>
            </a:r>
            <a:pPr algn="l" indent="0" marL="0">
              <a:lnSpc>
                <a:spcPct val="124138"/>
              </a:lnSpc>
              <a:buNone/>
            </a:pPr>
            <a:r>
              <a:rPr lang="en-US" sz="900" u="sng" dirty="0">
                <a:solidFill>
                  <a:srgbClr val="0070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Here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8766200" y="8118500"/>
            <a:ext cx="1778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900" b="1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d.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8924999" y="8118500"/>
            <a:ext cx="42855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900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Provide COMO – Model Compliance Risk Assessment: </a:t>
            </a:r>
            <a:pPr algn="l" indent="0" marL="0">
              <a:lnSpc>
                <a:spcPct val="124138"/>
              </a:lnSpc>
              <a:buNone/>
            </a:pPr>
            <a:r>
              <a:rPr lang="en-US" sz="900" u="sng" dirty="0">
                <a:solidFill>
                  <a:srgbClr val="0070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 Compliance Risk Assessment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8766200" y="8461400"/>
            <a:ext cx="1736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900" b="1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e.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8920758" y="8461400"/>
            <a:ext cx="349547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900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*Fair Banking is only needed for US jurisdiction models: </a:t>
            </a:r>
            <a:pPr algn="l" indent="0" marL="0">
              <a:lnSpc>
                <a:spcPct val="124138"/>
              </a:lnSpc>
              <a:buNone/>
            </a:pPr>
            <a:r>
              <a:rPr lang="en-US" sz="900" u="sng" dirty="0">
                <a:solidFill>
                  <a:srgbClr val="0070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Intake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13323838" y="7294587"/>
            <a:ext cx="2097137" cy="614363"/>
          </a:xfrm>
          <a:prstGeom prst="roundRect">
            <a:avLst>
              <a:gd name="adj" fmla="val 12403"/>
            </a:avLst>
          </a:prstGeom>
          <a:solidFill>
            <a:srgbClr val="F1F5F7"/>
          </a:solidFill>
          <a:ln w="14288">
            <a:solidFill>
              <a:srgbClr val="84A3B3"/>
            </a:solidFill>
            <a:prstDash val="dash"/>
          </a:ln>
        </p:spPr>
      </p:sp>
      <p:sp>
        <p:nvSpPr>
          <p:cNvPr id="101" name="Text 99"/>
          <p:cNvSpPr/>
          <p:nvPr/>
        </p:nvSpPr>
        <p:spPr>
          <a:xfrm>
            <a:off x="13433375" y="7375550"/>
            <a:ext cx="206586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i="1" dirty="0">
                <a:solidFill>
                  <a:srgbClr val="1F5C7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needed for GenAI Tools</a:t>
            </a:r>
            <a:endParaRPr lang="en-US" sz="788" dirty="0"/>
          </a:p>
        </p:txBody>
      </p:sp>
      <p:sp>
        <p:nvSpPr>
          <p:cNvPr id="102" name="Text 100"/>
          <p:cNvSpPr/>
          <p:nvPr/>
        </p:nvSpPr>
        <p:spPr>
          <a:xfrm>
            <a:off x="13433375" y="7527950"/>
            <a:ext cx="20658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F2B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GenAI No Objection Memo</a:t>
            </a:r>
            <a:endParaRPr lang="en-US" sz="938" dirty="0"/>
          </a:p>
        </p:txBody>
      </p:sp>
      <p:sp>
        <p:nvSpPr>
          <p:cNvPr id="103" name="Text 101"/>
          <p:cNvSpPr/>
          <p:nvPr/>
        </p:nvSpPr>
        <p:spPr>
          <a:xfrm>
            <a:off x="13433375" y="7689875"/>
            <a:ext cx="206586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64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Fill out template and approval.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15806737" y="2894484"/>
            <a:ext cx="28575" cy="5545782"/>
          </a:xfrm>
          <a:prstGeom prst="rect">
            <a:avLst/>
          </a:prstGeom>
          <a:solidFill>
            <a:srgbClr val="0D8A5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5830550" y="2894484"/>
            <a:ext cx="209550" cy="28575"/>
          </a:xfrm>
          <a:prstGeom prst="rect">
            <a:avLst/>
          </a:prstGeom>
          <a:solidFill>
            <a:srgbClr val="0D8A5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5544800" y="2837334"/>
            <a:ext cx="76200" cy="114300"/>
          </a:xfrm>
          <a:prstGeom prst="rect">
            <a:avLst/>
          </a:prstGeom>
          <a:solidFill>
            <a:srgbClr val="0D8A5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5830550" y="5667375"/>
            <a:ext cx="209550" cy="28575"/>
          </a:xfrm>
          <a:prstGeom prst="rect">
            <a:avLst/>
          </a:prstGeom>
          <a:solidFill>
            <a:srgbClr val="0D8A5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5544800" y="5610225"/>
            <a:ext cx="76200" cy="114300"/>
          </a:xfrm>
          <a:prstGeom prst="rect">
            <a:avLst/>
          </a:prstGeom>
          <a:solidFill>
            <a:srgbClr val="0D8A5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5830550" y="8440192"/>
            <a:ext cx="209550" cy="28575"/>
          </a:xfrm>
          <a:prstGeom prst="rect">
            <a:avLst/>
          </a:prstGeom>
          <a:solidFill>
            <a:srgbClr val="0D8A5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5544800" y="8383042"/>
            <a:ext cx="76200" cy="114300"/>
          </a:xfrm>
          <a:prstGeom prst="rect">
            <a:avLst/>
          </a:prstGeom>
          <a:solidFill>
            <a:srgbClr val="0D8A5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6040100" y="5054501"/>
            <a:ext cx="1714500" cy="1225748"/>
          </a:xfrm>
          <a:prstGeom prst="roundRect">
            <a:avLst>
              <a:gd name="adj" fmla="val 7771"/>
            </a:avLst>
          </a:prstGeom>
          <a:solidFill>
            <a:srgbClr val="FFFFFF"/>
          </a:solidFill>
          <a:ln w="9525">
            <a:solidFill>
              <a:srgbClr val="D7E2DC"/>
            </a:solidFill>
            <a:prstDash val="solid"/>
          </a:ln>
          <a:effectLst>
            <a:outerShdw sx="100000" sy="100000" kx="0" ky="0" algn="bl" rotWithShape="0" blurRad="19050" dist="9525" dir="5400000">
              <a:srgbClr val="0F2B22">
                <a:alpha val="5000"/>
              </a:srgbClr>
            </a:outerShdw>
          </a:effectLst>
        </p:spPr>
      </p:sp>
      <p:sp>
        <p:nvSpPr>
          <p:cNvPr id="112" name="Text 110"/>
          <p:cNvSpPr/>
          <p:nvPr/>
        </p:nvSpPr>
        <p:spPr>
          <a:xfrm>
            <a:off x="16111538" y="5235476"/>
            <a:ext cx="157162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3D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Execute Contract</a:t>
            </a:r>
            <a:endParaRPr lang="en-US" sz="1125" dirty="0"/>
          </a:p>
        </p:txBody>
      </p:sp>
      <p:sp>
        <p:nvSpPr>
          <p:cNvPr id="113" name="Text 111"/>
          <p:cNvSpPr/>
          <p:nvPr/>
        </p:nvSpPr>
        <p:spPr>
          <a:xfrm>
            <a:off x="16144875" y="5459313"/>
            <a:ext cx="15049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62"/>
              </a:lnSpc>
              <a:buNone/>
            </a:pPr>
            <a:r>
              <a:rPr lang="en-US" sz="900" dirty="0">
                <a:solidFill>
                  <a:srgbClr val="4B64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SSG operationalizes contract (i.e., self serve) and transitions to Business and Vendor Management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33400" y="9901238"/>
            <a:ext cx="4572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64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16597833" y="9910763"/>
            <a:ext cx="1232967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FB0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Created by Ricky Zaman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2026-07-12T01:54:45Z</dcterms:created>
  <dcterms:modified xsi:type="dcterms:W3CDTF">2026-07-12T01:54:45Z</dcterms:modified>
</cp:coreProperties>
</file>