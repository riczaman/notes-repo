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solution moves HR from static prompts to a guided AI experience. Every employee can access consistent, accurate HR guidance without needing to search for prompts or contact HR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evolution reduced friction and improved the employee experience. The agent removes the biggest barrier: users no longer need to search for or copy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users interact with an assistant rather than searching for prompts. The Agent Builder removes friction at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outcomes and organizational benefits rather than technology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emphasises that HR is in control — the agent is configured and governed by HR. Steps 2–5 show how simple the employee experience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Copilot desktop mockup shows the real interface employees will use. The question and priorities response demonstrate the executive use case — no prompts, just a direct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a sustainable solution rather than a one-time implementation. Governance is embedded by design, not bolted on after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address budget and investment concerns. The HR Agent Builder uses tools the organisation has already paid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006B31">
              <a:alpha val="40000"/>
            </a:srgbClr>
          </a:solidFill>
          <a:ln w="12700">
            <a:solidFill>
              <a:srgbClr val="006B3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560320"/>
            <a:ext cx="4114800" cy="4114800"/>
          </a:xfrm>
          <a:prstGeom prst="ellipse">
            <a:avLst/>
          </a:prstGeom>
          <a:solidFill>
            <a:srgbClr val="00843D">
              <a:alpha val="30000"/>
            </a:srgbClr>
          </a:solidFill>
          <a:ln w="12700">
            <a:solidFill>
              <a:srgbClr val="00843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EB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  ·  DIGITAL INNOVATION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Copilot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286000" cy="36576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718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HR knowledge into a guided,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experience for every employee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260604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931920"/>
            <a:ext cx="2606040" cy="457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427939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receive consistent, accurate HR answers without needing to search for prompts or contact HR directly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83280" y="3931920"/>
            <a:ext cx="260604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3931920"/>
            <a:ext cx="2606040" cy="457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5" name="Text 13"/>
          <p:cNvSpPr/>
          <p:nvPr/>
        </p:nvSpPr>
        <p:spPr>
          <a:xfrm>
            <a:off x="3493008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93008" y="427939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responses draw from centrally managed, HR-approved knowledge sources — no ad-hoc answers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260604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3931920"/>
            <a:ext cx="2606040" cy="457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Foundation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27648" y="427939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AI model that grows to cover additional HR use cases over time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7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2025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4A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868680"/>
          </a:xfrm>
          <a:prstGeom prst="rect">
            <a:avLst/>
          </a:prstGeom>
          <a:solidFill>
            <a:srgbClr val="006B3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00C853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Journey to Better Adoption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spc="250" kern="0" dirty="0">
                <a:solidFill>
                  <a:srgbClr val="6EB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THE SOLUTION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7432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274320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71016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710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Previous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Prompt Library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" y="2240280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 &amp; copy/paste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" y="2743200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651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experience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" y="3246120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154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maintain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" y="3749040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657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1143000"/>
            <a:ext cx="27432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1143000"/>
            <a:ext cx="2743200" cy="5486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1271016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12710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Improved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91840" y="157276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Copilot Prompts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19272" y="2240280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9" name="Text 27"/>
          <p:cNvSpPr/>
          <p:nvPr/>
        </p:nvSpPr>
        <p:spPr>
          <a:xfrm>
            <a:off x="3493008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discoverability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551176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3319272" y="2743200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3493008" y="2651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prompt-dependent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3054096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3319272" y="3246120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3493008" y="3154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select prompts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3557016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3319272" y="3749040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8" name="Text 36"/>
          <p:cNvSpPr/>
          <p:nvPr/>
        </p:nvSpPr>
        <p:spPr>
          <a:xfrm>
            <a:off x="3493008" y="3657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adoption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100584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8100000">
              <a:srgbClr val="00843D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1005840"/>
            <a:ext cx="64008" cy="3611880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41" name="Shape 39"/>
          <p:cNvSpPr/>
          <p:nvPr/>
        </p:nvSpPr>
        <p:spPr>
          <a:xfrm>
            <a:off x="5989320" y="1005840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42" name="Shape 40"/>
          <p:cNvSpPr/>
          <p:nvPr/>
        </p:nvSpPr>
        <p:spPr>
          <a:xfrm>
            <a:off x="6126480" y="1133856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8F5EE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1133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43D"/>
                </a:solidFill>
              </a:rPr>
              <a:t>Recommended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0" y="143560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Agent Builder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153912" y="2103120"/>
            <a:ext cx="82296" cy="82296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46" name="Text 44"/>
          <p:cNvSpPr/>
          <p:nvPr/>
        </p:nvSpPr>
        <p:spPr>
          <a:xfrm>
            <a:off x="6327648" y="2011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guided experience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26480" y="2414016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6153912" y="2606040"/>
            <a:ext cx="82296" cy="82296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49" name="Text 47"/>
          <p:cNvSpPr/>
          <p:nvPr/>
        </p:nvSpPr>
        <p:spPr>
          <a:xfrm>
            <a:off x="6327648" y="2514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HR expertise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2916936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Shape 49"/>
          <p:cNvSpPr/>
          <p:nvPr/>
        </p:nvSpPr>
        <p:spPr>
          <a:xfrm>
            <a:off x="6153912" y="3108960"/>
            <a:ext cx="82296" cy="82296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52" name="Text 50"/>
          <p:cNvSpPr/>
          <p:nvPr/>
        </p:nvSpPr>
        <p:spPr>
          <a:xfrm>
            <a:off x="6327648" y="3017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outcomes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26480" y="3419856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52"/>
          <p:cNvSpPr/>
          <p:nvPr/>
        </p:nvSpPr>
        <p:spPr>
          <a:xfrm>
            <a:off x="6153912" y="3611880"/>
            <a:ext cx="82296" cy="82296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55" name="Text 53"/>
          <p:cNvSpPr/>
          <p:nvPr/>
        </p:nvSpPr>
        <p:spPr>
          <a:xfrm>
            <a:off x="6327648" y="3520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adoption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4A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868680"/>
          </a:xfrm>
          <a:prstGeom prst="rect">
            <a:avLst/>
          </a:prstGeom>
          <a:solidFill>
            <a:srgbClr val="006B3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00C853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 Builder Is the Preferred Solution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spc="250" kern="0" dirty="0">
                <a:solidFill>
                  <a:srgbClr val="6EB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92024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PDF Library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Shared Prompts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Agent Builder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4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Ease of 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C2B"/>
                          </a:solidFill>
                        </a:rPr>
                        <a:t>High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Adoption Potential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C2B"/>
                          </a:solidFill>
                        </a:rPr>
                        <a:t>High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Governance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Minimal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C2B"/>
                          </a:solidFill>
                        </a:rPr>
                        <a:t>Strong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Knowledge Integration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C2B"/>
                          </a:solidFill>
                        </a:rPr>
                        <a:t>Embedded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Response Consistency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Inconsistent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C2B"/>
                          </a:solidFill>
                        </a:rPr>
                        <a:t>Consistent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Scalability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C2B"/>
                          </a:solidFill>
                        </a:rPr>
                        <a:t>High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Maintenance Effort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C2B"/>
                          </a:solidFill>
                        </a:rPr>
                        <a:t>Low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4572000"/>
            <a:ext cx="54864" cy="384048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delivers the best balance of adoption, governance, consistency, and long-term scalability — without requiring custom development.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4A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868680"/>
          </a:xfrm>
          <a:prstGeom prst="rect">
            <a:avLst/>
          </a:prstGeom>
          <a:solidFill>
            <a:srgbClr val="006B3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00C853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spc="250" kern="0" dirty="0">
                <a:solidFill>
                  <a:srgbClr val="6EB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26187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" y="1339596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9848" y="12435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Employee Experience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182880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get instant, consistent HR guidance without waiting for responses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54680" y="1078992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078992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5" name="Shape 12"/>
          <p:cNvSpPr/>
          <p:nvPr/>
        </p:nvSpPr>
        <p:spPr>
          <a:xfrm>
            <a:off x="3319272" y="126187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996" y="1339596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50208" y="12435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Information Access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19272" y="182880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delivered in seconds rather than hours or days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035040" y="1078992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078992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21" name="Shape 17"/>
          <p:cNvSpPr/>
          <p:nvPr/>
        </p:nvSpPr>
        <p:spPr>
          <a:xfrm>
            <a:off x="6199632" y="126187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6" y="133959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30568" y="12435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HR Guidance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199632" y="182880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receives the same accurate, approved information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74320" y="2907792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74320" y="2907792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27" name="Shape 22"/>
          <p:cNvSpPr/>
          <p:nvPr/>
        </p:nvSpPr>
        <p:spPr>
          <a:xfrm>
            <a:off x="438912" y="309067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" y="3168396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69848" y="3072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Governance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38912" y="365760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knowledge sources ensure compliant, accurate responses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3154680" y="2907792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154680" y="2907792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33" name="Shape 27"/>
          <p:cNvSpPr/>
          <p:nvPr/>
        </p:nvSpPr>
        <p:spPr>
          <a:xfrm>
            <a:off x="3319272" y="309067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996" y="3168396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950208" y="3072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Productivity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3319272" y="365760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refocus on strategic work as routine queries are handled by the agent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035040" y="2907792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035040" y="2907792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39" name="Shape 32"/>
          <p:cNvSpPr/>
          <p:nvPr/>
        </p:nvSpPr>
        <p:spPr>
          <a:xfrm>
            <a:off x="6199632" y="309067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356" y="3168396"/>
            <a:ext cx="329184" cy="32918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30568" y="3072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Foundation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6199632" y="365760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model that expands to additional HR use cases over time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4A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868680"/>
          </a:xfrm>
          <a:prstGeom prst="rect">
            <a:avLst/>
          </a:prstGeom>
          <a:solidFill>
            <a:srgbClr val="006B3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00C853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spc="250" kern="0" dirty="0">
                <a:solidFill>
                  <a:srgbClr val="6EB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PROCESS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55448" y="987552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448" y="987552"/>
            <a:ext cx="162763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" y="1115568"/>
            <a:ext cx="512064" cy="512064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1179576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56232"/>
            <a:ext cx="621792" cy="6217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46888" y="26517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Agent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6616" y="3200400"/>
            <a:ext cx="1225296" cy="22860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" y="3346704"/>
            <a:ext cx="1408176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builds and configures the agent — defining instructions and loading approved knowledge sources into Copilot Studio Lite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783080" y="2121408"/>
            <a:ext cx="59436" cy="22860"/>
          </a:xfrm>
          <a:prstGeom prst="rect">
            <a:avLst/>
          </a:prstGeom>
          <a:solidFill>
            <a:srgbClr val="C4C9D4"/>
          </a:solidFill>
          <a:ln/>
        </p:spPr>
      </p:sp>
      <p:sp>
        <p:nvSpPr>
          <p:cNvPr id="16" name="Shape 13"/>
          <p:cNvSpPr/>
          <p:nvPr/>
        </p:nvSpPr>
        <p:spPr>
          <a:xfrm>
            <a:off x="1842516" y="987552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42516" y="987552"/>
            <a:ext cx="1627632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Shape 15"/>
          <p:cNvSpPr/>
          <p:nvPr/>
        </p:nvSpPr>
        <p:spPr>
          <a:xfrm>
            <a:off x="2866644" y="1115568"/>
            <a:ext cx="512064" cy="512064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9" name="Text 16"/>
          <p:cNvSpPr/>
          <p:nvPr/>
        </p:nvSpPr>
        <p:spPr>
          <a:xfrm>
            <a:off x="2866644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1856232"/>
            <a:ext cx="621792" cy="6217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33956" y="26517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Question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043684" y="3200400"/>
            <a:ext cx="1225296" cy="22860"/>
          </a:xfrm>
          <a:prstGeom prst="rect">
            <a:avLst/>
          </a:prstGeom>
          <a:solidFill>
            <a:srgbClr val="1D4ED8">
              <a:alpha val="28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1952244" y="3346704"/>
            <a:ext cx="1408176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opens the HR Agent inside Microsoft Copilot and types a question in plain, everyday language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470148" y="2121408"/>
            <a:ext cx="59436" cy="22860"/>
          </a:xfrm>
          <a:prstGeom prst="rect">
            <a:avLst/>
          </a:prstGeom>
          <a:solidFill>
            <a:srgbClr val="C4C9D4"/>
          </a:solidFill>
          <a:ln/>
        </p:spPr>
      </p:sp>
      <p:sp>
        <p:nvSpPr>
          <p:cNvPr id="25" name="Shape 21"/>
          <p:cNvSpPr/>
          <p:nvPr/>
        </p:nvSpPr>
        <p:spPr>
          <a:xfrm>
            <a:off x="3529584" y="987552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529584" y="987552"/>
            <a:ext cx="1627632" cy="73152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27" name="Shape 23"/>
          <p:cNvSpPr/>
          <p:nvPr/>
        </p:nvSpPr>
        <p:spPr>
          <a:xfrm>
            <a:off x="4553712" y="1115568"/>
            <a:ext cx="512064" cy="512064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28" name="Text 24"/>
          <p:cNvSpPr/>
          <p:nvPr/>
        </p:nvSpPr>
        <p:spPr>
          <a:xfrm>
            <a:off x="4553712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4" y="1856232"/>
            <a:ext cx="621792" cy="62179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621024" y="26517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Processes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730752" y="3200400"/>
            <a:ext cx="1225296" cy="22860"/>
          </a:xfrm>
          <a:prstGeom prst="rect">
            <a:avLst/>
          </a:prstGeom>
          <a:solidFill>
            <a:srgbClr val="00843D">
              <a:alpha val="28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3639312" y="3346704"/>
            <a:ext cx="1408176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interprets the request and intelligently routes it to the right knowledge source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5157216" y="2121408"/>
            <a:ext cx="59436" cy="22860"/>
          </a:xfrm>
          <a:prstGeom prst="rect">
            <a:avLst/>
          </a:prstGeom>
          <a:solidFill>
            <a:srgbClr val="C4C9D4"/>
          </a:solidFill>
          <a:ln/>
        </p:spPr>
      </p:sp>
      <p:sp>
        <p:nvSpPr>
          <p:cNvPr id="34" name="Shape 29"/>
          <p:cNvSpPr/>
          <p:nvPr/>
        </p:nvSpPr>
        <p:spPr>
          <a:xfrm>
            <a:off x="5216652" y="987552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216652" y="987552"/>
            <a:ext cx="162763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Shape 31"/>
          <p:cNvSpPr/>
          <p:nvPr/>
        </p:nvSpPr>
        <p:spPr>
          <a:xfrm>
            <a:off x="6240780" y="1115568"/>
            <a:ext cx="512064" cy="512064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7" name="Text 32"/>
          <p:cNvSpPr/>
          <p:nvPr/>
        </p:nvSpPr>
        <p:spPr>
          <a:xfrm>
            <a:off x="6240780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572" y="1856232"/>
            <a:ext cx="621792" cy="62179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08092" y="26517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5417820" y="3200400"/>
            <a:ext cx="1225296" cy="22860"/>
          </a:xfrm>
          <a:prstGeom prst="rect">
            <a:avLst/>
          </a:prstGeom>
          <a:solidFill>
            <a:srgbClr val="0891B2">
              <a:alpha val="28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5326380" y="3346704"/>
            <a:ext cx="1408176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from HR-approved policies, FAQs, and curated documents embedded at configuration time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6844284" y="2121408"/>
            <a:ext cx="59436" cy="22860"/>
          </a:xfrm>
          <a:prstGeom prst="rect">
            <a:avLst/>
          </a:prstGeom>
          <a:solidFill>
            <a:srgbClr val="C4C9D4"/>
          </a:solidFill>
          <a:ln/>
        </p:spPr>
      </p:sp>
      <p:sp>
        <p:nvSpPr>
          <p:cNvPr id="43" name="Shape 37"/>
          <p:cNvSpPr/>
          <p:nvPr/>
        </p:nvSpPr>
        <p:spPr>
          <a:xfrm>
            <a:off x="6903720" y="987552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6903720" y="987552"/>
            <a:ext cx="162763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Shape 39"/>
          <p:cNvSpPr/>
          <p:nvPr/>
        </p:nvSpPr>
        <p:spPr>
          <a:xfrm>
            <a:off x="7927848" y="1115568"/>
            <a:ext cx="512064" cy="51206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46" name="Text 40"/>
          <p:cNvSpPr/>
          <p:nvPr/>
        </p:nvSpPr>
        <p:spPr>
          <a:xfrm>
            <a:off x="7927848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856232"/>
            <a:ext cx="621792" cy="621792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995160" y="26517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Answer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7104888" y="3200400"/>
            <a:ext cx="1225296" cy="22860"/>
          </a:xfrm>
          <a:prstGeom prst="rect">
            <a:avLst/>
          </a:prstGeom>
          <a:solidFill>
            <a:srgbClr val="059669">
              <a:alpha val="2800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7013448" y="3346704"/>
            <a:ext cx="1408176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receives a clear, accurate, governed response — instantly, every time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4A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868680"/>
          </a:xfrm>
          <a:prstGeom prst="rect">
            <a:avLst/>
          </a:prstGeom>
          <a:solidFill>
            <a:srgbClr val="006B3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00C853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HR Agent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spc="250" kern="0" dirty="0">
                <a:solidFill>
                  <a:srgbClr val="6EB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2578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50292" cy="67665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115568"/>
            <a:ext cx="457200" cy="45720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108813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HR Agent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13441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Microsoft Copilot and select the HR Agent from your pinned agents or agent gallery.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787652"/>
            <a:ext cx="52578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87652"/>
            <a:ext cx="50292" cy="67665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" y="1897380"/>
            <a:ext cx="457200" cy="45720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1897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186994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Question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1259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HR question in plain language — no special commands or prompt templates needed.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569464"/>
            <a:ext cx="52578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69464"/>
            <a:ext cx="50292" cy="67665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" y="2679192"/>
            <a:ext cx="457200" cy="45720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265176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Response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29077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provides a clear, policy-aligned answer from approved HR knowledge sources.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351276"/>
            <a:ext cx="52578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51276"/>
            <a:ext cx="50292" cy="67665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3461004"/>
            <a:ext cx="457200" cy="45720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34610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343357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Recommended Guidance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" y="36896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 based on the response or ask follow-up questions for additional detail.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133088"/>
            <a:ext cx="52578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133088"/>
            <a:ext cx="50292" cy="67665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" y="4242816"/>
            <a:ext cx="457200" cy="45720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24128" y="421538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Feedback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4128" y="44714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experience to help HR continuously improve the agent.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806440" y="987552"/>
            <a:ext cx="31546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7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06440" y="987552"/>
            <a:ext cx="3154680" cy="402336"/>
          </a:xfrm>
          <a:prstGeom prst="rect">
            <a:avLst/>
          </a:prstGeom>
          <a:solidFill>
            <a:srgbClr val="1B1B2E"/>
          </a:solidFill>
          <a:ln/>
        </p:spPr>
      </p:sp>
      <p:sp>
        <p:nvSpPr>
          <p:cNvPr id="39" name="Shape 37"/>
          <p:cNvSpPr/>
          <p:nvPr/>
        </p:nvSpPr>
        <p:spPr>
          <a:xfrm>
            <a:off x="5916168" y="1069848"/>
            <a:ext cx="237744" cy="237744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40" name="Text 38"/>
          <p:cNvSpPr/>
          <p:nvPr/>
        </p:nvSpPr>
        <p:spPr>
          <a:xfrm>
            <a:off x="6227064" y="987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40496" y="11155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2" name="Shape 40"/>
          <p:cNvSpPr/>
          <p:nvPr/>
        </p:nvSpPr>
        <p:spPr>
          <a:xfrm>
            <a:off x="8686800" y="111556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3" name="Shape 41"/>
          <p:cNvSpPr/>
          <p:nvPr/>
        </p:nvSpPr>
        <p:spPr>
          <a:xfrm>
            <a:off x="8833104" y="11155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4" name="Shape 42"/>
          <p:cNvSpPr/>
          <p:nvPr/>
        </p:nvSpPr>
        <p:spPr>
          <a:xfrm>
            <a:off x="5806440" y="1389888"/>
            <a:ext cx="3154680" cy="34747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5" name="Shape 43"/>
          <p:cNvSpPr/>
          <p:nvPr/>
        </p:nvSpPr>
        <p:spPr>
          <a:xfrm>
            <a:off x="5934456" y="1463040"/>
            <a:ext cx="201168" cy="201168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46" name="Text 44"/>
          <p:cNvSpPr/>
          <p:nvPr/>
        </p:nvSpPr>
        <p:spPr>
          <a:xfrm>
            <a:off x="6208776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Agent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183880" y="13898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806440" y="1737360"/>
            <a:ext cx="3154680" cy="28163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9" name="Shape 47"/>
          <p:cNvSpPr/>
          <p:nvPr/>
        </p:nvSpPr>
        <p:spPr>
          <a:xfrm>
            <a:off x="6355080" y="1901952"/>
            <a:ext cx="2459736" cy="438912"/>
          </a:xfrm>
          <a:prstGeom prst="roundRect">
            <a:avLst>
              <a:gd name="adj" fmla="val 25000"/>
            </a:avLst>
          </a:prstGeom>
          <a:solidFill>
            <a:srgbClr val="EEE8FF"/>
          </a:solidFill>
          <a:ln/>
        </p:spPr>
      </p:sp>
      <p:sp>
        <p:nvSpPr>
          <p:cNvPr id="50" name="Text 48"/>
          <p:cNvSpPr/>
          <p:nvPr/>
        </p:nvSpPr>
        <p:spPr>
          <a:xfrm>
            <a:off x="6428232" y="19385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my priorities for FY2026?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38160" y="171907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5897880" y="2414016"/>
            <a:ext cx="274320" cy="27432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53" name="Text 51"/>
          <p:cNvSpPr/>
          <p:nvPr/>
        </p:nvSpPr>
        <p:spPr>
          <a:xfrm>
            <a:off x="5897880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45352" y="2404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Agent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897880" y="2651760"/>
            <a:ext cx="2953512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007608" y="274320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your key priorities for FY2026: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989320" y="3035808"/>
            <a:ext cx="91440" cy="9144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58" name="Text 56"/>
          <p:cNvSpPr/>
          <p:nvPr/>
        </p:nvSpPr>
        <p:spPr>
          <a:xfrm>
            <a:off x="6135624" y="296265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Workforce Productivity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35624" y="3108960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reduction in HR response time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5989320" y="3346704"/>
            <a:ext cx="91440" cy="9144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61" name="Text 59"/>
          <p:cNvSpPr/>
          <p:nvPr/>
        </p:nvSpPr>
        <p:spPr>
          <a:xfrm>
            <a:off x="6135624" y="327355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Talent Pipeline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135624" y="3419856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retention rate; 90-day onboarding score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5989320" y="3657600"/>
            <a:ext cx="91440" cy="9144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64" name="Text 62"/>
          <p:cNvSpPr/>
          <p:nvPr/>
        </p:nvSpPr>
        <p:spPr>
          <a:xfrm>
            <a:off x="6135624" y="358444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AI Adoption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135624" y="3730752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employees using AI tools by Q3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5989320" y="3968496"/>
            <a:ext cx="91440" cy="9144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67" name="Text 65"/>
          <p:cNvSpPr/>
          <p:nvPr/>
        </p:nvSpPr>
        <p:spPr>
          <a:xfrm>
            <a:off x="6135624" y="38953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Employee Experience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135624" y="404164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 target: +40 by year-end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5989320" y="4279392"/>
            <a:ext cx="91440" cy="9144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70" name="Text 68"/>
          <p:cNvSpPr/>
          <p:nvPr/>
        </p:nvSpPr>
        <p:spPr>
          <a:xfrm>
            <a:off x="6135624" y="4206240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135624" y="4352544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policy acknowledgement rate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5806440" y="4553712"/>
            <a:ext cx="3154680" cy="4754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3" name="Shape 71"/>
          <p:cNvSpPr/>
          <p:nvPr/>
        </p:nvSpPr>
        <p:spPr>
          <a:xfrm>
            <a:off x="5916168" y="4645152"/>
            <a:ext cx="289864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007608" y="46451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HR Agent anything...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8613648" y="4690872"/>
            <a:ext cx="201168" cy="201168"/>
          </a:xfrm>
          <a:prstGeom prst="ellipse">
            <a:avLst/>
          </a:prstGeom>
          <a:solidFill>
            <a:srgbClr val="7B61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4A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868680"/>
          </a:xfrm>
          <a:prstGeom prst="rect">
            <a:avLst/>
          </a:prstGeom>
          <a:solidFill>
            <a:srgbClr val="006B3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00C853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Growth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spc="250" kern="0" dirty="0">
                <a:solidFill>
                  <a:srgbClr val="6EB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IMPROVEMENT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804672" y="1097280"/>
            <a:ext cx="1143000" cy="11430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325880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agent instructions and load approved HR knowledge sources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0" y="1463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953512" y="1097280"/>
            <a:ext cx="1143000" cy="1143000"/>
          </a:xfrm>
          <a:prstGeom prst="ellipse">
            <a:avLst/>
          </a:prstGeom>
          <a:solidFill>
            <a:srgbClr val="0084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2588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51760" y="2697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access the agent through Microsoft Copilot daily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434840" y="1463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02352" y="1097280"/>
            <a:ext cx="1143000" cy="11430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325880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00600" y="2697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analytics and feedback identify gaps and opportunities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583680" y="1463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251192" y="1097280"/>
            <a:ext cx="1143000" cy="11430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325880"/>
            <a:ext cx="685800" cy="685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949440" y="2697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updates instructions and knowledge to enhance accuracy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914400" y="3547872"/>
            <a:ext cx="6858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359359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Repeating Improvement Cycle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274320" y="3977640"/>
            <a:ext cx="2743200" cy="9144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74320" y="3977640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30" name="Text 24"/>
          <p:cNvSpPr/>
          <p:nvPr/>
        </p:nvSpPr>
        <p:spPr>
          <a:xfrm>
            <a:off x="384048" y="40599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Instructions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384048" y="433425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behaviour governed by centrally managed system prompt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200400" y="3977640"/>
            <a:ext cx="2743200" cy="9144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00400" y="3977640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34" name="Text 28"/>
          <p:cNvSpPr/>
          <p:nvPr/>
        </p:nvSpPr>
        <p:spPr>
          <a:xfrm>
            <a:off x="3310128" y="40599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Knowledge Sources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3310128" y="433425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curated, HR-approved documents are embedded in the agent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126480" y="3977640"/>
            <a:ext cx="2743200" cy="9144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126480" y="3977640"/>
            <a:ext cx="2743200" cy="5486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38" name="Text 32"/>
          <p:cNvSpPr/>
          <p:nvPr/>
        </p:nvSpPr>
        <p:spPr>
          <a:xfrm>
            <a:off x="6236208" y="40599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for New Use Cases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6236208" y="433425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scales to future HR needs: onboarding, leave, benefits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4A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868680"/>
          </a:xfrm>
          <a:prstGeom prst="rect">
            <a:avLst/>
          </a:prstGeom>
          <a:solidFill>
            <a:srgbClr val="006B3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00C853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Existing Investments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spc="250" kern="0" dirty="0">
                <a:solidFill>
                  <a:srgbClr val="6EB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CASE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5120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54864" cy="777240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1615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30759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Time-to-Value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" y="1463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days, not months — no lengthy development cycle required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1993392"/>
            <a:ext cx="5120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1993392"/>
            <a:ext cx="54864" cy="777240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13055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221992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7280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Dev Costs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97280" y="23774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existing Microsoft 365 Copilot licensing already in place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2907792"/>
            <a:ext cx="5120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" y="2907792"/>
            <a:ext cx="54864" cy="777240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21" name="Shape 17"/>
          <p:cNvSpPr/>
          <p:nvPr/>
        </p:nvSpPr>
        <p:spPr>
          <a:xfrm>
            <a:off x="457200" y="304495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136392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2999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Maintenance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97280" y="32918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made directly in the agent builder — no IT tickets or release cycles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74320" y="3822192"/>
            <a:ext cx="5120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74320" y="3822192"/>
            <a:ext cx="54864" cy="777240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27" name="Shape 22"/>
          <p:cNvSpPr/>
          <p:nvPr/>
        </p:nvSpPr>
        <p:spPr>
          <a:xfrm>
            <a:off x="457200" y="3959352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4050792"/>
            <a:ext cx="301752" cy="3017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97280" y="3913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097280" y="42062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Microsoft's enterprise-grade security, compliance, and infrastructure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669280" y="1078992"/>
            <a:ext cx="3200400" cy="3493008"/>
          </a:xfrm>
          <a:prstGeom prst="rect">
            <a:avLst/>
          </a:prstGeom>
          <a:solidFill>
            <a:srgbClr val="004A22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669280" y="1078992"/>
            <a:ext cx="32004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3" name="Text 27"/>
          <p:cNvSpPr/>
          <p:nvPr/>
        </p:nvSpPr>
        <p:spPr>
          <a:xfrm>
            <a:off x="5760720" y="1188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7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800" dirty="0"/>
          </a:p>
        </p:txBody>
      </p:sp>
      <p:sp>
        <p:nvSpPr>
          <p:cNvPr id="34" name="Text 28"/>
          <p:cNvSpPr/>
          <p:nvPr/>
        </p:nvSpPr>
        <p:spPr>
          <a:xfrm>
            <a:off x="5760720" y="16916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business value using tools we already own.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5943600" y="2788920"/>
            <a:ext cx="2560320" cy="27432"/>
          </a:xfrm>
          <a:prstGeom prst="rect">
            <a:avLst/>
          </a:prstGeom>
          <a:solidFill>
            <a:srgbClr val="4A7C5E"/>
          </a:solidFill>
          <a:ln/>
        </p:spPr>
      </p:sp>
      <p:sp>
        <p:nvSpPr>
          <p:cNvPr id="36" name="Shape 30"/>
          <p:cNvSpPr/>
          <p:nvPr/>
        </p:nvSpPr>
        <p:spPr>
          <a:xfrm>
            <a:off x="5806440" y="2944368"/>
            <a:ext cx="91440" cy="91440"/>
          </a:xfrm>
          <a:prstGeom prst="ellipse">
            <a:avLst/>
          </a:prstGeom>
          <a:solidFill>
            <a:srgbClr val="6EBD8E"/>
          </a:solidFill>
          <a:ln/>
        </p:spPr>
      </p:sp>
      <p:sp>
        <p:nvSpPr>
          <p:cNvPr id="37" name="Text 31"/>
          <p:cNvSpPr/>
          <p:nvPr/>
        </p:nvSpPr>
        <p:spPr>
          <a:xfrm>
            <a:off x="5998464" y="2880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 M365 Copilot licences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806440" y="3328416"/>
            <a:ext cx="91440" cy="91440"/>
          </a:xfrm>
          <a:prstGeom prst="ellipse">
            <a:avLst/>
          </a:prstGeom>
          <a:solidFill>
            <a:srgbClr val="6EBD8E"/>
          </a:solidFill>
          <a:ln/>
        </p:spPr>
      </p:sp>
      <p:sp>
        <p:nvSpPr>
          <p:cNvPr id="39" name="Text 33"/>
          <p:cNvSpPr/>
          <p:nvPr/>
        </p:nvSpPr>
        <p:spPr>
          <a:xfrm>
            <a:off x="5998464" y="32644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or API development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5806440" y="3712464"/>
            <a:ext cx="91440" cy="91440"/>
          </a:xfrm>
          <a:prstGeom prst="ellipse">
            <a:avLst/>
          </a:prstGeom>
          <a:solidFill>
            <a:srgbClr val="6EBD8E"/>
          </a:solidFill>
          <a:ln/>
        </p:spPr>
      </p:sp>
      <p:sp>
        <p:nvSpPr>
          <p:cNvPr id="41" name="Text 35"/>
          <p:cNvSpPr/>
          <p:nvPr/>
        </p:nvSpPr>
        <p:spPr>
          <a:xfrm>
            <a:off x="5998464" y="36484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 owns and manages it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5806440" y="4096512"/>
            <a:ext cx="91440" cy="91440"/>
          </a:xfrm>
          <a:prstGeom prst="ellipse">
            <a:avLst/>
          </a:prstGeom>
          <a:solidFill>
            <a:srgbClr val="6EBD8E"/>
          </a:solidFill>
          <a:ln/>
        </p:spPr>
      </p:sp>
      <p:sp>
        <p:nvSpPr>
          <p:cNvPr id="43" name="Text 37"/>
          <p:cNvSpPr/>
          <p:nvPr/>
        </p:nvSpPr>
        <p:spPr>
          <a:xfrm>
            <a:off x="5998464" y="40325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enterprise scale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Copilot Agent Builder – Executive Presentation</dc:title>
  <dc:subject>PptxGenJS Presentation</dc:subject>
  <dc:creator>PptxGenJS</dc:creator>
  <cp:lastModifiedBy>PptxGenJS</cp:lastModifiedBy>
  <cp:revision>1</cp:revision>
  <dcterms:created xsi:type="dcterms:W3CDTF">2026-06-08T12:19:35Z</dcterms:created>
  <dcterms:modified xsi:type="dcterms:W3CDTF">2026-06-08T12:19:35Z</dcterms:modified>
</cp:coreProperties>
</file>