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USFF × EMS Integration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600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Vendor Expense flow end-to-end in September — phase the remaining flows behind documented requirements.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1481328" cy="512064"/>
          </a:xfrm>
          <a:prstGeom prst="roundRect">
            <a:avLst>
              <a:gd name="adj" fmla="val 21429"/>
            </a:avLst>
          </a:prstGeom>
          <a:solidFill>
            <a:srgbClr val="E7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Triage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29968" y="184708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14016" y="1847088"/>
            <a:ext cx="1481328" cy="512064"/>
          </a:xfrm>
          <a:prstGeom prst="roundRect">
            <a:avLst>
              <a:gd name="adj" fmla="val 21429"/>
            </a:avLst>
          </a:prstGeom>
          <a:solidFill>
            <a:srgbClr val="E7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95344" y="184708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79392" y="1847088"/>
            <a:ext cx="1481328" cy="512064"/>
          </a:xfrm>
          <a:prstGeom prst="roundRect">
            <a:avLst>
              <a:gd name="adj" fmla="val 21429"/>
            </a:avLst>
          </a:prstGeom>
          <a:solidFill>
            <a:srgbClr val="E7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USFF 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84708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44768" y="1847088"/>
            <a:ext cx="1481328" cy="512064"/>
          </a:xfrm>
          <a:prstGeom prst="roundRect">
            <a:avLst>
              <a:gd name="adj" fmla="val 21429"/>
            </a:avLst>
          </a:prstGeom>
          <a:solidFill>
            <a:srgbClr val="E7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SR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26096" y="184708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10144" y="1847088"/>
            <a:ext cx="1481328" cy="512064"/>
          </a:xfrm>
          <a:prstGeom prst="roundRect">
            <a:avLst>
              <a:gd name="adj" fmla="val 21429"/>
            </a:avLst>
          </a:prstGeom>
          <a:solidFill>
            <a:srgbClr val="E9C5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91472" y="184708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0" y="1847088"/>
            <a:ext cx="1481328" cy="512064"/>
          </a:xfrm>
          <a:prstGeom prst="roundRect">
            <a:avLst>
              <a:gd name="adj" fmla="val 21429"/>
            </a:avLst>
          </a:prstGeom>
          <a:solidFill>
            <a:srgbClr val="E7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 September (Phase 1) — already prototyped and demoed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3127248"/>
            <a:ext cx="6903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triage embedded in USFF — one front door for GTS; non-GTS users completely untouched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intake + BOM agenda approvals — matrix-routed, every approval date-stamped for audit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pipelines continue one click into our existing USFF / Ariba intake, pre-populated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 Vendor Expense — validates Pipeline + Ariba, asks only net-new questions, flags changes in red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four expense tiles redirect to today’s Signing Party PowerApp — zero disruption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63840" y="2880360"/>
            <a:ext cx="3749040" cy="2743200"/>
          </a:xfrm>
          <a:prstGeom prst="roundRect">
            <a:avLst>
              <a:gd name="adj" fmla="val 4667"/>
            </a:avLst>
          </a:prstGeom>
          <a:solidFill>
            <a:srgbClr val="1238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3816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Vendor Expense first?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38160" y="3547872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EMS expense type that touches procurement, Ariba and the USFF storefront — the highest-value slice, and the one we can validate end-to-end today.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material: 60-second walkthrough video  ·  clickable prototype  ·  34-screen pack  ·  two-flow process map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“everything by September” is not feasible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aligned: the EMS triage and the Pipeline are not the risk — </a:t>
            </a:r>
            <a:pPr indent="0" marL="0">
              <a:buNone/>
            </a:pPr>
            <a:r>
              <a:rPr lang="en-US" sz="1450" b="1" dirty="0">
                <a:solidFill>
                  <a:srgbClr val="8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encapsulating the Signing Party (SPID) flows is.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76072" y="1481328"/>
            <a:ext cx="5532120" cy="1517904"/>
          </a:xfrm>
          <a:prstGeom prst="roundRect">
            <a:avLst>
              <a:gd name="adj" fmla="val 6024"/>
            </a:avLst>
          </a:prstGeom>
          <a:solidFill>
            <a:srgbClr val="F3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8952" y="1664208"/>
            <a:ext cx="384048" cy="384048"/>
          </a:xfrm>
          <a:prstGeom prst="ellipse">
            <a:avLst/>
          </a:prstGeom>
          <a:solidFill>
            <a:srgbClr val="1F6B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9304" y="1609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requirements exist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9304" y="1956816"/>
            <a:ext cx="4636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reverse-engineering the EMS and SPID PowerApps from scratch by using the live apps. Discovery is still changing the model — the last business call materially corrected the flow we had built to.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309360" y="1481328"/>
            <a:ext cx="5532120" cy="1517904"/>
          </a:xfrm>
          <a:prstGeom prst="roundRect">
            <a:avLst>
              <a:gd name="adj" fmla="val 6024"/>
            </a:avLst>
          </a:prstGeom>
          <a:solidFill>
            <a:srgbClr val="F3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92240" y="1664208"/>
            <a:ext cx="384048" cy="384048"/>
          </a:xfrm>
          <a:prstGeom prst="ellipse">
            <a:avLst/>
          </a:prstGeom>
          <a:solidFill>
            <a:srgbClr val="1F6B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22592" y="1609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 is the hard part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22592" y="1956816"/>
            <a:ext cx="4636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expense type has its own SPID intake with distinct conditional logic and different data pulled in — 165+ business rules extracted so far, none yet validated by the business.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76072" y="3127248"/>
            <a:ext cx="5532120" cy="1517904"/>
          </a:xfrm>
          <a:prstGeom prst="roundRect">
            <a:avLst>
              <a:gd name="adj" fmla="val 6024"/>
            </a:avLst>
          </a:prstGeom>
          <a:solidFill>
            <a:srgbClr val="F3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8952" y="3310128"/>
            <a:ext cx="384048" cy="384048"/>
          </a:xfrm>
          <a:prstGeom prst="ellipse">
            <a:avLst/>
          </a:prstGeom>
          <a:solidFill>
            <a:srgbClr val="1F6B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9304" y="32552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not in our hands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9304" y="3602736"/>
            <a:ext cx="4636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sources still owed: the expense policy, skills master, rate-table repository, valid pipeline list, vendor SR repository, shared data-lake schema, and more.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309360" y="3127248"/>
            <a:ext cx="5532120" cy="1517904"/>
          </a:xfrm>
          <a:prstGeom prst="roundRect">
            <a:avLst>
              <a:gd name="adj" fmla="val 6024"/>
            </a:avLst>
          </a:prstGeom>
          <a:solidFill>
            <a:srgbClr val="F3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0" y="3310128"/>
            <a:ext cx="384048" cy="384048"/>
          </a:xfrm>
          <a:prstGeom prst="ellipse">
            <a:avLst/>
          </a:prstGeom>
          <a:solidFill>
            <a:srgbClr val="1F6B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22592" y="32552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coupling, no specs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22592" y="3602736"/>
            <a:ext cx="4636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 flows feed the onboarding portal + shared data lake, the GD Hub automated feed (mechanism unknown), a manual invoicing mailbox, and a Pre-Intake bot owned by another team.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76072" y="4773168"/>
            <a:ext cx="5532120" cy="1517904"/>
          </a:xfrm>
          <a:prstGeom prst="roundRect">
            <a:avLst>
              <a:gd name="adj" fmla="val 6024"/>
            </a:avLst>
          </a:prstGeom>
          <a:solidFill>
            <a:srgbClr val="F3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8952" y="4956048"/>
            <a:ext cx="384048" cy="384048"/>
          </a:xfrm>
          <a:prstGeom prst="ellipse">
            <a:avLst/>
          </a:prstGeom>
          <a:solidFill>
            <a:srgbClr val="1F6B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9304" y="4901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Hire alone is a project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9304" y="5248656"/>
            <a:ext cx="4636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Five-way front-door branching, tenure-extension gating, bulk resource and rate logic, conditional AMCB sections, and vendor reuse rules.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309360" y="4773168"/>
            <a:ext cx="5532120" cy="1517904"/>
          </a:xfrm>
          <a:prstGeom prst="roundRect">
            <a:avLst>
              <a:gd name="adj" fmla="val 6024"/>
            </a:avLst>
          </a:prstGeom>
          <a:solidFill>
            <a:srgbClr val="F3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92240" y="4956048"/>
            <a:ext cx="384048" cy="384048"/>
          </a:xfrm>
          <a:prstGeom prst="ellipse">
            <a:avLst/>
          </a:prstGeom>
          <a:solidFill>
            <a:srgbClr val="1F6B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22592" y="4901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financial controls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22592" y="5248656"/>
            <a:ext cx="4636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unvalidated approval logic risks broken audit evidence and mis-routed spend approvals — a worse outcome than a later, correct delivery.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phased path — and what we need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903720" cy="1389888"/>
          </a:xfrm>
          <a:prstGeom prst="roundRect">
            <a:avLst>
              <a:gd name="adj" fmla="val 6579"/>
            </a:avLst>
          </a:prstGeom>
          <a:solidFill>
            <a:srgbClr val="E7F3EA"/>
          </a:solidFill>
          <a:ln w="12700">
            <a:solidFill>
              <a:srgbClr val="1F6B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4672" y="14356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SEPTEMBER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04672" y="174650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Expense end-to-end: EMS triage, Pipeline + BOM agendas, USFF / Ariba intake, SPID Vendor Expense. Redirect model for everything else.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04672" y="23134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built — in business review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98648"/>
            <a:ext cx="6903720" cy="1389888"/>
          </a:xfrm>
          <a:prstGeom prst="roundRect">
            <a:avLst>
              <a:gd name="adj" fmla="val 6579"/>
            </a:avLst>
          </a:prstGeom>
          <a:solidFill>
            <a:srgbClr val="F3F5F0"/>
          </a:solidFill>
          <a:ln w="12700">
            <a:solidFill>
              <a:srgbClr val="9AA3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4672" y="3008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APPROVAL TO HIRE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31927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 front-door branching, bulk resources, reuse rules and the ATH SPID.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8862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 the skills master + rate tables are delivered and ATH requirements are signed off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471416"/>
            <a:ext cx="6903720" cy="1389888"/>
          </a:xfrm>
          <a:prstGeom prst="roundRect">
            <a:avLst>
              <a:gd name="adj" fmla="val 6579"/>
            </a:avLst>
          </a:prstGeom>
          <a:solidFill>
            <a:srgbClr val="F3F5F0"/>
          </a:solidFill>
          <a:ln w="12700">
            <a:solidFill>
              <a:srgbClr val="9AA3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4672" y="458114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PROJECT · OTHER APPROVALS · INVOICES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48920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SPID intakes plus downstream automation (non-Ariba invoice hand-off, onboarding feeds).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54589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 downstream specs (data lake, GD Hub, invoicing) are delivered and signed off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10819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are gated on signed-off requirements, data access and UAT with real users — not on calendar dates.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1325880"/>
            <a:ext cx="3840480" cy="4626864"/>
          </a:xfrm>
          <a:prstGeom prst="roundRect">
            <a:avLst>
              <a:gd name="adj" fmla="val 3333"/>
            </a:avLst>
          </a:prstGeom>
          <a:solidFill>
            <a:srgbClr val="1C4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4672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leadership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121408"/>
            <a:ext cx="347472" cy="347472"/>
          </a:xfrm>
          <a:prstGeom prst="ellipse">
            <a:avLst/>
          </a:prstGeom>
          <a:solidFill>
            <a:srgbClr val="E9C5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22208" y="21031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phased scope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22208" y="24323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September to Phase 1.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3383280"/>
            <a:ext cx="347472" cy="347472"/>
          </a:xfrm>
          <a:prstGeom prst="ellipse">
            <a:avLst/>
          </a:prstGeom>
          <a:solidFill>
            <a:srgbClr val="E9C5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22208" y="33649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discovery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22208" y="36941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EMS team to deliver the 11 outstanding artifacts and name an SME per flow — our bottleneck is reverse-engineering, not build capacity.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645152"/>
            <a:ext cx="347472" cy="347472"/>
          </a:xfrm>
          <a:prstGeom prst="ellipse">
            <a:avLst/>
          </a:prstGeom>
          <a:solidFill>
            <a:srgbClr val="E9C5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22208" y="46268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redirect model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22208" y="49560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flows keep working exactly as today until their phase — no user impact.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2026-07-18T14:12:06Z</dcterms:created>
  <dcterms:modified xsi:type="dcterms:W3CDTF">2026-07-18T14:12:06Z</dcterms:modified>
</cp:coreProperties>
</file>