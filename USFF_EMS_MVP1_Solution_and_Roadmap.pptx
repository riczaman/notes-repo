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Expense moves through a three-step path to execution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front door, one intake, and every approval tracked inside USFF. Non-GTS users and the other four expense types are untouched.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 ·  TRIAGE   USFF replaces the EMS front door and routes on the objective of the request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75304" cy="694944"/>
          </a:xfrm>
          <a:prstGeom prst="roundRect">
            <a:avLst>
              <a:gd name="adj" fmla="val 7895"/>
            </a:avLst>
          </a:prstGeom>
          <a:solidFill>
            <a:srgbClr val="EAF3ED"/>
          </a:solidFill>
          <a:ln w="19050">
            <a:solidFill>
              <a:srgbClr val="008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6367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9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03504" y="1801368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Expense  ·  GTS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" y="199339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end to end in USFF. This is MVP1.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06824" y="1554480"/>
            <a:ext cx="3575304" cy="694944"/>
          </a:xfrm>
          <a:prstGeom prst="roundRect">
            <a:avLst>
              <a:gd name="adj" fmla="val 7895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6367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90" kern="0" dirty="0">
                <a:solidFill>
                  <a:srgbClr val="9A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453128" y="1801368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Expense  ·  non-GTS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53128" y="199339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 on today's USFF intake with no change.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56448" y="1554480"/>
            <a:ext cx="3575304" cy="694944"/>
          </a:xfrm>
          <a:prstGeom prst="roundRect">
            <a:avLst>
              <a:gd name="adj" fmla="val 7895"/>
            </a:avLst>
          </a:prstGeom>
          <a:solidFill>
            <a:srgbClr val="F6FAF7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6367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90" kern="0" dirty="0">
                <a:solidFill>
                  <a:srgbClr val="9A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302752" y="1801368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expense types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02752" y="1993392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Redirected to the existing EMS and Signing Party tools.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44852" y="2249424"/>
            <a:ext cx="0" cy="182880"/>
          </a:xfrm>
          <a:prstGeom prst="line">
            <a:avLst/>
          </a:prstGeom>
          <a:noFill/>
          <a:ln w="22225">
            <a:solidFill>
              <a:srgbClr val="008A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2450592"/>
            <a:ext cx="3502152" cy="2670048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633472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1A5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·  UNIFIED INTAKE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" y="296265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 replaces three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" y="3310128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set of Vendor Expense triage questions opens a single intake that merges the EMS, Pipeline, Management Consulting and USFF fields. Every question is asked once.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above $100K unlocks the Pipeline section. At or below $100K there is no Pipeline and the request follows today's USFF sourcing path.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no longer re-enter the same data in three applications.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59352" y="3547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343400" y="2450592"/>
            <a:ext cx="3502152" cy="2670048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633472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1A5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·  GO-AHEAD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44568" y="296265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and MC approvals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81144" y="3310128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leads work the multi-level Pipeline approval inside USFF, with the date of each approval stamped on the record for audit.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 that qualify as Management Consulting go to MC review immediately after the Pipeline approval is granted.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no longer bounce between applications. Status for the whole request lives in one place.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45552" y="3547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229600" y="2450592"/>
            <a:ext cx="3502152" cy="2670048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0768" y="2633472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1A53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·  EXECUTION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30768" y="296265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Ariba sourcing, then SPID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67344" y="3310128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Ariba Sourcing Request is raised from data already captured, so nothing is re-keyed. Funding confirmation and Ariba approvals follow today's USFF path.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returns to USFF to start the SPID, which asks only the fields that changed since Pipeline approval and the signed contract.</a:t>
            </a:r>
            <a:endParaRPr lang="en-US" sz="9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approvals complete in USFF and the request closes.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5303520"/>
            <a:ext cx="11274552" cy="841248"/>
          </a:xfrm>
          <a:prstGeom prst="roundRect">
            <a:avLst>
              <a:gd name="adj" fmla="val 5435"/>
            </a:avLst>
          </a:prstGeom>
          <a:solidFill>
            <a:srgbClr val="FBECEA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5449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2688" y="5431536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 dependency: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the SPID stays a manual swivel-chair step. Once the Ariba approvals are complete the user comes back into USFF to kick the SPID off. Everything else in the flow above runs inside USFF; auto-starting the SPID from the Ariba outcome is planned for a later release and is not on the MVP1 critical path.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Interne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926080" y="647395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 |  MVP1 Vendor Expense  |  Technology Delivery  |  August 2026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GREENLIGHT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Expense: what it takes to reach production on October 23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weeks of build, then three deployment gates. Requirements close this week and every stream below is sequenced off that date.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26280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26280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22887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22887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9493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19493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6100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31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16100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2706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7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2706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9313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09313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919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705919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2526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402526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99132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099132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95739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795739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92345" y="1344168"/>
            <a:ext cx="6966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19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492345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188952" y="1572768"/>
            <a:ext cx="0" cy="3566160"/>
          </a:xfrm>
          <a:prstGeom prst="line">
            <a:avLst/>
          </a:prstGeom>
          <a:noFill/>
          <a:ln w="9525">
            <a:solidFill>
              <a:srgbClr val="EEF2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2706" y="1517904"/>
            <a:ext cx="0" cy="3621024"/>
          </a:xfrm>
          <a:prstGeom prst="line">
            <a:avLst/>
          </a:prstGeom>
          <a:noFill/>
          <a:ln w="12700">
            <a:solidFill>
              <a:srgbClr val="D6E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99132" y="1517904"/>
            <a:ext cx="0" cy="3621024"/>
          </a:xfrm>
          <a:prstGeom prst="line">
            <a:avLst/>
          </a:prstGeom>
          <a:noFill/>
          <a:ln w="12700">
            <a:solidFill>
              <a:srgbClr val="D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5910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 requirements lockdown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26280" y="1636776"/>
            <a:ext cx="1393213" cy="169164"/>
          </a:xfrm>
          <a:prstGeom prst="roundRect">
            <a:avLst>
              <a:gd name="adj" fmla="val 16216"/>
            </a:avLst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4357" y="162763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7200" y="18882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intake form (EMS, Pipeline, MC, USFF)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22887" y="1933956"/>
            <a:ext cx="3483033" cy="169164"/>
          </a:xfrm>
          <a:prstGeom prst="roundRect">
            <a:avLst>
              <a:gd name="adj" fmla="val 16216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1854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and decision 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19493" y="2231136"/>
            <a:ext cx="3483033" cy="169164"/>
          </a:xfrm>
          <a:prstGeom prst="roundRect">
            <a:avLst>
              <a:gd name="adj" fmla="val 16216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4825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dashboard and status tracking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16100" y="2528316"/>
            <a:ext cx="2786426" cy="169164"/>
          </a:xfrm>
          <a:prstGeom prst="roundRect">
            <a:avLst>
              <a:gd name="adj" fmla="val 16216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7797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 queues (BOM lead, Finance)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12706" y="2825496"/>
            <a:ext cx="2786426" cy="169164"/>
          </a:xfrm>
          <a:prstGeom prst="roundRect">
            <a:avLst>
              <a:gd name="adj" fmla="val 16216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0769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MC and funding approval workflow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009313" y="3122676"/>
            <a:ext cx="2089820" cy="169164"/>
          </a:xfrm>
          <a:prstGeom prst="roundRect">
            <a:avLst>
              <a:gd name="adj" fmla="val 16216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3741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creation and approval workflow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705919" y="3419856"/>
            <a:ext cx="2089820" cy="169164"/>
          </a:xfrm>
          <a:prstGeom prst="roundRect">
            <a:avLst>
              <a:gd name="adj" fmla="val 16216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713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Ariba sourcing request handoff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705919" y="3717036"/>
            <a:ext cx="2089820" cy="169164"/>
          </a:xfrm>
          <a:prstGeom prst="roundRect">
            <a:avLst>
              <a:gd name="adj" fmla="val 16216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9684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portal, access, notifications, audit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16100" y="4014216"/>
            <a:ext cx="4179639" cy="169164"/>
          </a:xfrm>
          <a:prstGeom prst="roundRect">
            <a:avLst>
              <a:gd name="adj" fmla="val 16216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2656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deployment  (1 to 2 days)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795739" y="4311396"/>
            <a:ext cx="278643" cy="169164"/>
          </a:xfrm>
          <a:prstGeom prst="roundRect">
            <a:avLst>
              <a:gd name="adj" fmla="val 16216"/>
            </a:avLst>
          </a:prstGeom>
          <a:solidFill>
            <a:srgbClr val="008A00"/>
          </a:solidFill>
          <a:ln w="6350">
            <a:solidFill>
              <a:srgbClr val="008A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29246" y="43022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57200" y="4562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deployment  (2 to 3 days)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1074382" y="4608576"/>
            <a:ext cx="417964" cy="169164"/>
          </a:xfrm>
          <a:prstGeom prst="roundRect">
            <a:avLst>
              <a:gd name="adj" fmla="val 16216"/>
            </a:avLst>
          </a:prstGeom>
          <a:solidFill>
            <a:srgbClr val="008A00"/>
          </a:solidFill>
          <a:ln w="6350">
            <a:solidFill>
              <a:srgbClr val="008A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547209" y="459943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14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57200" y="48600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 (5 days)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1492345" y="4905756"/>
            <a:ext cx="696607" cy="169164"/>
          </a:xfrm>
          <a:prstGeom prst="roundRect">
            <a:avLst>
              <a:gd name="adj" fmla="val 16216"/>
            </a:avLst>
          </a:prstGeom>
          <a:solidFill>
            <a:srgbClr val="0B2E20"/>
          </a:solidFill>
          <a:ln w="6350">
            <a:solidFill>
              <a:srgbClr val="0B2E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92345" y="4905756"/>
            <a:ext cx="696607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23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804923" y="1316736"/>
            <a:ext cx="0" cy="3822192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393443" y="115214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6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229600" y="521208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50" kern="0" dirty="0">
                <a:solidFill>
                  <a:srgbClr val="0B2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23  ·  PRODUCTION GO LIVE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5257800"/>
            <a:ext cx="146304" cy="109728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" y="5212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gate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938528" y="5257800"/>
            <a:ext cx="146304" cy="109728"/>
          </a:xfrm>
          <a:prstGeom prst="roundRect">
            <a:avLst>
              <a:gd name="adj" fmla="val 16667"/>
            </a:avLst>
          </a:prstGeom>
          <a:solidFill>
            <a:srgbClr val="1A5336"/>
          </a:solidFill>
          <a:ln w="6350">
            <a:solidFill>
              <a:srgbClr val="1A533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39696" y="5212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streams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419856" y="5257800"/>
            <a:ext cx="146304" cy="109728"/>
          </a:xfrm>
          <a:prstGeom prst="roundRect">
            <a:avLst>
              <a:gd name="adj" fmla="val 16667"/>
            </a:avLst>
          </a:prstGeom>
          <a:solidFill>
            <a:srgbClr val="008A00"/>
          </a:solidFill>
          <a:ln w="6350">
            <a:solidFill>
              <a:srgbClr val="008A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21024" y="5212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and PAT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901184" y="5257800"/>
            <a:ext cx="146304" cy="109728"/>
          </a:xfrm>
          <a:prstGeom prst="roundRect">
            <a:avLst>
              <a:gd name="adj" fmla="val 16667"/>
            </a:avLst>
          </a:prstGeom>
          <a:solidFill>
            <a:srgbClr val="0B2E20"/>
          </a:solidFill>
          <a:ln w="6350">
            <a:solidFill>
              <a:srgbClr val="0B2E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2352" y="5212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57200" y="5504688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MVP1:   </a:t>
            </a:r>
            <a:pPr indent="0" marL="0">
              <a:buNone/>
            </a:pPr>
            <a:r>
              <a:rPr lang="en-US" sz="850" dirty="0">
                <a:solidFill>
                  <a:srgbClr val="5E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to Hire and live custom settings (Sep to Nov)   ·   Invoices (Oct to Feb)   ·   Gen AI auto intakes (Jan to Mar)   ·   Ariba and Globality integration, Project Request and business cases (to be sized)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57200" y="5669280"/>
            <a:ext cx="5504688" cy="713232"/>
          </a:xfrm>
          <a:prstGeom prst="roundRect">
            <a:avLst>
              <a:gd name="adj" fmla="val 6410"/>
            </a:avLst>
          </a:prstGeom>
          <a:solidFill>
            <a:srgbClr val="EAF3ED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8368" y="5779008"/>
            <a:ext cx="5102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close the week of August 17. Build is already staged behind it, so slippage on that date moves every stream and compresses the deployment window, not the build.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227064" y="5669280"/>
            <a:ext cx="5504688" cy="713232"/>
          </a:xfrm>
          <a:prstGeom prst="roundRect">
            <a:avLst>
              <a:gd name="adj" fmla="val 6410"/>
            </a:avLst>
          </a:prstGeom>
          <a:solidFill>
            <a:srgbClr val="FBECEA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28232" y="5779008"/>
            <a:ext cx="5102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carry-over: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the SPID stays a manual step in MVP1. It is built and tested in this plan, but automating the trigger from the Ariba outcome is a later release and is deliberately out of this window.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5720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Interne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926080" y="647395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USFF × EMS Consolidation  |  MVP1 Vendor Expense  |  Technology Delivery  |  August 2026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124712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2026-08-13T02:01:59Z</dcterms:created>
  <dcterms:modified xsi:type="dcterms:W3CDTF">2026-08-13T02:01:59Z</dcterms:modified>
</cp:coreProperties>
</file>